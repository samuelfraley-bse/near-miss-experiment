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2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48" r:id="rId2"/>
    <p:sldMasterId id="2147483680" r:id="rId3"/>
  </p:sldMasterIdLst>
  <p:sldIdLst>
    <p:sldId id="1120" r:id="rId4"/>
    <p:sldId id="1322" r:id="rId5"/>
    <p:sldId id="1325" r:id="rId6"/>
    <p:sldId id="589" r:id="rId7"/>
    <p:sldId id="1323" r:id="rId8"/>
    <p:sldId id="1324" r:id="rId9"/>
    <p:sldId id="1293" r:id="rId10"/>
    <p:sldId id="1328" r:id="rId11"/>
    <p:sldId id="1319" r:id="rId12"/>
    <p:sldId id="1321" r:id="rId13"/>
    <p:sldId id="1122" r:id="rId14"/>
    <p:sldId id="1320" r:id="rId15"/>
    <p:sldId id="1123" r:id="rId16"/>
    <p:sldId id="1047" r:id="rId17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4FA7AB-922C-1598-27E9-CC0CBFF0841C}" v="85" dt="2026-02-16T08:26:04.877"/>
    <p1510:client id="{6B4CD3E9-C2EE-3637-CAB5-B05DC11E01F2}" v="2" dt="2026-02-15T12:53:21.127"/>
    <p1510:client id="{B405DD36-91A4-B6E7-56B1-962AEA088A08}" v="53" dt="2026-02-15T14:27:31.578"/>
    <p1510:client id="{C036102D-6153-B0BD-7A8C-255C724A3F78}" v="1284" dt="2026-02-16T04:40:51.356"/>
    <p1510:client id="{F1F2A4AB-12AC-191D-F8D9-5F5621AE623A}" v="2301" dt="2026-02-15T14:20:13.9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-Arbeitsblatt7_1B5_529_E8EBF093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 w="3175">
              <a:solidFill>
                <a:schemeClr val="bg1"/>
              </a:solidFill>
            </a:ln>
            <a:effectLst/>
          </c:spPr>
          <c:dPt>
            <c:idx val="0"/>
            <c:bubble3D val="0"/>
            <c:spPr>
              <a:solidFill>
                <a:schemeClr val="accent1"/>
              </a:solidFill>
              <a:ln w="317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E7A-DB4E-A607-D34641F0ED18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317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E7A-DB4E-A607-D34641F0ED18}"/>
              </c:ext>
            </c:extLst>
          </c:dPt>
          <c:dPt>
            <c:idx val="2"/>
            <c:bubble3D val="0"/>
            <c:spPr>
              <a:solidFill>
                <a:schemeClr val="bg2"/>
              </a:solidFill>
              <a:ln w="317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E7A-DB4E-A607-D34641F0ED18}"/>
              </c:ext>
            </c:extLst>
          </c:dPt>
          <c:cat>
            <c:strRef>
              <c:f>Sheet1!$A$2:$A$4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8.2000000000000011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E7A-DB4E-A607-D34641F0ED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9211465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21625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349207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3182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163148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23554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209265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39499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607797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49526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  <a:lvl2pPr>
              <a:spcBef>
                <a:spcPts val="1200"/>
              </a:spcBef>
              <a:defRPr/>
            </a:lvl2pPr>
            <a:lvl3pPr>
              <a:spcBef>
                <a:spcPts val="1200"/>
              </a:spcBef>
              <a:defRPr/>
            </a:lvl3pPr>
            <a:lvl4pPr>
              <a:spcBef>
                <a:spcPts val="1200"/>
              </a:spcBef>
              <a:defRPr/>
            </a:lvl4pPr>
            <a:lvl5pPr>
              <a:spcBef>
                <a:spcPts val="12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919969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52420"/>
            <a:ext cx="10363200" cy="4627563"/>
          </a:xfrm>
        </p:spPr>
        <p:txBody>
          <a:bodyPr/>
          <a:lstStyle>
            <a:lvl1pPr>
              <a:spcBef>
                <a:spcPts val="1200"/>
              </a:spcBef>
              <a:defRPr/>
            </a:lvl1pPr>
            <a:lvl2pPr>
              <a:spcBef>
                <a:spcPts val="1200"/>
              </a:spcBef>
              <a:defRPr/>
            </a:lvl2pPr>
            <a:lvl3pPr>
              <a:spcBef>
                <a:spcPts val="1200"/>
              </a:spcBef>
              <a:defRPr/>
            </a:lvl3pPr>
            <a:lvl4pPr>
              <a:spcBef>
                <a:spcPts val="1200"/>
              </a:spcBef>
              <a:defRPr/>
            </a:lvl4pPr>
            <a:lvl5pPr>
              <a:spcBef>
                <a:spcPts val="12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776623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no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 spcCol="274320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228594" indent="-228594">
              <a:spcBef>
                <a:spcPts val="1200"/>
              </a:spcBef>
              <a:buFont typeface="Arial" panose="020B0604020202020204" pitchFamily="34" charset="0"/>
              <a:buChar char="•"/>
              <a:defRPr sz="1600"/>
            </a:lvl2pPr>
            <a:lvl3pPr marL="476239" indent="-247644">
              <a:spcBef>
                <a:spcPts val="1200"/>
              </a:spcBef>
              <a:buFont typeface="Open Sans Light" panose="020B0306030504020204" pitchFamily="34" charset="0"/>
              <a:buChar char="–"/>
              <a:defRPr sz="1600"/>
            </a:lvl3pPr>
            <a:lvl4pPr marL="685783" indent="-228594">
              <a:spcBef>
                <a:spcPts val="1200"/>
              </a:spcBef>
              <a:buFont typeface="Arial" panose="020B0604020202020204" pitchFamily="34" charset="0"/>
              <a:buChar char="•"/>
              <a:defRPr sz="1600"/>
            </a:lvl4pPr>
            <a:lvl5pPr marL="914377" indent="-228594">
              <a:spcBef>
                <a:spcPts val="1200"/>
              </a:spcBef>
              <a:buFont typeface="Open Sans Light" panose="020B0306030504020204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518861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52420"/>
            <a:ext cx="10363200" cy="4627563"/>
          </a:xfrm>
        </p:spPr>
        <p:txBody>
          <a:bodyPr numCol="2" spcCol="274320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228594" indent="-228594">
              <a:spcBef>
                <a:spcPts val="1200"/>
              </a:spcBef>
              <a:buFont typeface="Arial" panose="020B0604020202020204" pitchFamily="34" charset="0"/>
              <a:buChar char="•"/>
              <a:defRPr sz="1600"/>
            </a:lvl2pPr>
            <a:lvl3pPr marL="457189" indent="-228594">
              <a:spcBef>
                <a:spcPts val="1200"/>
              </a:spcBef>
              <a:buFont typeface="Open Sans Light" panose="020B0306030504020204" pitchFamily="34" charset="0"/>
              <a:buChar char="–"/>
              <a:defRPr sz="1600"/>
            </a:lvl3pPr>
            <a:lvl4pPr marL="685783" indent="-228594">
              <a:spcBef>
                <a:spcPts val="1200"/>
              </a:spcBef>
              <a:buFont typeface="Arial" panose="020B0604020202020204" pitchFamily="34" charset="0"/>
              <a:buChar char="•"/>
              <a:defRPr sz="1600"/>
            </a:lvl4pPr>
            <a:lvl5pPr marL="914377" indent="-228594">
              <a:spcBef>
                <a:spcPts val="1200"/>
              </a:spcBef>
              <a:buFont typeface="Open Sans Light" panose="020B0306030504020204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4209360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452420"/>
            <a:ext cx="5080000" cy="45259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52420"/>
            <a:ext cx="5080000" cy="45259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296703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219200"/>
            <a:ext cx="5080000" cy="45259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19200"/>
            <a:ext cx="5080000" cy="45259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16116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219200"/>
            <a:ext cx="5082117" cy="307776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1560285"/>
            <a:ext cx="5082117" cy="456587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219200"/>
            <a:ext cx="5084232" cy="307776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1560285"/>
            <a:ext cx="5084232" cy="456587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39521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62284"/>
            <a:ext cx="5082117" cy="307776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1803370"/>
            <a:ext cx="5082117" cy="436883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462284"/>
            <a:ext cx="5084232" cy="307776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1803370"/>
            <a:ext cx="5084232" cy="436883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413545870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4911578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8969616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786721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063240" cy="3438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049016" y="0"/>
            <a:ext cx="3063240" cy="3438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098032" y="0"/>
            <a:ext cx="3063240" cy="3438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9147048" y="0"/>
            <a:ext cx="3063240" cy="3438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0" y="3419856"/>
            <a:ext cx="3063240" cy="3438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3049016" y="3419856"/>
            <a:ext cx="3063240" cy="3438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6098032" y="3419856"/>
            <a:ext cx="3063240" cy="3438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9147048" y="3419856"/>
            <a:ext cx="3063240" cy="3438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5485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441448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437638" y="0"/>
            <a:ext cx="2441448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4875276" y="0"/>
            <a:ext cx="2441448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7312914" y="0"/>
            <a:ext cx="2441448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9750552" y="0"/>
            <a:ext cx="2441448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0" y="2281428"/>
            <a:ext cx="2441448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2437638" y="2281428"/>
            <a:ext cx="2441448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4875276" y="2281428"/>
            <a:ext cx="2441448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7312914" y="2281428"/>
            <a:ext cx="2441448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9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9750552" y="2281428"/>
            <a:ext cx="2441448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0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0" y="4562856"/>
            <a:ext cx="2441448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1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2446782" y="4562856"/>
            <a:ext cx="2441448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2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4884420" y="4562856"/>
            <a:ext cx="2441448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7322058" y="4562856"/>
            <a:ext cx="2441448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4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9750552" y="4562856"/>
            <a:ext cx="2441448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13678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028749" y="0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4057498" y="0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6086247" y="0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10143744" y="0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5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8114996" y="0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8" name="Picture Placeholder 3"/>
          <p:cNvSpPr>
            <a:spLocks noGrp="1"/>
          </p:cNvSpPr>
          <p:nvPr>
            <p:ph type="pic" sz="quarter" idx="26"/>
          </p:nvPr>
        </p:nvSpPr>
        <p:spPr>
          <a:xfrm>
            <a:off x="0" y="1709928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2028749" y="1709928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0" name="Picture Placeholder 3"/>
          <p:cNvSpPr>
            <a:spLocks noGrp="1"/>
          </p:cNvSpPr>
          <p:nvPr>
            <p:ph type="pic" sz="quarter" idx="28"/>
          </p:nvPr>
        </p:nvSpPr>
        <p:spPr>
          <a:xfrm>
            <a:off x="4057498" y="1709928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1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6086247" y="1709928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2" name="Picture Placeholder 3"/>
          <p:cNvSpPr>
            <a:spLocks noGrp="1"/>
          </p:cNvSpPr>
          <p:nvPr>
            <p:ph type="pic" sz="quarter" idx="30"/>
          </p:nvPr>
        </p:nvSpPr>
        <p:spPr>
          <a:xfrm>
            <a:off x="10143744" y="1709928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31"/>
          </p:nvPr>
        </p:nvSpPr>
        <p:spPr>
          <a:xfrm>
            <a:off x="8114996" y="1709928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4" name="Picture Placeholder 3"/>
          <p:cNvSpPr>
            <a:spLocks noGrp="1"/>
          </p:cNvSpPr>
          <p:nvPr>
            <p:ph type="pic" sz="quarter" idx="32"/>
          </p:nvPr>
        </p:nvSpPr>
        <p:spPr>
          <a:xfrm>
            <a:off x="0" y="3419856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2028749" y="3419856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6" name="Picture Placeholder 3"/>
          <p:cNvSpPr>
            <a:spLocks noGrp="1"/>
          </p:cNvSpPr>
          <p:nvPr>
            <p:ph type="pic" sz="quarter" idx="34"/>
          </p:nvPr>
        </p:nvSpPr>
        <p:spPr>
          <a:xfrm>
            <a:off x="4057498" y="3419856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6086247" y="3419856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8" name="Picture Placeholder 3"/>
          <p:cNvSpPr>
            <a:spLocks noGrp="1"/>
          </p:cNvSpPr>
          <p:nvPr>
            <p:ph type="pic" sz="quarter" idx="36"/>
          </p:nvPr>
        </p:nvSpPr>
        <p:spPr>
          <a:xfrm>
            <a:off x="10143744" y="3419856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9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8114996" y="3419856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40" name="Picture Placeholder 3"/>
          <p:cNvSpPr>
            <a:spLocks noGrp="1"/>
          </p:cNvSpPr>
          <p:nvPr>
            <p:ph type="pic" sz="quarter" idx="38"/>
          </p:nvPr>
        </p:nvSpPr>
        <p:spPr>
          <a:xfrm>
            <a:off x="0" y="5129784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41" name="Picture Placeholder 3"/>
          <p:cNvSpPr>
            <a:spLocks noGrp="1"/>
          </p:cNvSpPr>
          <p:nvPr>
            <p:ph type="pic" sz="quarter" idx="39"/>
          </p:nvPr>
        </p:nvSpPr>
        <p:spPr>
          <a:xfrm>
            <a:off x="2028749" y="5129784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42" name="Picture Placeholder 3"/>
          <p:cNvSpPr>
            <a:spLocks noGrp="1"/>
          </p:cNvSpPr>
          <p:nvPr>
            <p:ph type="pic" sz="quarter" idx="40"/>
          </p:nvPr>
        </p:nvSpPr>
        <p:spPr>
          <a:xfrm>
            <a:off x="4057498" y="5129784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41"/>
          </p:nvPr>
        </p:nvSpPr>
        <p:spPr>
          <a:xfrm>
            <a:off x="6086247" y="5129784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44" name="Picture Placeholder 3"/>
          <p:cNvSpPr>
            <a:spLocks noGrp="1"/>
          </p:cNvSpPr>
          <p:nvPr>
            <p:ph type="pic" sz="quarter" idx="42"/>
          </p:nvPr>
        </p:nvSpPr>
        <p:spPr>
          <a:xfrm>
            <a:off x="10143744" y="5129784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43"/>
          </p:nvPr>
        </p:nvSpPr>
        <p:spPr>
          <a:xfrm>
            <a:off x="8114996" y="5129784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1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2438400" cy="3407438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7000"/>
            <a:ext cx="2438400" cy="3407438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7000"/>
            <a:ext cx="2438400" cy="3407438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5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7000"/>
            <a:ext cx="2438400" cy="3407438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0" y="4980565"/>
            <a:ext cx="2438400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3556000" y="4980565"/>
            <a:ext cx="2438400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6197600" y="4980565"/>
            <a:ext cx="2438400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8839200" y="4980565"/>
            <a:ext cx="2438400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462113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2438400" cy="3407438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7000"/>
            <a:ext cx="2438400" cy="3407438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7000"/>
            <a:ext cx="2438400" cy="3407438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5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7000"/>
            <a:ext cx="2438400" cy="3407438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0" y="4980565"/>
            <a:ext cx="2438400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3556000" y="4980565"/>
            <a:ext cx="2438400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6197600" y="4980565"/>
            <a:ext cx="2438400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8839200" y="4980565"/>
            <a:ext cx="2438400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144564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3328416" cy="3407439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6999"/>
            <a:ext cx="3328416" cy="3407439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6999"/>
            <a:ext cx="3328416" cy="3407439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0" y="4980565"/>
            <a:ext cx="3328416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4431792" y="4980565"/>
            <a:ext cx="3328416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7949184" y="4980565"/>
            <a:ext cx="3328416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991942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3328416" cy="3407439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6999"/>
            <a:ext cx="3328416" cy="3407439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6999"/>
            <a:ext cx="3328416" cy="3407439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0" y="4980565"/>
            <a:ext cx="3328416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4431792" y="4980565"/>
            <a:ext cx="3328416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7949184" y="4980565"/>
            <a:ext cx="3328416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90695991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5085589" cy="3407439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6999"/>
            <a:ext cx="5085589" cy="3407439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0" y="4980565"/>
            <a:ext cx="5085589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6192011" y="4980565"/>
            <a:ext cx="5085589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7931907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5085589" cy="3407439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6999"/>
            <a:ext cx="5085589" cy="3407439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0" y="4980565"/>
            <a:ext cx="5085589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6192011" y="4980565"/>
            <a:ext cx="5085589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40559566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al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2438400" cy="147616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7000"/>
            <a:ext cx="2438400" cy="147616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7000"/>
            <a:ext cx="2438400" cy="147616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5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7000"/>
            <a:ext cx="2438400" cy="147616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3554984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/>
          </p:nvPr>
        </p:nvSpPr>
        <p:spPr>
          <a:xfrm>
            <a:off x="6195568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/>
          </p:nvPr>
        </p:nvSpPr>
        <p:spPr>
          <a:xfrm>
            <a:off x="8836152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457331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all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2438400" cy="147616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7000"/>
            <a:ext cx="2438400" cy="147616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7000"/>
            <a:ext cx="2438400" cy="147616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5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7000"/>
            <a:ext cx="2438400" cy="147616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3554984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/>
          </p:nvPr>
        </p:nvSpPr>
        <p:spPr>
          <a:xfrm>
            <a:off x="6195568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/>
          </p:nvPr>
        </p:nvSpPr>
        <p:spPr>
          <a:xfrm>
            <a:off x="8836152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22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61071079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Tal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3055281"/>
            <a:ext cx="3328416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4431792" y="3055281"/>
            <a:ext cx="3328416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0"/>
          </p:nvPr>
        </p:nvSpPr>
        <p:spPr>
          <a:xfrm>
            <a:off x="7949184" y="3055281"/>
            <a:ext cx="3328416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677650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Tall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3055281"/>
            <a:ext cx="3328416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4431792" y="3055281"/>
            <a:ext cx="3328416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0"/>
          </p:nvPr>
        </p:nvSpPr>
        <p:spPr>
          <a:xfrm>
            <a:off x="7949184" y="3055281"/>
            <a:ext cx="3328416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55749267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al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5085589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7000"/>
            <a:ext cx="5085589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7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3055281"/>
            <a:ext cx="5084064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/>
          </p:nvPr>
        </p:nvSpPr>
        <p:spPr>
          <a:xfrm>
            <a:off x="6193536" y="3055281"/>
            <a:ext cx="5084064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9168133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all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5085589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7000"/>
            <a:ext cx="5085589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7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3055281"/>
            <a:ext cx="5084064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/>
          </p:nvPr>
        </p:nvSpPr>
        <p:spPr>
          <a:xfrm>
            <a:off x="6193536" y="3055281"/>
            <a:ext cx="5084064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05125092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Gri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3384" y="1397000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4984" y="1397000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6584" y="1397000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8184" y="1397000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>
          <a:xfrm>
            <a:off x="913384" y="4717007"/>
            <a:ext cx="2441448" cy="1326605"/>
          </a:xfrm>
        </p:spPr>
        <p:txBody>
          <a:bodyPr/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3553968" y="4717007"/>
            <a:ext cx="2441448" cy="1326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/>
          </p:nvPr>
        </p:nvSpPr>
        <p:spPr>
          <a:xfrm>
            <a:off x="6194552" y="4717007"/>
            <a:ext cx="2441448" cy="1326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/>
          </p:nvPr>
        </p:nvSpPr>
        <p:spPr>
          <a:xfrm>
            <a:off x="8835136" y="4717007"/>
            <a:ext cx="2441448" cy="1326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913384" y="3057004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3554984" y="3057004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6196584" y="3057004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8838184" y="3057004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21965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Grid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3384" y="1397000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4984" y="1397000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6584" y="1397000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8184" y="1397000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>
          <a:xfrm>
            <a:off x="913384" y="4717007"/>
            <a:ext cx="2441448" cy="1326605"/>
          </a:xfrm>
        </p:spPr>
        <p:txBody>
          <a:bodyPr/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3553968" y="4717007"/>
            <a:ext cx="2441448" cy="1326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/>
          </p:nvPr>
        </p:nvSpPr>
        <p:spPr>
          <a:xfrm>
            <a:off x="6194552" y="4717007"/>
            <a:ext cx="2441448" cy="1326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/>
          </p:nvPr>
        </p:nvSpPr>
        <p:spPr>
          <a:xfrm>
            <a:off x="8835136" y="4717007"/>
            <a:ext cx="2441448" cy="1326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913384" y="3057004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3554984" y="3057004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6196584" y="3057004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8838184" y="3057004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403474166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Gri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720990"/>
            <a:ext cx="3328416" cy="1370248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4431792" y="4720990"/>
            <a:ext cx="3328416" cy="1370248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0"/>
          </p:nvPr>
        </p:nvSpPr>
        <p:spPr>
          <a:xfrm>
            <a:off x="7949184" y="4720990"/>
            <a:ext cx="3328416" cy="1370248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14400" y="3060985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4431792" y="3060985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7949184" y="3060985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3778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Grid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720990"/>
            <a:ext cx="3328416" cy="1370248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4431792" y="4720990"/>
            <a:ext cx="3328416" cy="1370248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0"/>
          </p:nvPr>
        </p:nvSpPr>
        <p:spPr>
          <a:xfrm>
            <a:off x="7949184" y="4720990"/>
            <a:ext cx="3328416" cy="1370248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14400" y="3060985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4431792" y="3060985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7949184" y="3060985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64178122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Gri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5925" y="1397000"/>
            <a:ext cx="5085589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3536" y="1397000"/>
            <a:ext cx="5085589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704405"/>
            <a:ext cx="5084064" cy="1339207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/>
          </p:nvPr>
        </p:nvSpPr>
        <p:spPr>
          <a:xfrm>
            <a:off x="6193536" y="4704405"/>
            <a:ext cx="5084064" cy="1339207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915925" y="3060985"/>
            <a:ext cx="5085589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6193536" y="3060985"/>
            <a:ext cx="5085589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01004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Grid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5925" y="1397000"/>
            <a:ext cx="5085589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3536" y="1397000"/>
            <a:ext cx="5085589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704405"/>
            <a:ext cx="5084064" cy="1339207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/>
          </p:nvPr>
        </p:nvSpPr>
        <p:spPr>
          <a:xfrm>
            <a:off x="6193536" y="4704405"/>
            <a:ext cx="5084064" cy="1339207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915925" y="3060985"/>
            <a:ext cx="5085589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6193536" y="3060985"/>
            <a:ext cx="5085589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13578439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2438400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6999"/>
            <a:ext cx="2438400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6999"/>
            <a:ext cx="2438400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6999"/>
            <a:ext cx="2438400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914400" y="4604358"/>
            <a:ext cx="2441448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3554984" y="4604358"/>
            <a:ext cx="2441448" cy="1058751"/>
          </a:xfr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195568" y="4604358"/>
            <a:ext cx="2441448" cy="1058751"/>
          </a:xfrm>
          <a:solidFill>
            <a:schemeClr val="accent5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8836152" y="4604358"/>
            <a:ext cx="2441448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80879945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ar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2438400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6999"/>
            <a:ext cx="2438400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6999"/>
            <a:ext cx="2438400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6999"/>
            <a:ext cx="2438400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914400" y="4604358"/>
            <a:ext cx="2441448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3554984" y="4604358"/>
            <a:ext cx="2441448" cy="1058751"/>
          </a:xfr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195568" y="4604358"/>
            <a:ext cx="2441448" cy="1058751"/>
          </a:xfrm>
          <a:solidFill>
            <a:schemeClr val="accent5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8836152" y="4604358"/>
            <a:ext cx="2441448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86521696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3328416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6999"/>
            <a:ext cx="3328416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6999"/>
            <a:ext cx="3328416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4604358"/>
            <a:ext cx="3328416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4431792" y="4604358"/>
            <a:ext cx="3328416" cy="1058751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7949184" y="4604358"/>
            <a:ext cx="3328416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86816054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3328416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6999"/>
            <a:ext cx="3328416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6999"/>
            <a:ext cx="3328416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4604358"/>
            <a:ext cx="3328416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4431792" y="4604358"/>
            <a:ext cx="3328416" cy="1058751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7949184" y="4604358"/>
            <a:ext cx="3328416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95692724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ar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5085589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6999"/>
            <a:ext cx="5085589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4912134"/>
            <a:ext cx="5084064" cy="750975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6193536" y="4912134"/>
            <a:ext cx="5084064" cy="750975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56367780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5085589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6999"/>
            <a:ext cx="5085589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4912134"/>
            <a:ext cx="5084064" cy="750975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6193536" y="4912134"/>
            <a:ext cx="5084064" cy="750975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52798254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a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2438400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7000"/>
            <a:ext cx="2438400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7000"/>
            <a:ext cx="2438400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7000"/>
            <a:ext cx="2438400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914400" y="2982317"/>
            <a:ext cx="2441448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3554984" y="2982317"/>
            <a:ext cx="2441448" cy="1058751"/>
          </a:xfr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195568" y="2982317"/>
            <a:ext cx="2441448" cy="1058751"/>
          </a:xfrm>
          <a:solidFill>
            <a:schemeClr val="accent5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8836152" y="2982317"/>
            <a:ext cx="2441448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212305"/>
            <a:ext cx="2441448" cy="1713558"/>
          </a:xfrm>
        </p:spPr>
        <p:txBody>
          <a:bodyPr/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4"/>
          </p:nvPr>
        </p:nvSpPr>
        <p:spPr>
          <a:xfrm>
            <a:off x="3554984" y="4212305"/>
            <a:ext cx="2441448" cy="171355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ontent Placeholder 13"/>
          <p:cNvSpPr>
            <a:spLocks noGrp="1"/>
          </p:cNvSpPr>
          <p:nvPr>
            <p:ph sz="quarter" idx="25"/>
          </p:nvPr>
        </p:nvSpPr>
        <p:spPr>
          <a:xfrm>
            <a:off x="6195568" y="4212305"/>
            <a:ext cx="2441448" cy="171355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ontent Placeholder 13"/>
          <p:cNvSpPr>
            <a:spLocks noGrp="1"/>
          </p:cNvSpPr>
          <p:nvPr>
            <p:ph sz="quarter" idx="26"/>
          </p:nvPr>
        </p:nvSpPr>
        <p:spPr>
          <a:xfrm>
            <a:off x="8836152" y="4212305"/>
            <a:ext cx="2441448" cy="171355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921614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ar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2438400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7000"/>
            <a:ext cx="2438400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7000"/>
            <a:ext cx="2438400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7000"/>
            <a:ext cx="2438400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914400" y="2982317"/>
            <a:ext cx="2441448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3554984" y="2982317"/>
            <a:ext cx="2441448" cy="1058751"/>
          </a:xfr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195568" y="2982317"/>
            <a:ext cx="2441448" cy="1058751"/>
          </a:xfrm>
          <a:solidFill>
            <a:schemeClr val="accent5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8836152" y="2982317"/>
            <a:ext cx="2441448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212305"/>
            <a:ext cx="2441448" cy="1713558"/>
          </a:xfrm>
        </p:spPr>
        <p:txBody>
          <a:bodyPr/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4"/>
          </p:nvPr>
        </p:nvSpPr>
        <p:spPr>
          <a:xfrm>
            <a:off x="3554984" y="4212305"/>
            <a:ext cx="2441448" cy="171355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ontent Placeholder 13"/>
          <p:cNvSpPr>
            <a:spLocks noGrp="1"/>
          </p:cNvSpPr>
          <p:nvPr>
            <p:ph sz="quarter" idx="25"/>
          </p:nvPr>
        </p:nvSpPr>
        <p:spPr>
          <a:xfrm>
            <a:off x="6195568" y="4212305"/>
            <a:ext cx="2441448" cy="171355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ontent Placeholder 13"/>
          <p:cNvSpPr>
            <a:spLocks noGrp="1"/>
          </p:cNvSpPr>
          <p:nvPr>
            <p:ph sz="quarter" idx="26"/>
          </p:nvPr>
        </p:nvSpPr>
        <p:spPr>
          <a:xfrm>
            <a:off x="8836152" y="4212305"/>
            <a:ext cx="2441448" cy="171355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27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35557416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2982317"/>
            <a:ext cx="3328416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4431792" y="2982317"/>
            <a:ext cx="3328416" cy="1058751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7949184" y="2982317"/>
            <a:ext cx="3328416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212305"/>
            <a:ext cx="3328416" cy="175069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4431792" y="4212305"/>
            <a:ext cx="3328416" cy="175069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13"/>
          <p:cNvSpPr>
            <a:spLocks noGrp="1"/>
          </p:cNvSpPr>
          <p:nvPr>
            <p:ph sz="quarter" idx="20"/>
          </p:nvPr>
        </p:nvSpPr>
        <p:spPr>
          <a:xfrm>
            <a:off x="7949184" y="4212305"/>
            <a:ext cx="3328416" cy="175069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24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67074892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2982317"/>
            <a:ext cx="3328416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4431792" y="2982317"/>
            <a:ext cx="3328416" cy="1058751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7949184" y="2982317"/>
            <a:ext cx="3328416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212305"/>
            <a:ext cx="3328416" cy="175069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4431792" y="4212305"/>
            <a:ext cx="3328416" cy="175069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13"/>
          <p:cNvSpPr>
            <a:spLocks noGrp="1"/>
          </p:cNvSpPr>
          <p:nvPr>
            <p:ph sz="quarter" idx="20"/>
          </p:nvPr>
        </p:nvSpPr>
        <p:spPr>
          <a:xfrm>
            <a:off x="7949184" y="4212305"/>
            <a:ext cx="3328416" cy="175069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715585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a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5085589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7000"/>
            <a:ext cx="5085589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3290093"/>
            <a:ext cx="5084064" cy="750975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6193536" y="3290093"/>
            <a:ext cx="5084064" cy="750975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212305"/>
            <a:ext cx="5084064" cy="1703066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6193536" y="4212305"/>
            <a:ext cx="5084064" cy="1703066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928760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ar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5085589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7000"/>
            <a:ext cx="5085589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3290093"/>
            <a:ext cx="5084064" cy="750975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6193536" y="3290093"/>
            <a:ext cx="5084064" cy="750975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212305"/>
            <a:ext cx="5084064" cy="1703066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6193536" y="4212305"/>
            <a:ext cx="5084064" cy="1703066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95154080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637916" y="1639789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3483710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4546239" y="1639789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6392033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7454562" y="1639789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300356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2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10362885" y="1639789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153548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637916" y="3153547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3483710" y="3153548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4546239" y="3153547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6392033" y="3153548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7454562" y="3153547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Picture Placeholder 3"/>
          <p:cNvSpPr>
            <a:spLocks noGrp="1"/>
          </p:cNvSpPr>
          <p:nvPr>
            <p:ph type="pic" sz="quarter" idx="31"/>
          </p:nvPr>
        </p:nvSpPr>
        <p:spPr>
          <a:xfrm>
            <a:off x="9300356" y="3153548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40" name="Content Placeholder 13"/>
          <p:cNvSpPr>
            <a:spLocks noGrp="1"/>
          </p:cNvSpPr>
          <p:nvPr>
            <p:ph sz="quarter" idx="32" hasCustomPrompt="1"/>
          </p:nvPr>
        </p:nvSpPr>
        <p:spPr>
          <a:xfrm>
            <a:off x="10362885" y="3153547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1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575387" y="4667305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42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1637916" y="4667304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3483710" y="4667305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44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4546239" y="4667304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6392033" y="4667305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46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7454562" y="4667304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7" name="Picture Placeholder 3"/>
          <p:cNvSpPr>
            <a:spLocks noGrp="1"/>
          </p:cNvSpPr>
          <p:nvPr>
            <p:ph type="pic" sz="quarter" idx="39"/>
          </p:nvPr>
        </p:nvSpPr>
        <p:spPr>
          <a:xfrm>
            <a:off x="9300356" y="4667305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48" name="Content Placeholder 13"/>
          <p:cNvSpPr>
            <a:spLocks noGrp="1"/>
          </p:cNvSpPr>
          <p:nvPr>
            <p:ph sz="quarter" idx="40" hasCustomPrompt="1"/>
          </p:nvPr>
        </p:nvSpPr>
        <p:spPr>
          <a:xfrm>
            <a:off x="10362885" y="4667304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8777419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637916" y="1639789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3483710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4546239" y="1639789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6392033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7454562" y="1639789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300356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2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10362885" y="1639789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153548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637916" y="3153547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3483710" y="3153548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4546239" y="3153547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6392033" y="3153548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7454562" y="3153547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Picture Placeholder 3"/>
          <p:cNvSpPr>
            <a:spLocks noGrp="1"/>
          </p:cNvSpPr>
          <p:nvPr>
            <p:ph type="pic" sz="quarter" idx="31"/>
          </p:nvPr>
        </p:nvSpPr>
        <p:spPr>
          <a:xfrm>
            <a:off x="9300356" y="3153548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40" name="Content Placeholder 13"/>
          <p:cNvSpPr>
            <a:spLocks noGrp="1"/>
          </p:cNvSpPr>
          <p:nvPr>
            <p:ph sz="quarter" idx="32" hasCustomPrompt="1"/>
          </p:nvPr>
        </p:nvSpPr>
        <p:spPr>
          <a:xfrm>
            <a:off x="10362885" y="3153547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1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575387" y="4667305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42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1637916" y="4667304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3483710" y="4667305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44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4546239" y="4667304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6392033" y="4667305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46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7454562" y="4667304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7" name="Picture Placeholder 3"/>
          <p:cNvSpPr>
            <a:spLocks noGrp="1"/>
          </p:cNvSpPr>
          <p:nvPr>
            <p:ph type="pic" sz="quarter" idx="39"/>
          </p:nvPr>
        </p:nvSpPr>
        <p:spPr>
          <a:xfrm>
            <a:off x="9300356" y="4667305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48" name="Content Placeholder 13"/>
          <p:cNvSpPr>
            <a:spLocks noGrp="1"/>
          </p:cNvSpPr>
          <p:nvPr>
            <p:ph sz="quarter" idx="40" hasCustomPrompt="1"/>
          </p:nvPr>
        </p:nvSpPr>
        <p:spPr>
          <a:xfrm>
            <a:off x="10362885" y="4667304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46738053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637916" y="1639789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360325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5426633" y="1639789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8145262" y="1639789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9215349" y="1639789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153548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637916" y="3153547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4360325" y="3153548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5426633" y="3153547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8145262" y="3153547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9215349" y="3153547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1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575387" y="4667305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42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1637916" y="4667304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4360325" y="4667305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44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5426633" y="4667304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8145262" y="4667304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46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9215349" y="4667304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08010400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Team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637916" y="1639789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360325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5426633" y="1639789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8145262" y="1639789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9215349" y="1639789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153548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637916" y="3153547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4360325" y="3153548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5426633" y="3153547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8145262" y="3153547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9215349" y="3153547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1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575387" y="4667305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42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1637916" y="4667304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4360325" y="4667305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44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5426633" y="4667304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8145262" y="4667304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46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9215349" y="4667304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8890732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637916" y="1639788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360325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5426633" y="1639788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8145262" y="1639789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9215349" y="1639788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886577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637916" y="3886575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4360325" y="3886577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5426633" y="3886575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8145262" y="3886576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9215349" y="3886575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53546258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Team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637916" y="1639788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360325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5426633" y="1639788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8145262" y="1639789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9215349" y="1639788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886577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637916" y="3886575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4360325" y="3886577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5426633" y="3886575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8145262" y="3886576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9215349" y="3886575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4155685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1534154" cy="153415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2295374" y="1639788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6279803" y="1639790"/>
            <a:ext cx="1534154" cy="153415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8003569" y="1639788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886577"/>
            <a:ext cx="1534154" cy="153415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2295374" y="3886575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6279803" y="3886577"/>
            <a:ext cx="1534154" cy="153415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8003569" y="3886575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423536024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1534154" cy="153415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2295374" y="1639788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6279803" y="1639790"/>
            <a:ext cx="1534154" cy="153415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8003569" y="1639788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886577"/>
            <a:ext cx="1534154" cy="153415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2295374" y="3886575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6279803" y="3886577"/>
            <a:ext cx="1534154" cy="153415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8003569" y="3886575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7816467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564225" y="1639790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575387" y="3256992"/>
            <a:ext cx="3376937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5349163" y="1639790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4360325" y="3256992"/>
            <a:ext cx="3376937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9134100" y="1639789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8145262" y="3256992"/>
            <a:ext cx="3376937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84096209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a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564225" y="1639790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575387" y="3256992"/>
            <a:ext cx="3376937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5349163" y="1639790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4360325" y="3256992"/>
            <a:ext cx="3376937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9134100" y="1639789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8145262" y="3256992"/>
            <a:ext cx="3376937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3489808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Sub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221602" y="1639790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719254" y="3256992"/>
            <a:ext cx="2403956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025464" y="1639790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3523116" y="3256992"/>
            <a:ext cx="2403956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6829326" y="1639790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6326978" y="3256992"/>
            <a:ext cx="2403956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42"/>
          </p:nvPr>
        </p:nvSpPr>
        <p:spPr>
          <a:xfrm>
            <a:off x="9633189" y="1639789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tx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43" hasCustomPrompt="1"/>
          </p:nvPr>
        </p:nvSpPr>
        <p:spPr>
          <a:xfrm>
            <a:off x="9130841" y="3256992"/>
            <a:ext cx="2403956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5277304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221602" y="1639790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719254" y="3256992"/>
            <a:ext cx="2403956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025464" y="1639790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3523116" y="3256992"/>
            <a:ext cx="2403956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6829326" y="1639790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6326978" y="3256992"/>
            <a:ext cx="2403956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42"/>
          </p:nvPr>
        </p:nvSpPr>
        <p:spPr>
          <a:xfrm>
            <a:off x="9633189" y="1639789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tx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43" hasCustomPrompt="1"/>
          </p:nvPr>
        </p:nvSpPr>
        <p:spPr>
          <a:xfrm>
            <a:off x="9130841" y="3256992"/>
            <a:ext cx="2403956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7733013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1" y="1268759"/>
            <a:ext cx="2352260" cy="3535680"/>
          </a:xfrm>
          <a:solidFill>
            <a:schemeClr val="bg1">
              <a:lumMod val="90000"/>
              <a:lumOff val="1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257971" y="1268759"/>
            <a:ext cx="2352260" cy="3535680"/>
          </a:xfrm>
          <a:solidFill>
            <a:schemeClr val="bg1">
              <a:lumMod val="90000"/>
              <a:lumOff val="1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3467708" y="1268759"/>
            <a:ext cx="2479811" cy="3535680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buFontTx/>
              <a:buNone/>
              <a:defRPr sz="1400"/>
            </a:lvl2pPr>
            <a:lvl3pPr marL="150813" indent="-150813">
              <a:defRPr sz="1400"/>
            </a:lvl3pPr>
            <a:lvl4pPr marL="401638" indent="-207963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797789" y="1268759"/>
            <a:ext cx="2479811" cy="3535680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buFontTx/>
              <a:buNone/>
              <a:defRPr sz="1400"/>
            </a:lvl2pPr>
            <a:lvl3pPr marL="150813" indent="-150813">
              <a:defRPr sz="1400"/>
            </a:lvl3pPr>
            <a:lvl4pPr marL="401638" indent="-207963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914400" y="4980565"/>
            <a:ext cx="5033119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6257971" y="4980565"/>
            <a:ext cx="5019629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994767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53280320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  <a:lvl2pPr>
              <a:spcBef>
                <a:spcPts val="1200"/>
              </a:spcBef>
              <a:defRPr/>
            </a:lvl2pPr>
            <a:lvl3pPr>
              <a:spcBef>
                <a:spcPts val="1200"/>
              </a:spcBef>
              <a:defRPr/>
            </a:lvl3pPr>
            <a:lvl4pPr>
              <a:spcBef>
                <a:spcPts val="1200"/>
              </a:spcBef>
              <a:defRPr/>
            </a:lvl4pPr>
            <a:lvl5pPr>
              <a:spcBef>
                <a:spcPts val="12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759463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52420"/>
            <a:ext cx="10363200" cy="4627563"/>
          </a:xfrm>
        </p:spPr>
        <p:txBody>
          <a:bodyPr/>
          <a:lstStyle>
            <a:lvl1pPr>
              <a:spcBef>
                <a:spcPts val="1200"/>
              </a:spcBef>
              <a:defRPr/>
            </a:lvl1pPr>
            <a:lvl2pPr>
              <a:spcBef>
                <a:spcPts val="1200"/>
              </a:spcBef>
              <a:defRPr/>
            </a:lvl2pPr>
            <a:lvl3pPr>
              <a:spcBef>
                <a:spcPts val="1200"/>
              </a:spcBef>
              <a:defRPr/>
            </a:lvl3pPr>
            <a:lvl4pPr>
              <a:spcBef>
                <a:spcPts val="1200"/>
              </a:spcBef>
              <a:defRPr/>
            </a:lvl4pPr>
            <a:lvl5pPr>
              <a:spcBef>
                <a:spcPts val="12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86956427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no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 spcCol="274320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228594" indent="-228594">
              <a:spcBef>
                <a:spcPts val="1200"/>
              </a:spcBef>
              <a:buFont typeface="Arial" panose="020B0604020202020204" pitchFamily="34" charset="0"/>
              <a:buChar char="•"/>
              <a:defRPr sz="1600"/>
            </a:lvl2pPr>
            <a:lvl3pPr marL="476239" indent="-247644">
              <a:spcBef>
                <a:spcPts val="1200"/>
              </a:spcBef>
              <a:buFont typeface="Open Sans Light" panose="020B0306030504020204" pitchFamily="34" charset="0"/>
              <a:buChar char="–"/>
              <a:defRPr sz="1600"/>
            </a:lvl3pPr>
            <a:lvl4pPr marL="685783" indent="-228594">
              <a:spcBef>
                <a:spcPts val="1200"/>
              </a:spcBef>
              <a:buFont typeface="Arial" panose="020B0604020202020204" pitchFamily="34" charset="0"/>
              <a:buChar char="•"/>
              <a:defRPr sz="1600"/>
            </a:lvl4pPr>
            <a:lvl5pPr marL="914377" indent="-228594">
              <a:spcBef>
                <a:spcPts val="1200"/>
              </a:spcBef>
              <a:buFont typeface="Open Sans Light" panose="020B0306030504020204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266323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52420"/>
            <a:ext cx="10363200" cy="4627563"/>
          </a:xfrm>
        </p:spPr>
        <p:txBody>
          <a:bodyPr numCol="2" spcCol="274320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228594" indent="-228594">
              <a:spcBef>
                <a:spcPts val="1200"/>
              </a:spcBef>
              <a:buFont typeface="Arial" panose="020B0604020202020204" pitchFamily="34" charset="0"/>
              <a:buChar char="•"/>
              <a:defRPr sz="1600"/>
            </a:lvl2pPr>
            <a:lvl3pPr marL="457189" indent="-228594">
              <a:spcBef>
                <a:spcPts val="1200"/>
              </a:spcBef>
              <a:buFont typeface="Open Sans Light" panose="020B0306030504020204" pitchFamily="34" charset="0"/>
              <a:buChar char="–"/>
              <a:defRPr sz="1600"/>
            </a:lvl3pPr>
            <a:lvl4pPr marL="685783" indent="-228594">
              <a:spcBef>
                <a:spcPts val="1200"/>
              </a:spcBef>
              <a:buFont typeface="Arial" panose="020B0604020202020204" pitchFamily="34" charset="0"/>
              <a:buChar char="•"/>
              <a:defRPr sz="1600"/>
            </a:lvl4pPr>
            <a:lvl5pPr marL="914377" indent="-228594">
              <a:spcBef>
                <a:spcPts val="1200"/>
              </a:spcBef>
              <a:buFont typeface="Open Sans Light" panose="020B0306030504020204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90064256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452420"/>
            <a:ext cx="5080000" cy="45259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52420"/>
            <a:ext cx="5080000" cy="45259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80792956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219200"/>
            <a:ext cx="5080000" cy="45259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19200"/>
            <a:ext cx="5080000" cy="45259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907269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219200"/>
            <a:ext cx="5082117" cy="307776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1560285"/>
            <a:ext cx="5082117" cy="456587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219200"/>
            <a:ext cx="5084232" cy="307776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1560285"/>
            <a:ext cx="5084232" cy="456587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9658033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62284"/>
            <a:ext cx="5082117" cy="307776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1803370"/>
            <a:ext cx="5082117" cy="436883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462284"/>
            <a:ext cx="5084232" cy="307776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1803370"/>
            <a:ext cx="5084232" cy="436883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65649806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2305901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591754337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Utter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188063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ight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063240" cy="3438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049016" y="0"/>
            <a:ext cx="3063240" cy="3438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098032" y="0"/>
            <a:ext cx="3063240" cy="3438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9147048" y="0"/>
            <a:ext cx="3063240" cy="3438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0" y="3419856"/>
            <a:ext cx="3063240" cy="3438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3049016" y="3419856"/>
            <a:ext cx="3063240" cy="3438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6098032" y="3419856"/>
            <a:ext cx="3063240" cy="3438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9147048" y="3419856"/>
            <a:ext cx="3063240" cy="3438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609341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fteen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441448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437638" y="0"/>
            <a:ext cx="2441448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4875276" y="0"/>
            <a:ext cx="2441448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7312914" y="0"/>
            <a:ext cx="2441448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9750552" y="0"/>
            <a:ext cx="2441448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0" y="2281428"/>
            <a:ext cx="2441448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2437638" y="2281428"/>
            <a:ext cx="2441448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4875276" y="2281428"/>
            <a:ext cx="2441448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7312914" y="2281428"/>
            <a:ext cx="2441448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9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9750552" y="2281428"/>
            <a:ext cx="2441448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0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0" y="4562856"/>
            <a:ext cx="2441448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1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2437638" y="4562856"/>
            <a:ext cx="2441448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2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4875276" y="4562856"/>
            <a:ext cx="2441448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7312914" y="4562856"/>
            <a:ext cx="2441448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4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9750552" y="4562856"/>
            <a:ext cx="2441448" cy="2295144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48400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4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028749" y="0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4057498" y="0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6086247" y="0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10143744" y="0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5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8114996" y="0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8" name="Picture Placeholder 3"/>
          <p:cNvSpPr>
            <a:spLocks noGrp="1"/>
          </p:cNvSpPr>
          <p:nvPr>
            <p:ph type="pic" sz="quarter" idx="26"/>
          </p:nvPr>
        </p:nvSpPr>
        <p:spPr>
          <a:xfrm>
            <a:off x="0" y="1709928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2028749" y="1709928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0" name="Picture Placeholder 3"/>
          <p:cNvSpPr>
            <a:spLocks noGrp="1"/>
          </p:cNvSpPr>
          <p:nvPr>
            <p:ph type="pic" sz="quarter" idx="28"/>
          </p:nvPr>
        </p:nvSpPr>
        <p:spPr>
          <a:xfrm>
            <a:off x="4057498" y="1709928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1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6086247" y="1709928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2" name="Picture Placeholder 3"/>
          <p:cNvSpPr>
            <a:spLocks noGrp="1"/>
          </p:cNvSpPr>
          <p:nvPr>
            <p:ph type="pic" sz="quarter" idx="30"/>
          </p:nvPr>
        </p:nvSpPr>
        <p:spPr>
          <a:xfrm>
            <a:off x="10143744" y="1709928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31"/>
          </p:nvPr>
        </p:nvSpPr>
        <p:spPr>
          <a:xfrm>
            <a:off x="8114996" y="1709928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4" name="Picture Placeholder 3"/>
          <p:cNvSpPr>
            <a:spLocks noGrp="1"/>
          </p:cNvSpPr>
          <p:nvPr>
            <p:ph type="pic" sz="quarter" idx="32"/>
          </p:nvPr>
        </p:nvSpPr>
        <p:spPr>
          <a:xfrm>
            <a:off x="0" y="3419856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2028749" y="3419856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6" name="Picture Placeholder 3"/>
          <p:cNvSpPr>
            <a:spLocks noGrp="1"/>
          </p:cNvSpPr>
          <p:nvPr>
            <p:ph type="pic" sz="quarter" idx="34"/>
          </p:nvPr>
        </p:nvSpPr>
        <p:spPr>
          <a:xfrm>
            <a:off x="4057498" y="3419856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6086247" y="3419856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8" name="Picture Placeholder 3"/>
          <p:cNvSpPr>
            <a:spLocks noGrp="1"/>
          </p:cNvSpPr>
          <p:nvPr>
            <p:ph type="pic" sz="quarter" idx="36"/>
          </p:nvPr>
        </p:nvSpPr>
        <p:spPr>
          <a:xfrm>
            <a:off x="10143744" y="3419856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9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8114996" y="3419856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40" name="Picture Placeholder 3"/>
          <p:cNvSpPr>
            <a:spLocks noGrp="1"/>
          </p:cNvSpPr>
          <p:nvPr>
            <p:ph type="pic" sz="quarter" idx="38"/>
          </p:nvPr>
        </p:nvSpPr>
        <p:spPr>
          <a:xfrm>
            <a:off x="0" y="5129784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41" name="Picture Placeholder 3"/>
          <p:cNvSpPr>
            <a:spLocks noGrp="1"/>
          </p:cNvSpPr>
          <p:nvPr>
            <p:ph type="pic" sz="quarter" idx="39"/>
          </p:nvPr>
        </p:nvSpPr>
        <p:spPr>
          <a:xfrm>
            <a:off x="2028749" y="5129784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42" name="Picture Placeholder 3"/>
          <p:cNvSpPr>
            <a:spLocks noGrp="1"/>
          </p:cNvSpPr>
          <p:nvPr>
            <p:ph type="pic" sz="quarter" idx="40"/>
          </p:nvPr>
        </p:nvSpPr>
        <p:spPr>
          <a:xfrm>
            <a:off x="4057498" y="5129784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41"/>
          </p:nvPr>
        </p:nvSpPr>
        <p:spPr>
          <a:xfrm>
            <a:off x="6086247" y="5129784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44" name="Picture Placeholder 3"/>
          <p:cNvSpPr>
            <a:spLocks noGrp="1"/>
          </p:cNvSpPr>
          <p:nvPr>
            <p:ph type="pic" sz="quarter" idx="42"/>
          </p:nvPr>
        </p:nvSpPr>
        <p:spPr>
          <a:xfrm>
            <a:off x="10143744" y="5129784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43"/>
          </p:nvPr>
        </p:nvSpPr>
        <p:spPr>
          <a:xfrm>
            <a:off x="8114996" y="5129784"/>
            <a:ext cx="2048256" cy="1728216"/>
          </a:xfr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117519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2438400" cy="3407438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7000"/>
            <a:ext cx="2438400" cy="3407438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7000"/>
            <a:ext cx="2438400" cy="3407438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5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7000"/>
            <a:ext cx="2438400" cy="3407438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0" y="4980565"/>
            <a:ext cx="2438400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3556000" y="4980565"/>
            <a:ext cx="2438400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6197600" y="4980565"/>
            <a:ext cx="2438400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8839200" y="4980565"/>
            <a:ext cx="2438400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2237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2438400" cy="3407438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7000"/>
            <a:ext cx="2438400" cy="3407438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7000"/>
            <a:ext cx="2438400" cy="3407438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5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7000"/>
            <a:ext cx="2438400" cy="3407438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0" y="4980565"/>
            <a:ext cx="2438400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3556000" y="4980565"/>
            <a:ext cx="2438400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6197600" y="4980565"/>
            <a:ext cx="2438400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8839200" y="4980565"/>
            <a:ext cx="2438400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8488999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3328416" cy="3407439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6999"/>
            <a:ext cx="3328416" cy="3407439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6999"/>
            <a:ext cx="3328416" cy="3407439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0" y="4980565"/>
            <a:ext cx="3328416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4431792" y="4980565"/>
            <a:ext cx="3328416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7949184" y="4980565"/>
            <a:ext cx="3328416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024534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3328416" cy="3407439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6999"/>
            <a:ext cx="3328416" cy="3407439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6999"/>
            <a:ext cx="3328416" cy="3407439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0" y="4980565"/>
            <a:ext cx="3328416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4431792" y="4980565"/>
            <a:ext cx="3328416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7949184" y="4980565"/>
            <a:ext cx="3328416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234869266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5085589" cy="3407439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6999"/>
            <a:ext cx="5085589" cy="3407439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0" y="4980565"/>
            <a:ext cx="5085589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6192011" y="4980565"/>
            <a:ext cx="5085589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0758964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5085589" cy="3407439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6999"/>
            <a:ext cx="5085589" cy="3407439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0" y="4980565"/>
            <a:ext cx="5085589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6192011" y="4980565"/>
            <a:ext cx="5085589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606727888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al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2438400" cy="1476165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7000"/>
            <a:ext cx="2438400" cy="1476165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7000"/>
            <a:ext cx="2438400" cy="1476165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5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7000"/>
            <a:ext cx="2438400" cy="1476165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3554984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/>
          </p:nvPr>
        </p:nvSpPr>
        <p:spPr>
          <a:xfrm>
            <a:off x="6195568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/>
          </p:nvPr>
        </p:nvSpPr>
        <p:spPr>
          <a:xfrm>
            <a:off x="8836152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9097181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all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2438400" cy="1476165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7000"/>
            <a:ext cx="2438400" cy="1476165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7000"/>
            <a:ext cx="2438400" cy="1476165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5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7000"/>
            <a:ext cx="2438400" cy="1476165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3554984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/>
          </p:nvPr>
        </p:nvSpPr>
        <p:spPr>
          <a:xfrm>
            <a:off x="6195568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/>
          </p:nvPr>
        </p:nvSpPr>
        <p:spPr>
          <a:xfrm>
            <a:off x="8836152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22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64896783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Tal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1472184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1472184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1472184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3055281"/>
            <a:ext cx="3328416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4431792" y="3055281"/>
            <a:ext cx="3328416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0"/>
          </p:nvPr>
        </p:nvSpPr>
        <p:spPr>
          <a:xfrm>
            <a:off x="7949184" y="3055281"/>
            <a:ext cx="3328416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17557379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Tall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1472184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1472184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1472184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3055281"/>
            <a:ext cx="3328416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4431792" y="3055281"/>
            <a:ext cx="3328416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0"/>
          </p:nvPr>
        </p:nvSpPr>
        <p:spPr>
          <a:xfrm>
            <a:off x="7949184" y="3055281"/>
            <a:ext cx="3328416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836260756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al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5085589" cy="1472184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7000"/>
            <a:ext cx="5085589" cy="1472184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7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3055281"/>
            <a:ext cx="5084064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/>
          </p:nvPr>
        </p:nvSpPr>
        <p:spPr>
          <a:xfrm>
            <a:off x="6193536" y="3055281"/>
            <a:ext cx="5084064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064146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all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5085589" cy="1472184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7000"/>
            <a:ext cx="5085589" cy="1472184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7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3055281"/>
            <a:ext cx="5084064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/>
          </p:nvPr>
        </p:nvSpPr>
        <p:spPr>
          <a:xfrm>
            <a:off x="6193536" y="3055281"/>
            <a:ext cx="5084064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386985252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Gri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3384" y="1397000"/>
            <a:ext cx="24384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4984" y="1397000"/>
            <a:ext cx="24384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6584" y="1397000"/>
            <a:ext cx="24384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8184" y="1397000"/>
            <a:ext cx="24384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>
          <a:xfrm>
            <a:off x="913384" y="4717007"/>
            <a:ext cx="2441448" cy="1326605"/>
          </a:xfrm>
        </p:spPr>
        <p:txBody>
          <a:bodyPr/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3553968" y="4717007"/>
            <a:ext cx="2441448" cy="1326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/>
          </p:nvPr>
        </p:nvSpPr>
        <p:spPr>
          <a:xfrm>
            <a:off x="6194552" y="4717007"/>
            <a:ext cx="2441448" cy="1326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/>
          </p:nvPr>
        </p:nvSpPr>
        <p:spPr>
          <a:xfrm>
            <a:off x="8835136" y="4717007"/>
            <a:ext cx="2441448" cy="1326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913384" y="3057004"/>
            <a:ext cx="24384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3554984" y="3057004"/>
            <a:ext cx="24384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6196584" y="3057004"/>
            <a:ext cx="24384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8838184" y="3057004"/>
            <a:ext cx="24384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493276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Grid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3384" y="1397000"/>
            <a:ext cx="24384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4984" y="1397000"/>
            <a:ext cx="24384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6584" y="1397000"/>
            <a:ext cx="24384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8184" y="1397000"/>
            <a:ext cx="24384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>
          <a:xfrm>
            <a:off x="913384" y="4717007"/>
            <a:ext cx="2441448" cy="1326605"/>
          </a:xfrm>
        </p:spPr>
        <p:txBody>
          <a:bodyPr/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3553968" y="4717007"/>
            <a:ext cx="2441448" cy="1326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/>
          </p:nvPr>
        </p:nvSpPr>
        <p:spPr>
          <a:xfrm>
            <a:off x="6194552" y="4717007"/>
            <a:ext cx="2441448" cy="1326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/>
          </p:nvPr>
        </p:nvSpPr>
        <p:spPr>
          <a:xfrm>
            <a:off x="8835136" y="4717007"/>
            <a:ext cx="2441448" cy="1326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913384" y="3057004"/>
            <a:ext cx="24384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3554984" y="3057004"/>
            <a:ext cx="24384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6196584" y="3057004"/>
            <a:ext cx="24384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8838184" y="3057004"/>
            <a:ext cx="24384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631063481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Gri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147218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147218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147218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720990"/>
            <a:ext cx="3328416" cy="1370248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4431792" y="4720990"/>
            <a:ext cx="3328416" cy="1370248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0"/>
          </p:nvPr>
        </p:nvSpPr>
        <p:spPr>
          <a:xfrm>
            <a:off x="7949184" y="4720990"/>
            <a:ext cx="3328416" cy="1370248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14400" y="3060985"/>
            <a:ext cx="3328416" cy="147218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4431792" y="3060985"/>
            <a:ext cx="3328416" cy="147218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7949184" y="3060985"/>
            <a:ext cx="3328416" cy="147218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106920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Grid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147218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147218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147218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720990"/>
            <a:ext cx="3328416" cy="1370248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4431792" y="4720990"/>
            <a:ext cx="3328416" cy="1370248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0"/>
          </p:nvPr>
        </p:nvSpPr>
        <p:spPr>
          <a:xfrm>
            <a:off x="7949184" y="4720990"/>
            <a:ext cx="3328416" cy="1370248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14400" y="3060985"/>
            <a:ext cx="3328416" cy="147218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4431792" y="3060985"/>
            <a:ext cx="3328416" cy="147218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7949184" y="3060985"/>
            <a:ext cx="3328416" cy="147218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713201051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Gri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5925" y="1397000"/>
            <a:ext cx="5085589" cy="147218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3536" y="1397000"/>
            <a:ext cx="5085589" cy="147218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704405"/>
            <a:ext cx="5084064" cy="1339207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/>
          </p:nvPr>
        </p:nvSpPr>
        <p:spPr>
          <a:xfrm>
            <a:off x="6193536" y="4704405"/>
            <a:ext cx="5084064" cy="1339207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915925" y="3060985"/>
            <a:ext cx="5085589" cy="147218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6193536" y="3060985"/>
            <a:ext cx="5085589" cy="147218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139892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Grid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5925" y="1397000"/>
            <a:ext cx="5085589" cy="147218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3536" y="1397000"/>
            <a:ext cx="5085589" cy="147218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704405"/>
            <a:ext cx="5084064" cy="1339207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/>
          </p:nvPr>
        </p:nvSpPr>
        <p:spPr>
          <a:xfrm>
            <a:off x="6193536" y="4704405"/>
            <a:ext cx="5084064" cy="1339207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915925" y="3060985"/>
            <a:ext cx="5085589" cy="147218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6193536" y="3060985"/>
            <a:ext cx="5085589" cy="147218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092384425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2438400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6999"/>
            <a:ext cx="2438400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6999"/>
            <a:ext cx="2438400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6999"/>
            <a:ext cx="2438400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914400" y="4604358"/>
            <a:ext cx="2441448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3554984" y="4604358"/>
            <a:ext cx="2441448" cy="1058751"/>
          </a:xfr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195568" y="4604358"/>
            <a:ext cx="2441448" cy="1058751"/>
          </a:xfrm>
          <a:solidFill>
            <a:schemeClr val="accent5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8836152" y="4604358"/>
            <a:ext cx="2441448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847198782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ar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2438400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6999"/>
            <a:ext cx="2438400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6999"/>
            <a:ext cx="2438400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6999"/>
            <a:ext cx="2438400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914400" y="4604358"/>
            <a:ext cx="2441448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3554984" y="4604358"/>
            <a:ext cx="2441448" cy="1058751"/>
          </a:xfr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195568" y="4604358"/>
            <a:ext cx="2441448" cy="1058751"/>
          </a:xfrm>
          <a:solidFill>
            <a:schemeClr val="accent5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8836152" y="4604358"/>
            <a:ext cx="2441448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783620849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3328416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6999"/>
            <a:ext cx="3328416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6999"/>
            <a:ext cx="3328416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4604358"/>
            <a:ext cx="3328416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4431792" y="4604358"/>
            <a:ext cx="3328416" cy="1058751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7949184" y="4604358"/>
            <a:ext cx="3328416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68619417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3328416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6999"/>
            <a:ext cx="3328416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6999"/>
            <a:ext cx="3328416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4604358"/>
            <a:ext cx="3328416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4431792" y="4604358"/>
            <a:ext cx="3328416" cy="1058751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7949184" y="4604358"/>
            <a:ext cx="3328416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204076259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ar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5085589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6999"/>
            <a:ext cx="5085589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4912134"/>
            <a:ext cx="5084064" cy="750975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6193536" y="4912134"/>
            <a:ext cx="5084064" cy="750975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997908990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5085589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6999"/>
            <a:ext cx="5085589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4912134"/>
            <a:ext cx="5084064" cy="750975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6193536" y="4912134"/>
            <a:ext cx="5084064" cy="750975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884024457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a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2438400" cy="264406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7000"/>
            <a:ext cx="2438400" cy="264406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7000"/>
            <a:ext cx="2438400" cy="264406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7000"/>
            <a:ext cx="2438400" cy="264406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914400" y="2982317"/>
            <a:ext cx="2441448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3554984" y="2982317"/>
            <a:ext cx="2441448" cy="1058751"/>
          </a:xfr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195568" y="2982317"/>
            <a:ext cx="2441448" cy="1058751"/>
          </a:xfrm>
          <a:solidFill>
            <a:schemeClr val="accent5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8836152" y="2982317"/>
            <a:ext cx="2441448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212305"/>
            <a:ext cx="2441448" cy="1713558"/>
          </a:xfrm>
        </p:spPr>
        <p:txBody>
          <a:bodyPr/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4"/>
          </p:nvPr>
        </p:nvSpPr>
        <p:spPr>
          <a:xfrm>
            <a:off x="3554984" y="4212305"/>
            <a:ext cx="2441448" cy="171355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ontent Placeholder 13"/>
          <p:cNvSpPr>
            <a:spLocks noGrp="1"/>
          </p:cNvSpPr>
          <p:nvPr>
            <p:ph sz="quarter" idx="25"/>
          </p:nvPr>
        </p:nvSpPr>
        <p:spPr>
          <a:xfrm>
            <a:off x="6195568" y="4212305"/>
            <a:ext cx="2441448" cy="171355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ontent Placeholder 13"/>
          <p:cNvSpPr>
            <a:spLocks noGrp="1"/>
          </p:cNvSpPr>
          <p:nvPr>
            <p:ph sz="quarter" idx="26"/>
          </p:nvPr>
        </p:nvSpPr>
        <p:spPr>
          <a:xfrm>
            <a:off x="8836152" y="4212305"/>
            <a:ext cx="2441448" cy="171355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1946574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ar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2438400" cy="264406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7000"/>
            <a:ext cx="2438400" cy="264406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7000"/>
            <a:ext cx="2438400" cy="264406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7000"/>
            <a:ext cx="2438400" cy="264406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914400" y="2982317"/>
            <a:ext cx="2441448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3554984" y="2982317"/>
            <a:ext cx="2441448" cy="1058751"/>
          </a:xfr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195568" y="2982317"/>
            <a:ext cx="2441448" cy="1058751"/>
          </a:xfrm>
          <a:solidFill>
            <a:schemeClr val="accent5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8836152" y="2982317"/>
            <a:ext cx="2441448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212305"/>
            <a:ext cx="2441448" cy="1713558"/>
          </a:xfrm>
        </p:spPr>
        <p:txBody>
          <a:bodyPr/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4"/>
          </p:nvPr>
        </p:nvSpPr>
        <p:spPr>
          <a:xfrm>
            <a:off x="3554984" y="4212305"/>
            <a:ext cx="2441448" cy="171355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ontent Placeholder 13"/>
          <p:cNvSpPr>
            <a:spLocks noGrp="1"/>
          </p:cNvSpPr>
          <p:nvPr>
            <p:ph sz="quarter" idx="25"/>
          </p:nvPr>
        </p:nvSpPr>
        <p:spPr>
          <a:xfrm>
            <a:off x="6195568" y="4212305"/>
            <a:ext cx="2441448" cy="171355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ontent Placeholder 13"/>
          <p:cNvSpPr>
            <a:spLocks noGrp="1"/>
          </p:cNvSpPr>
          <p:nvPr>
            <p:ph sz="quarter" idx="26"/>
          </p:nvPr>
        </p:nvSpPr>
        <p:spPr>
          <a:xfrm>
            <a:off x="8836152" y="4212305"/>
            <a:ext cx="2441448" cy="171355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27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479669095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264406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264406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264406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2982317"/>
            <a:ext cx="3328416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4431792" y="2982317"/>
            <a:ext cx="3328416" cy="1058751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7949184" y="2982317"/>
            <a:ext cx="3328416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212305"/>
            <a:ext cx="3328416" cy="175069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4431792" y="4212305"/>
            <a:ext cx="3328416" cy="175069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13"/>
          <p:cNvSpPr>
            <a:spLocks noGrp="1"/>
          </p:cNvSpPr>
          <p:nvPr>
            <p:ph sz="quarter" idx="20"/>
          </p:nvPr>
        </p:nvSpPr>
        <p:spPr>
          <a:xfrm>
            <a:off x="7949184" y="4212305"/>
            <a:ext cx="3328416" cy="175069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24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662158133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264406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264406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264406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2982317"/>
            <a:ext cx="3328416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4431792" y="2982317"/>
            <a:ext cx="3328416" cy="1058751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7949184" y="2982317"/>
            <a:ext cx="3328416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212305"/>
            <a:ext cx="3328416" cy="175069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4431792" y="4212305"/>
            <a:ext cx="3328416" cy="175069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13"/>
          <p:cNvSpPr>
            <a:spLocks noGrp="1"/>
          </p:cNvSpPr>
          <p:nvPr>
            <p:ph sz="quarter" idx="20"/>
          </p:nvPr>
        </p:nvSpPr>
        <p:spPr>
          <a:xfrm>
            <a:off x="7949184" y="4212305"/>
            <a:ext cx="3328416" cy="175069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34655361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a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5085589" cy="264406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7000"/>
            <a:ext cx="5085589" cy="264406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3290093"/>
            <a:ext cx="5084064" cy="750975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6193536" y="3290093"/>
            <a:ext cx="5084064" cy="750975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212305"/>
            <a:ext cx="5084064" cy="1703066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6193536" y="4212305"/>
            <a:ext cx="5084064" cy="1703066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551650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ar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5085589" cy="264406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7000"/>
            <a:ext cx="5085589" cy="2644068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3290093"/>
            <a:ext cx="5084064" cy="750975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6193536" y="3290093"/>
            <a:ext cx="5084064" cy="750975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212305"/>
            <a:ext cx="5084064" cy="1703066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6193536" y="4212305"/>
            <a:ext cx="5084064" cy="1703066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142812774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637916" y="1639789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3483710" y="1639790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4546239" y="1639789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6392033" y="1639790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7454562" y="1639789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300356" y="1639790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2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10362885" y="1639789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153548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637916" y="3153547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3483710" y="3153548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4546239" y="3153547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6392033" y="3153548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7454562" y="3153547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Picture Placeholder 3"/>
          <p:cNvSpPr>
            <a:spLocks noGrp="1"/>
          </p:cNvSpPr>
          <p:nvPr>
            <p:ph type="pic" sz="quarter" idx="31"/>
          </p:nvPr>
        </p:nvSpPr>
        <p:spPr>
          <a:xfrm>
            <a:off x="9300356" y="3153548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40" name="Content Placeholder 13"/>
          <p:cNvSpPr>
            <a:spLocks noGrp="1"/>
          </p:cNvSpPr>
          <p:nvPr>
            <p:ph sz="quarter" idx="32" hasCustomPrompt="1"/>
          </p:nvPr>
        </p:nvSpPr>
        <p:spPr>
          <a:xfrm>
            <a:off x="10362885" y="3153547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1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575387" y="4667305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42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1637916" y="4667304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3483710" y="4667305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44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4546239" y="4667304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6392033" y="4667305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46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7454562" y="4667304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7" name="Picture Placeholder 3"/>
          <p:cNvSpPr>
            <a:spLocks noGrp="1"/>
          </p:cNvSpPr>
          <p:nvPr>
            <p:ph type="pic" sz="quarter" idx="39"/>
          </p:nvPr>
        </p:nvSpPr>
        <p:spPr>
          <a:xfrm>
            <a:off x="9300356" y="4667305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48" name="Content Placeholder 13"/>
          <p:cNvSpPr>
            <a:spLocks noGrp="1"/>
          </p:cNvSpPr>
          <p:nvPr>
            <p:ph sz="quarter" idx="40" hasCustomPrompt="1"/>
          </p:nvPr>
        </p:nvSpPr>
        <p:spPr>
          <a:xfrm>
            <a:off x="10362885" y="4667304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3064904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637916" y="1639789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3483710" y="1639790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4546239" y="1639789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6392033" y="1639790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7454562" y="1639789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300356" y="1639790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2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10362885" y="1639789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153548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637916" y="3153547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3483710" y="3153548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4546239" y="3153547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6392033" y="3153548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7454562" y="3153547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Picture Placeholder 3"/>
          <p:cNvSpPr>
            <a:spLocks noGrp="1"/>
          </p:cNvSpPr>
          <p:nvPr>
            <p:ph type="pic" sz="quarter" idx="31"/>
          </p:nvPr>
        </p:nvSpPr>
        <p:spPr>
          <a:xfrm>
            <a:off x="9300356" y="3153548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40" name="Content Placeholder 13"/>
          <p:cNvSpPr>
            <a:spLocks noGrp="1"/>
          </p:cNvSpPr>
          <p:nvPr>
            <p:ph sz="quarter" idx="32" hasCustomPrompt="1"/>
          </p:nvPr>
        </p:nvSpPr>
        <p:spPr>
          <a:xfrm>
            <a:off x="10362885" y="3153547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1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575387" y="4667305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42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1637916" y="4667304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3483710" y="4667305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44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4546239" y="4667304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6392033" y="4667305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46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7454562" y="4667304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7" name="Picture Placeholder 3"/>
          <p:cNvSpPr>
            <a:spLocks noGrp="1"/>
          </p:cNvSpPr>
          <p:nvPr>
            <p:ph type="pic" sz="quarter" idx="39"/>
          </p:nvPr>
        </p:nvSpPr>
        <p:spPr>
          <a:xfrm>
            <a:off x="9300356" y="4667305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48" name="Content Placeholder 13"/>
          <p:cNvSpPr>
            <a:spLocks noGrp="1"/>
          </p:cNvSpPr>
          <p:nvPr>
            <p:ph sz="quarter" idx="40" hasCustomPrompt="1"/>
          </p:nvPr>
        </p:nvSpPr>
        <p:spPr>
          <a:xfrm>
            <a:off x="10362885" y="4667304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138089621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637916" y="1639789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360325" y="1639790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5426633" y="1639789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8145262" y="1639789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9215349" y="1639789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153548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637916" y="3153547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4360325" y="3153548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5426633" y="3153547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8145262" y="3153547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9215349" y="3153547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1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575387" y="4667305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42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1637916" y="4667304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4360325" y="4667305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44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5426633" y="4667304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8145262" y="4667304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46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9215349" y="4667304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399578607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Team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637916" y="1639789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360325" y="1639790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5426633" y="1639789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8145262" y="1639789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9215349" y="1639789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153548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637916" y="3153547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4360325" y="3153548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5426633" y="3153547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8145262" y="3153547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9215349" y="3153547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1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575387" y="4667305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42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1637916" y="4667304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4360325" y="4667305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44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5426633" y="4667304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8145262" y="4667304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46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9215349" y="4667304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34198086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637916" y="1639788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360325" y="1639790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5426633" y="1639788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8145262" y="1639789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9215349" y="1639788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886577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637916" y="3886575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4360325" y="3886577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5426633" y="3886575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8145262" y="3886576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9215349" y="3886575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303265873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Team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637916" y="1639788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360325" y="1639790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5426633" y="1639788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8145262" y="1639789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9215349" y="1639788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886577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637916" y="3886575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4360325" y="3886577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5426633" y="3886575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8145262" y="3886576"/>
            <a:ext cx="914400" cy="914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9215349" y="3886575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43299259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1534154" cy="1534154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2295374" y="1639788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6279803" y="1639790"/>
            <a:ext cx="1534154" cy="1534154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8003569" y="1639788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886577"/>
            <a:ext cx="1534154" cy="1534154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2295374" y="3886575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6279803" y="3886577"/>
            <a:ext cx="1534154" cy="1534154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8003569" y="3886575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178253086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1534154" cy="1534154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2295374" y="1639788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6279803" y="1639790"/>
            <a:ext cx="1534154" cy="1534154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8003569" y="1639788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886577"/>
            <a:ext cx="1534154" cy="1534154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2295374" y="3886575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6279803" y="3886577"/>
            <a:ext cx="1534154" cy="1534154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8003569" y="3886575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94391078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564225" y="1639790"/>
            <a:ext cx="1399260" cy="139926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575387" y="3256992"/>
            <a:ext cx="3376937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5349163" y="1639790"/>
            <a:ext cx="1399260" cy="139926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4360325" y="3256992"/>
            <a:ext cx="3376937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9134100" y="1639789"/>
            <a:ext cx="1399260" cy="139926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8145262" y="3256992"/>
            <a:ext cx="3376937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628077496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a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564225" y="1639790"/>
            <a:ext cx="1399260" cy="139926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575387" y="3256992"/>
            <a:ext cx="3376937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5349163" y="1639790"/>
            <a:ext cx="1399260" cy="139926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4360325" y="3256992"/>
            <a:ext cx="3376937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9134100" y="1639789"/>
            <a:ext cx="1399260" cy="139926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8145262" y="3256992"/>
            <a:ext cx="3376937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96263565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Sub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221602" y="1639790"/>
            <a:ext cx="1399260" cy="139926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719254" y="3256992"/>
            <a:ext cx="2403956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025464" y="1639790"/>
            <a:ext cx="1399260" cy="139926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3523116" y="3256992"/>
            <a:ext cx="2403956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6829326" y="1639790"/>
            <a:ext cx="1399260" cy="139926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6326978" y="3256992"/>
            <a:ext cx="2403956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42"/>
          </p:nvPr>
        </p:nvSpPr>
        <p:spPr>
          <a:xfrm>
            <a:off x="9633189" y="1639789"/>
            <a:ext cx="1399260" cy="139926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tx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43" hasCustomPrompt="1"/>
          </p:nvPr>
        </p:nvSpPr>
        <p:spPr>
          <a:xfrm>
            <a:off x="9130841" y="3256992"/>
            <a:ext cx="2403956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37608294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221602" y="1639790"/>
            <a:ext cx="1399260" cy="139926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719254" y="3256992"/>
            <a:ext cx="2403956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025464" y="1639790"/>
            <a:ext cx="1399260" cy="139926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3523116" y="3256992"/>
            <a:ext cx="2403956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6829326" y="1639790"/>
            <a:ext cx="1399260" cy="139926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6326978" y="3256992"/>
            <a:ext cx="2403956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42"/>
          </p:nvPr>
        </p:nvSpPr>
        <p:spPr>
          <a:xfrm>
            <a:off x="9633189" y="1639789"/>
            <a:ext cx="1399260" cy="139926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tx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43" hasCustomPrompt="1"/>
          </p:nvPr>
        </p:nvSpPr>
        <p:spPr>
          <a:xfrm>
            <a:off x="9130841" y="3256992"/>
            <a:ext cx="2403956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45525473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1" y="1268759"/>
            <a:ext cx="2352260" cy="353568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257971" y="1268759"/>
            <a:ext cx="2352260" cy="353568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3467708" y="1268759"/>
            <a:ext cx="2479811" cy="3535680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buFontTx/>
              <a:buNone/>
              <a:defRPr sz="1400"/>
            </a:lvl2pPr>
            <a:lvl3pPr marL="150813" indent="-150813">
              <a:defRPr sz="1400"/>
            </a:lvl3pPr>
            <a:lvl4pPr marL="401638" indent="-207963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797789" y="1268759"/>
            <a:ext cx="2479811" cy="3535680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buFontTx/>
              <a:buNone/>
              <a:defRPr sz="1400"/>
            </a:lvl2pPr>
            <a:lvl3pPr marL="150813" indent="-150813">
              <a:defRPr sz="1400"/>
            </a:lvl3pPr>
            <a:lvl4pPr marL="401638" indent="-207963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914400" y="4980565"/>
            <a:ext cx="5033119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6257971" y="4980565"/>
            <a:ext cx="5019629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2441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38.xml"/><Relationship Id="rId21" Type="http://schemas.openxmlformats.org/officeDocument/2006/relationships/slideLayout" Target="../slideLayouts/slideLayout33.xml"/><Relationship Id="rId42" Type="http://schemas.openxmlformats.org/officeDocument/2006/relationships/slideLayout" Target="../slideLayouts/slideLayout54.xml"/><Relationship Id="rId47" Type="http://schemas.openxmlformats.org/officeDocument/2006/relationships/slideLayout" Target="../slideLayouts/slideLayout59.xml"/><Relationship Id="rId63" Type="http://schemas.openxmlformats.org/officeDocument/2006/relationships/slideLayout" Target="../slideLayouts/slideLayout75.xml"/><Relationship Id="rId68" Type="http://schemas.openxmlformats.org/officeDocument/2006/relationships/hyperlink" Target="https://www.facebook.com" TargetMode="Externa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32" Type="http://schemas.openxmlformats.org/officeDocument/2006/relationships/slideLayout" Target="../slideLayouts/slideLayout44.xml"/><Relationship Id="rId37" Type="http://schemas.openxmlformats.org/officeDocument/2006/relationships/slideLayout" Target="../slideLayouts/slideLayout49.xml"/><Relationship Id="rId40" Type="http://schemas.openxmlformats.org/officeDocument/2006/relationships/slideLayout" Target="../slideLayouts/slideLayout52.xml"/><Relationship Id="rId45" Type="http://schemas.openxmlformats.org/officeDocument/2006/relationships/slideLayout" Target="../slideLayouts/slideLayout57.xml"/><Relationship Id="rId53" Type="http://schemas.openxmlformats.org/officeDocument/2006/relationships/slideLayout" Target="../slideLayouts/slideLayout65.xml"/><Relationship Id="rId58" Type="http://schemas.openxmlformats.org/officeDocument/2006/relationships/slideLayout" Target="../slideLayouts/slideLayout70.xml"/><Relationship Id="rId66" Type="http://schemas.openxmlformats.org/officeDocument/2006/relationships/slideLayout" Target="../slideLayouts/slideLayout78.xml"/><Relationship Id="rId5" Type="http://schemas.openxmlformats.org/officeDocument/2006/relationships/slideLayout" Target="../slideLayouts/slideLayout17.xml"/><Relationship Id="rId61" Type="http://schemas.openxmlformats.org/officeDocument/2006/relationships/slideLayout" Target="../slideLayouts/slideLayout73.xml"/><Relationship Id="rId1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Relationship Id="rId30" Type="http://schemas.openxmlformats.org/officeDocument/2006/relationships/slideLayout" Target="../slideLayouts/slideLayout42.xml"/><Relationship Id="rId35" Type="http://schemas.openxmlformats.org/officeDocument/2006/relationships/slideLayout" Target="../slideLayouts/slideLayout47.xml"/><Relationship Id="rId43" Type="http://schemas.openxmlformats.org/officeDocument/2006/relationships/slideLayout" Target="../slideLayouts/slideLayout55.xml"/><Relationship Id="rId48" Type="http://schemas.openxmlformats.org/officeDocument/2006/relationships/slideLayout" Target="../slideLayouts/slideLayout60.xml"/><Relationship Id="rId56" Type="http://schemas.openxmlformats.org/officeDocument/2006/relationships/slideLayout" Target="../slideLayouts/slideLayout68.xml"/><Relationship Id="rId64" Type="http://schemas.openxmlformats.org/officeDocument/2006/relationships/slideLayout" Target="../slideLayouts/slideLayout76.xml"/><Relationship Id="rId69" Type="http://schemas.openxmlformats.org/officeDocument/2006/relationships/hyperlink" Target="https://www.linkedin.com/" TargetMode="External"/><Relationship Id="rId8" Type="http://schemas.openxmlformats.org/officeDocument/2006/relationships/slideLayout" Target="../slideLayouts/slideLayout20.xml"/><Relationship Id="rId51" Type="http://schemas.openxmlformats.org/officeDocument/2006/relationships/slideLayout" Target="../slideLayouts/slideLayout63.xml"/><Relationship Id="rId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33" Type="http://schemas.openxmlformats.org/officeDocument/2006/relationships/slideLayout" Target="../slideLayouts/slideLayout45.xml"/><Relationship Id="rId38" Type="http://schemas.openxmlformats.org/officeDocument/2006/relationships/slideLayout" Target="../slideLayouts/slideLayout50.xml"/><Relationship Id="rId46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71.xml"/><Relationship Id="rId67" Type="http://schemas.openxmlformats.org/officeDocument/2006/relationships/theme" Target="../theme/theme2.xml"/><Relationship Id="rId20" Type="http://schemas.openxmlformats.org/officeDocument/2006/relationships/slideLayout" Target="../slideLayouts/slideLayout32.xml"/><Relationship Id="rId41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66.xml"/><Relationship Id="rId62" Type="http://schemas.openxmlformats.org/officeDocument/2006/relationships/slideLayout" Target="../slideLayouts/slideLayout74.xml"/><Relationship Id="rId70" Type="http://schemas.openxmlformats.org/officeDocument/2006/relationships/hyperlink" Target="https://twitter.com/" TargetMode="Externa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40.xml"/><Relationship Id="rId36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61.xml"/><Relationship Id="rId57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22.xml"/><Relationship Id="rId31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56.xml"/><Relationship Id="rId52" Type="http://schemas.openxmlformats.org/officeDocument/2006/relationships/slideLayout" Target="../slideLayouts/slideLayout64.xml"/><Relationship Id="rId60" Type="http://schemas.openxmlformats.org/officeDocument/2006/relationships/slideLayout" Target="../slideLayouts/slideLayout72.xml"/><Relationship Id="rId65" Type="http://schemas.openxmlformats.org/officeDocument/2006/relationships/slideLayout" Target="../slideLayouts/slideLayout77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9" Type="http://schemas.openxmlformats.org/officeDocument/2006/relationships/slideLayout" Target="../slideLayouts/slideLayout51.xml"/><Relationship Id="rId34" Type="http://schemas.openxmlformats.org/officeDocument/2006/relationships/slideLayout" Target="../slideLayouts/slideLayout46.xml"/><Relationship Id="rId50" Type="http://schemas.openxmlformats.org/officeDocument/2006/relationships/slideLayout" Target="../slideLayouts/slideLayout62.xml"/><Relationship Id="rId55" Type="http://schemas.openxmlformats.org/officeDocument/2006/relationships/slideLayout" Target="../slideLayouts/slideLayout67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91.xml"/><Relationship Id="rId18" Type="http://schemas.openxmlformats.org/officeDocument/2006/relationships/slideLayout" Target="../slideLayouts/slideLayout96.xml"/><Relationship Id="rId26" Type="http://schemas.openxmlformats.org/officeDocument/2006/relationships/slideLayout" Target="../slideLayouts/slideLayout104.xml"/><Relationship Id="rId39" Type="http://schemas.openxmlformats.org/officeDocument/2006/relationships/slideLayout" Target="../slideLayouts/slideLayout117.xml"/><Relationship Id="rId21" Type="http://schemas.openxmlformats.org/officeDocument/2006/relationships/slideLayout" Target="../slideLayouts/slideLayout99.xml"/><Relationship Id="rId34" Type="http://schemas.openxmlformats.org/officeDocument/2006/relationships/slideLayout" Target="../slideLayouts/slideLayout112.xml"/><Relationship Id="rId42" Type="http://schemas.openxmlformats.org/officeDocument/2006/relationships/slideLayout" Target="../slideLayouts/slideLayout120.xml"/><Relationship Id="rId47" Type="http://schemas.openxmlformats.org/officeDocument/2006/relationships/slideLayout" Target="../slideLayouts/slideLayout125.xml"/><Relationship Id="rId50" Type="http://schemas.openxmlformats.org/officeDocument/2006/relationships/slideLayout" Target="../slideLayouts/slideLayout128.xml"/><Relationship Id="rId55" Type="http://schemas.openxmlformats.org/officeDocument/2006/relationships/slideLayout" Target="../slideLayouts/slideLayout133.xml"/><Relationship Id="rId7" Type="http://schemas.openxmlformats.org/officeDocument/2006/relationships/slideLayout" Target="../slideLayouts/slideLayout85.xml"/><Relationship Id="rId2" Type="http://schemas.openxmlformats.org/officeDocument/2006/relationships/slideLayout" Target="../slideLayouts/slideLayout80.xml"/><Relationship Id="rId16" Type="http://schemas.openxmlformats.org/officeDocument/2006/relationships/slideLayout" Target="../slideLayouts/slideLayout94.xml"/><Relationship Id="rId29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89.xml"/><Relationship Id="rId24" Type="http://schemas.openxmlformats.org/officeDocument/2006/relationships/slideLayout" Target="../slideLayouts/slideLayout102.xml"/><Relationship Id="rId32" Type="http://schemas.openxmlformats.org/officeDocument/2006/relationships/slideLayout" Target="../slideLayouts/slideLayout110.xml"/><Relationship Id="rId37" Type="http://schemas.openxmlformats.org/officeDocument/2006/relationships/slideLayout" Target="../slideLayouts/slideLayout115.xml"/><Relationship Id="rId40" Type="http://schemas.openxmlformats.org/officeDocument/2006/relationships/slideLayout" Target="../slideLayouts/slideLayout118.xml"/><Relationship Id="rId45" Type="http://schemas.openxmlformats.org/officeDocument/2006/relationships/slideLayout" Target="../slideLayouts/slideLayout123.xml"/><Relationship Id="rId53" Type="http://schemas.openxmlformats.org/officeDocument/2006/relationships/slideLayout" Target="../slideLayouts/slideLayout131.xml"/><Relationship Id="rId58" Type="http://schemas.openxmlformats.org/officeDocument/2006/relationships/slideLayout" Target="../slideLayouts/slideLayout136.xml"/><Relationship Id="rId5" Type="http://schemas.openxmlformats.org/officeDocument/2006/relationships/slideLayout" Target="../slideLayouts/slideLayout83.xml"/><Relationship Id="rId61" Type="http://schemas.openxmlformats.org/officeDocument/2006/relationships/hyperlink" Target="https://www.linkedin.com/" TargetMode="External"/><Relationship Id="rId19" Type="http://schemas.openxmlformats.org/officeDocument/2006/relationships/slideLayout" Target="../slideLayouts/slideLayout97.xml"/><Relationship Id="rId14" Type="http://schemas.openxmlformats.org/officeDocument/2006/relationships/slideLayout" Target="../slideLayouts/slideLayout92.xml"/><Relationship Id="rId22" Type="http://schemas.openxmlformats.org/officeDocument/2006/relationships/slideLayout" Target="../slideLayouts/slideLayout100.xml"/><Relationship Id="rId27" Type="http://schemas.openxmlformats.org/officeDocument/2006/relationships/slideLayout" Target="../slideLayouts/slideLayout105.xml"/><Relationship Id="rId30" Type="http://schemas.openxmlformats.org/officeDocument/2006/relationships/slideLayout" Target="../slideLayouts/slideLayout108.xml"/><Relationship Id="rId35" Type="http://schemas.openxmlformats.org/officeDocument/2006/relationships/slideLayout" Target="../slideLayouts/slideLayout113.xml"/><Relationship Id="rId43" Type="http://schemas.openxmlformats.org/officeDocument/2006/relationships/slideLayout" Target="../slideLayouts/slideLayout121.xml"/><Relationship Id="rId48" Type="http://schemas.openxmlformats.org/officeDocument/2006/relationships/slideLayout" Target="../slideLayouts/slideLayout126.xml"/><Relationship Id="rId56" Type="http://schemas.openxmlformats.org/officeDocument/2006/relationships/slideLayout" Target="../slideLayouts/slideLayout134.xml"/><Relationship Id="rId8" Type="http://schemas.openxmlformats.org/officeDocument/2006/relationships/slideLayout" Target="../slideLayouts/slideLayout86.xml"/><Relationship Id="rId51" Type="http://schemas.openxmlformats.org/officeDocument/2006/relationships/slideLayout" Target="../slideLayouts/slideLayout129.xml"/><Relationship Id="rId3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90.xml"/><Relationship Id="rId17" Type="http://schemas.openxmlformats.org/officeDocument/2006/relationships/slideLayout" Target="../slideLayouts/slideLayout95.xml"/><Relationship Id="rId25" Type="http://schemas.openxmlformats.org/officeDocument/2006/relationships/slideLayout" Target="../slideLayouts/slideLayout103.xml"/><Relationship Id="rId33" Type="http://schemas.openxmlformats.org/officeDocument/2006/relationships/slideLayout" Target="../slideLayouts/slideLayout111.xml"/><Relationship Id="rId38" Type="http://schemas.openxmlformats.org/officeDocument/2006/relationships/slideLayout" Target="../slideLayouts/slideLayout116.xml"/><Relationship Id="rId46" Type="http://schemas.openxmlformats.org/officeDocument/2006/relationships/slideLayout" Target="../slideLayouts/slideLayout124.xml"/><Relationship Id="rId59" Type="http://schemas.openxmlformats.org/officeDocument/2006/relationships/theme" Target="../theme/theme3.xml"/><Relationship Id="rId20" Type="http://schemas.openxmlformats.org/officeDocument/2006/relationships/slideLayout" Target="../slideLayouts/slideLayout98.xml"/><Relationship Id="rId41" Type="http://schemas.openxmlformats.org/officeDocument/2006/relationships/slideLayout" Target="../slideLayouts/slideLayout119.xml"/><Relationship Id="rId54" Type="http://schemas.openxmlformats.org/officeDocument/2006/relationships/slideLayout" Target="../slideLayouts/slideLayout132.xml"/><Relationship Id="rId62" Type="http://schemas.openxmlformats.org/officeDocument/2006/relationships/hyperlink" Target="https://twitter.com/" TargetMode="External"/><Relationship Id="rId1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93.xml"/><Relationship Id="rId23" Type="http://schemas.openxmlformats.org/officeDocument/2006/relationships/slideLayout" Target="../slideLayouts/slideLayout101.xml"/><Relationship Id="rId28" Type="http://schemas.openxmlformats.org/officeDocument/2006/relationships/slideLayout" Target="../slideLayouts/slideLayout106.xml"/><Relationship Id="rId36" Type="http://schemas.openxmlformats.org/officeDocument/2006/relationships/slideLayout" Target="../slideLayouts/slideLayout114.xml"/><Relationship Id="rId49" Type="http://schemas.openxmlformats.org/officeDocument/2006/relationships/slideLayout" Target="../slideLayouts/slideLayout127.xml"/><Relationship Id="rId57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88.xml"/><Relationship Id="rId31" Type="http://schemas.openxmlformats.org/officeDocument/2006/relationships/slideLayout" Target="../slideLayouts/slideLayout109.xml"/><Relationship Id="rId44" Type="http://schemas.openxmlformats.org/officeDocument/2006/relationships/slideLayout" Target="../slideLayouts/slideLayout122.xml"/><Relationship Id="rId52" Type="http://schemas.openxmlformats.org/officeDocument/2006/relationships/slideLayout" Target="../slideLayouts/slideLayout130.xml"/><Relationship Id="rId60" Type="http://schemas.openxmlformats.org/officeDocument/2006/relationships/hyperlink" Target="https://www.facebook.com" TargetMode="External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897" r:id="rId4"/>
    <p:sldLayoutId id="2147483898" r:id="rId5"/>
    <p:sldLayoutId id="2147483899" r:id="rId6"/>
    <p:sldLayoutId id="2147483900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219200"/>
            <a:ext cx="10363200" cy="46275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8433938" y="6303346"/>
            <a:ext cx="2161276" cy="307777"/>
          </a:xfrm>
          <a:prstGeom prst="rect">
            <a:avLst/>
          </a:prstGeom>
        </p:spPr>
        <p:txBody>
          <a:bodyPr vert="horz" wrap="square" lIns="121920" tIns="60960" rIns="121920" bIns="6096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200"/>
              <a:t>i9 presentation to Joe Smith</a:t>
            </a: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814963" y="6293087"/>
            <a:ext cx="139424" cy="328295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smtClean="0">
                <a:solidFill>
                  <a:schemeClr val="tx1"/>
                </a:solidFill>
              </a:rPr>
              <a:pPr algn="ctr"/>
              <a:t>‹#›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718075" y="6290644"/>
            <a:ext cx="333200" cy="333200"/>
          </a:xfrm>
          <a:prstGeom prst="ellipse">
            <a:avLst/>
          </a:prstGeom>
          <a:noFill/>
          <a:ln w="635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6" name="Oval 15"/>
          <p:cNvSpPr/>
          <p:nvPr/>
        </p:nvSpPr>
        <p:spPr>
          <a:xfrm>
            <a:off x="281861" y="6290644"/>
            <a:ext cx="333200" cy="333200"/>
          </a:xfrm>
          <a:prstGeom prst="ellipse">
            <a:avLst/>
          </a:prstGeom>
          <a:noFill/>
          <a:ln w="635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7" name="Rectangle 9"/>
          <p:cNvSpPr/>
          <p:nvPr/>
        </p:nvSpPr>
        <p:spPr>
          <a:xfrm rot="2700000">
            <a:off x="426720" y="6412186"/>
            <a:ext cx="90117" cy="90117"/>
          </a:xfrm>
          <a:custGeom>
            <a:avLst/>
            <a:gdLst>
              <a:gd name="connsiteX0" fmla="*/ 0 w 531091"/>
              <a:gd name="connsiteY0" fmla="*/ 0 h 531091"/>
              <a:gd name="connsiteX1" fmla="*/ 531091 w 531091"/>
              <a:gd name="connsiteY1" fmla="*/ 0 h 531091"/>
              <a:gd name="connsiteX2" fmla="*/ 531091 w 531091"/>
              <a:gd name="connsiteY2" fmla="*/ 531091 h 531091"/>
              <a:gd name="connsiteX3" fmla="*/ 0 w 531091"/>
              <a:gd name="connsiteY3" fmla="*/ 531091 h 531091"/>
              <a:gd name="connsiteX4" fmla="*/ 0 w 531091"/>
              <a:gd name="connsiteY4" fmla="*/ 0 h 531091"/>
              <a:gd name="connsiteX0" fmla="*/ 0 w 531091"/>
              <a:gd name="connsiteY0" fmla="*/ 0 h 531091"/>
              <a:gd name="connsiteX1" fmla="*/ 531091 w 531091"/>
              <a:gd name="connsiteY1" fmla="*/ 531091 h 531091"/>
              <a:gd name="connsiteX2" fmla="*/ 0 w 531091"/>
              <a:gd name="connsiteY2" fmla="*/ 531091 h 531091"/>
              <a:gd name="connsiteX3" fmla="*/ 0 w 531091"/>
              <a:gd name="connsiteY3" fmla="*/ 0 h 531091"/>
              <a:gd name="connsiteX0" fmla="*/ 0 w 531091"/>
              <a:gd name="connsiteY0" fmla="*/ 0 h 531091"/>
              <a:gd name="connsiteX1" fmla="*/ 230909 w 531091"/>
              <a:gd name="connsiteY1" fmla="*/ 224312 h 531091"/>
              <a:gd name="connsiteX2" fmla="*/ 531091 w 531091"/>
              <a:gd name="connsiteY2" fmla="*/ 531091 h 531091"/>
              <a:gd name="connsiteX3" fmla="*/ 0 w 531091"/>
              <a:gd name="connsiteY3" fmla="*/ 531091 h 531091"/>
              <a:gd name="connsiteX4" fmla="*/ 0 w 531091"/>
              <a:gd name="connsiteY4" fmla="*/ 0 h 531091"/>
              <a:gd name="connsiteX0" fmla="*/ 230909 w 531091"/>
              <a:gd name="connsiteY0" fmla="*/ 224312 h 531091"/>
              <a:gd name="connsiteX1" fmla="*/ 531091 w 531091"/>
              <a:gd name="connsiteY1" fmla="*/ 531091 h 531091"/>
              <a:gd name="connsiteX2" fmla="*/ 0 w 531091"/>
              <a:gd name="connsiteY2" fmla="*/ 531091 h 531091"/>
              <a:gd name="connsiteX3" fmla="*/ 0 w 531091"/>
              <a:gd name="connsiteY3" fmla="*/ 0 h 531091"/>
              <a:gd name="connsiteX4" fmla="*/ 322349 w 531091"/>
              <a:gd name="connsiteY4" fmla="*/ 315752 h 531091"/>
              <a:gd name="connsiteX0" fmla="*/ 343065 w 531091"/>
              <a:gd name="connsiteY0" fmla="*/ 89066 h 531091"/>
              <a:gd name="connsiteX1" fmla="*/ 531091 w 531091"/>
              <a:gd name="connsiteY1" fmla="*/ 531091 h 531091"/>
              <a:gd name="connsiteX2" fmla="*/ 0 w 531091"/>
              <a:gd name="connsiteY2" fmla="*/ 531091 h 531091"/>
              <a:gd name="connsiteX3" fmla="*/ 0 w 531091"/>
              <a:gd name="connsiteY3" fmla="*/ 0 h 531091"/>
              <a:gd name="connsiteX4" fmla="*/ 322349 w 531091"/>
              <a:gd name="connsiteY4" fmla="*/ 315752 h 531091"/>
              <a:gd name="connsiteX0" fmla="*/ 531091 w 531091"/>
              <a:gd name="connsiteY0" fmla="*/ 531091 h 531091"/>
              <a:gd name="connsiteX1" fmla="*/ 0 w 531091"/>
              <a:gd name="connsiteY1" fmla="*/ 531091 h 531091"/>
              <a:gd name="connsiteX2" fmla="*/ 0 w 531091"/>
              <a:gd name="connsiteY2" fmla="*/ 0 h 531091"/>
              <a:gd name="connsiteX3" fmla="*/ 322349 w 531091"/>
              <a:gd name="connsiteY3" fmla="*/ 315752 h 531091"/>
              <a:gd name="connsiteX0" fmla="*/ 531091 w 531091"/>
              <a:gd name="connsiteY0" fmla="*/ 531091 h 531091"/>
              <a:gd name="connsiteX1" fmla="*/ 0 w 531091"/>
              <a:gd name="connsiteY1" fmla="*/ 531091 h 531091"/>
              <a:gd name="connsiteX2" fmla="*/ 0 w 531091"/>
              <a:gd name="connsiteY2" fmla="*/ 0 h 531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1091" h="531091">
                <a:moveTo>
                  <a:pt x="531091" y="531091"/>
                </a:moveTo>
                <a:lnTo>
                  <a:pt x="0" y="531091"/>
                </a:lnTo>
                <a:lnTo>
                  <a:pt x="0" y="0"/>
                </a:lnTo>
              </a:path>
            </a:pathLst>
          </a:custGeom>
          <a:noFill/>
          <a:ln w="635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4" name="Oval 13"/>
          <p:cNvSpPr/>
          <p:nvPr/>
        </p:nvSpPr>
        <p:spPr>
          <a:xfrm rot="10800000">
            <a:off x="1154288" y="6290644"/>
            <a:ext cx="333200" cy="333200"/>
          </a:xfrm>
          <a:prstGeom prst="ellipse">
            <a:avLst/>
          </a:prstGeom>
          <a:noFill/>
          <a:ln w="635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5" name="Rectangle 9"/>
          <p:cNvSpPr/>
          <p:nvPr/>
        </p:nvSpPr>
        <p:spPr>
          <a:xfrm rot="13500000">
            <a:off x="1252512" y="6412186"/>
            <a:ext cx="90117" cy="90117"/>
          </a:xfrm>
          <a:custGeom>
            <a:avLst/>
            <a:gdLst>
              <a:gd name="connsiteX0" fmla="*/ 0 w 531091"/>
              <a:gd name="connsiteY0" fmla="*/ 0 h 531091"/>
              <a:gd name="connsiteX1" fmla="*/ 531091 w 531091"/>
              <a:gd name="connsiteY1" fmla="*/ 0 h 531091"/>
              <a:gd name="connsiteX2" fmla="*/ 531091 w 531091"/>
              <a:gd name="connsiteY2" fmla="*/ 531091 h 531091"/>
              <a:gd name="connsiteX3" fmla="*/ 0 w 531091"/>
              <a:gd name="connsiteY3" fmla="*/ 531091 h 531091"/>
              <a:gd name="connsiteX4" fmla="*/ 0 w 531091"/>
              <a:gd name="connsiteY4" fmla="*/ 0 h 531091"/>
              <a:gd name="connsiteX0" fmla="*/ 0 w 531091"/>
              <a:gd name="connsiteY0" fmla="*/ 0 h 531091"/>
              <a:gd name="connsiteX1" fmla="*/ 531091 w 531091"/>
              <a:gd name="connsiteY1" fmla="*/ 531091 h 531091"/>
              <a:gd name="connsiteX2" fmla="*/ 0 w 531091"/>
              <a:gd name="connsiteY2" fmla="*/ 531091 h 531091"/>
              <a:gd name="connsiteX3" fmla="*/ 0 w 531091"/>
              <a:gd name="connsiteY3" fmla="*/ 0 h 531091"/>
              <a:gd name="connsiteX0" fmla="*/ 0 w 531091"/>
              <a:gd name="connsiteY0" fmla="*/ 0 h 531091"/>
              <a:gd name="connsiteX1" fmla="*/ 230909 w 531091"/>
              <a:gd name="connsiteY1" fmla="*/ 224312 h 531091"/>
              <a:gd name="connsiteX2" fmla="*/ 531091 w 531091"/>
              <a:gd name="connsiteY2" fmla="*/ 531091 h 531091"/>
              <a:gd name="connsiteX3" fmla="*/ 0 w 531091"/>
              <a:gd name="connsiteY3" fmla="*/ 531091 h 531091"/>
              <a:gd name="connsiteX4" fmla="*/ 0 w 531091"/>
              <a:gd name="connsiteY4" fmla="*/ 0 h 531091"/>
              <a:gd name="connsiteX0" fmla="*/ 230909 w 531091"/>
              <a:gd name="connsiteY0" fmla="*/ 224312 h 531091"/>
              <a:gd name="connsiteX1" fmla="*/ 531091 w 531091"/>
              <a:gd name="connsiteY1" fmla="*/ 531091 h 531091"/>
              <a:gd name="connsiteX2" fmla="*/ 0 w 531091"/>
              <a:gd name="connsiteY2" fmla="*/ 531091 h 531091"/>
              <a:gd name="connsiteX3" fmla="*/ 0 w 531091"/>
              <a:gd name="connsiteY3" fmla="*/ 0 h 531091"/>
              <a:gd name="connsiteX4" fmla="*/ 322349 w 531091"/>
              <a:gd name="connsiteY4" fmla="*/ 315752 h 531091"/>
              <a:gd name="connsiteX0" fmla="*/ 343065 w 531091"/>
              <a:gd name="connsiteY0" fmla="*/ 89066 h 531091"/>
              <a:gd name="connsiteX1" fmla="*/ 531091 w 531091"/>
              <a:gd name="connsiteY1" fmla="*/ 531091 h 531091"/>
              <a:gd name="connsiteX2" fmla="*/ 0 w 531091"/>
              <a:gd name="connsiteY2" fmla="*/ 531091 h 531091"/>
              <a:gd name="connsiteX3" fmla="*/ 0 w 531091"/>
              <a:gd name="connsiteY3" fmla="*/ 0 h 531091"/>
              <a:gd name="connsiteX4" fmla="*/ 322349 w 531091"/>
              <a:gd name="connsiteY4" fmla="*/ 315752 h 531091"/>
              <a:gd name="connsiteX0" fmla="*/ 531091 w 531091"/>
              <a:gd name="connsiteY0" fmla="*/ 531091 h 531091"/>
              <a:gd name="connsiteX1" fmla="*/ 0 w 531091"/>
              <a:gd name="connsiteY1" fmla="*/ 531091 h 531091"/>
              <a:gd name="connsiteX2" fmla="*/ 0 w 531091"/>
              <a:gd name="connsiteY2" fmla="*/ 0 h 531091"/>
              <a:gd name="connsiteX3" fmla="*/ 322349 w 531091"/>
              <a:gd name="connsiteY3" fmla="*/ 315752 h 531091"/>
              <a:gd name="connsiteX0" fmla="*/ 531091 w 531091"/>
              <a:gd name="connsiteY0" fmla="*/ 531091 h 531091"/>
              <a:gd name="connsiteX1" fmla="*/ 0 w 531091"/>
              <a:gd name="connsiteY1" fmla="*/ 531091 h 531091"/>
              <a:gd name="connsiteX2" fmla="*/ 0 w 531091"/>
              <a:gd name="connsiteY2" fmla="*/ 0 h 531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1091" h="531091">
                <a:moveTo>
                  <a:pt x="531091" y="531091"/>
                </a:moveTo>
                <a:lnTo>
                  <a:pt x="0" y="531091"/>
                </a:lnTo>
                <a:lnTo>
                  <a:pt x="0" y="0"/>
                </a:lnTo>
              </a:path>
            </a:pathLst>
          </a:custGeom>
          <a:noFill/>
          <a:ln w="635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9" name="Freeform 6"/>
          <p:cNvSpPr>
            <a:spLocks/>
          </p:cNvSpPr>
          <p:nvPr/>
        </p:nvSpPr>
        <p:spPr bwMode="auto">
          <a:xfrm>
            <a:off x="10833553" y="6390365"/>
            <a:ext cx="64135" cy="137803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0" name="Freeform 7"/>
          <p:cNvSpPr>
            <a:spLocks noEditPoints="1"/>
          </p:cNvSpPr>
          <p:nvPr/>
        </p:nvSpPr>
        <p:spPr bwMode="auto">
          <a:xfrm>
            <a:off x="11230723" y="6387435"/>
            <a:ext cx="142220" cy="136500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1" name="Freeform 8"/>
          <p:cNvSpPr>
            <a:spLocks/>
          </p:cNvSpPr>
          <p:nvPr/>
        </p:nvSpPr>
        <p:spPr bwMode="auto">
          <a:xfrm>
            <a:off x="11661065" y="6399834"/>
            <a:ext cx="153964" cy="125761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2" name="Oval 21"/>
          <p:cNvSpPr/>
          <p:nvPr userDrawn="1"/>
        </p:nvSpPr>
        <p:spPr>
          <a:xfrm>
            <a:off x="11135232" y="6290644"/>
            <a:ext cx="333200" cy="333200"/>
          </a:xfrm>
          <a:prstGeom prst="ellipse">
            <a:avLst/>
          </a:prstGeom>
          <a:noFill/>
          <a:ln w="635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67"/>
          </a:p>
        </p:txBody>
      </p:sp>
      <p:sp>
        <p:nvSpPr>
          <p:cNvPr id="23" name="Oval 22"/>
          <p:cNvSpPr/>
          <p:nvPr userDrawn="1"/>
        </p:nvSpPr>
        <p:spPr>
          <a:xfrm>
            <a:off x="10699019" y="6290644"/>
            <a:ext cx="333200" cy="333200"/>
          </a:xfrm>
          <a:prstGeom prst="ellipse">
            <a:avLst/>
          </a:prstGeom>
          <a:noFill/>
          <a:ln w="635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67"/>
          </a:p>
        </p:txBody>
      </p:sp>
      <p:sp>
        <p:nvSpPr>
          <p:cNvPr id="24" name="Oval 23"/>
          <p:cNvSpPr/>
          <p:nvPr userDrawn="1"/>
        </p:nvSpPr>
        <p:spPr>
          <a:xfrm rot="10800000">
            <a:off x="11571445" y="6290644"/>
            <a:ext cx="333200" cy="333200"/>
          </a:xfrm>
          <a:prstGeom prst="ellipse">
            <a:avLst/>
          </a:prstGeom>
          <a:noFill/>
          <a:ln w="635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67"/>
          </a:p>
        </p:txBody>
      </p:sp>
      <p:sp>
        <p:nvSpPr>
          <p:cNvPr id="18" name="Rectangle 17">
            <a:hlinkClick r:id="rId68"/>
          </p:cNvPr>
          <p:cNvSpPr/>
          <p:nvPr userDrawn="1"/>
        </p:nvSpPr>
        <p:spPr>
          <a:xfrm>
            <a:off x="10658932" y="6254517"/>
            <a:ext cx="402336" cy="402336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hlinkClick r:id="rId69"/>
          </p:cNvPr>
          <p:cNvSpPr/>
          <p:nvPr userDrawn="1"/>
        </p:nvSpPr>
        <p:spPr>
          <a:xfrm>
            <a:off x="11092939" y="6254517"/>
            <a:ext cx="402336" cy="402336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hlinkClick r:id="rId70"/>
          </p:cNvPr>
          <p:cNvSpPr/>
          <p:nvPr userDrawn="1"/>
        </p:nvSpPr>
        <p:spPr>
          <a:xfrm>
            <a:off x="11536877" y="6254517"/>
            <a:ext cx="402336" cy="402336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ction Button: Forward or Next 26">
            <a:hlinkClick r:id="" action="ppaction://hlinkshowjump?jump=nextslide" highlightClick="1"/>
          </p:cNvPr>
          <p:cNvSpPr/>
          <p:nvPr userDrawn="1"/>
        </p:nvSpPr>
        <p:spPr>
          <a:xfrm>
            <a:off x="1127078" y="6259096"/>
            <a:ext cx="402336" cy="402336"/>
          </a:xfrm>
          <a:prstGeom prst="actionButtonForwardNex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8" name="Action Button: Back or Previous 27">
            <a:hlinkClick r:id="" action="ppaction://hlinkshowjump?jump=previousslide" highlightClick="1"/>
          </p:cNvPr>
          <p:cNvSpPr/>
          <p:nvPr userDrawn="1"/>
        </p:nvSpPr>
        <p:spPr>
          <a:xfrm>
            <a:off x="249959" y="6251322"/>
            <a:ext cx="402336" cy="402336"/>
          </a:xfrm>
          <a:prstGeom prst="actionButtonBackPrevious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61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888" r:id="rId2"/>
    <p:sldLayoutId id="2147483889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650" r:id="rId10"/>
    <p:sldLayoutId id="2147483664" r:id="rId11"/>
    <p:sldLayoutId id="2147483678" r:id="rId12"/>
    <p:sldLayoutId id="2147483679" r:id="rId13"/>
    <p:sldLayoutId id="2147483652" r:id="rId14"/>
    <p:sldLayoutId id="2147483665" r:id="rId15"/>
    <p:sldLayoutId id="2147483653" r:id="rId16"/>
    <p:sldLayoutId id="2147483666" r:id="rId17"/>
    <p:sldLayoutId id="2147483654" r:id="rId18"/>
    <p:sldLayoutId id="2147483667" r:id="rId19"/>
    <p:sldLayoutId id="2147483655" r:id="rId20"/>
    <p:sldLayoutId id="2147483734" r:id="rId21"/>
    <p:sldLayoutId id="2147483735" r:id="rId22"/>
    <p:sldLayoutId id="2147483736" r:id="rId23"/>
    <p:sldLayoutId id="2147483844" r:id="rId24"/>
    <p:sldLayoutId id="2147483845" r:id="rId25"/>
    <p:sldLayoutId id="2147483846" r:id="rId26"/>
    <p:sldLayoutId id="2147483847" r:id="rId27"/>
    <p:sldLayoutId id="2147483848" r:id="rId28"/>
    <p:sldLayoutId id="2147483849" r:id="rId29"/>
    <p:sldLayoutId id="2147483850" r:id="rId30"/>
    <p:sldLayoutId id="2147483851" r:id="rId31"/>
    <p:sldLayoutId id="2147483852" r:id="rId32"/>
    <p:sldLayoutId id="2147483853" r:id="rId33"/>
    <p:sldLayoutId id="2147483854" r:id="rId34"/>
    <p:sldLayoutId id="2147483855" r:id="rId35"/>
    <p:sldLayoutId id="2147483856" r:id="rId36"/>
    <p:sldLayoutId id="2147483857" r:id="rId37"/>
    <p:sldLayoutId id="2147483858" r:id="rId38"/>
    <p:sldLayoutId id="2147483859" r:id="rId39"/>
    <p:sldLayoutId id="2147483860" r:id="rId40"/>
    <p:sldLayoutId id="2147483861" r:id="rId41"/>
    <p:sldLayoutId id="2147483862" r:id="rId42"/>
    <p:sldLayoutId id="2147483863" r:id="rId43"/>
    <p:sldLayoutId id="2147483864" r:id="rId44"/>
    <p:sldLayoutId id="2147483865" r:id="rId45"/>
    <p:sldLayoutId id="2147483866" r:id="rId46"/>
    <p:sldLayoutId id="2147483867" r:id="rId47"/>
    <p:sldLayoutId id="2147483868" r:id="rId48"/>
    <p:sldLayoutId id="2147483869" r:id="rId49"/>
    <p:sldLayoutId id="2147483870" r:id="rId50"/>
    <p:sldLayoutId id="2147483871" r:id="rId51"/>
    <p:sldLayoutId id="2147483872" r:id="rId52"/>
    <p:sldLayoutId id="2147483873" r:id="rId53"/>
    <p:sldLayoutId id="2147483874" r:id="rId54"/>
    <p:sldLayoutId id="2147483875" r:id="rId55"/>
    <p:sldLayoutId id="2147483876" r:id="rId56"/>
    <p:sldLayoutId id="2147483877" r:id="rId57"/>
    <p:sldLayoutId id="2147483878" r:id="rId58"/>
    <p:sldLayoutId id="2147483879" r:id="rId59"/>
    <p:sldLayoutId id="2147483880" r:id="rId60"/>
    <p:sldLayoutId id="2147483881" r:id="rId61"/>
    <p:sldLayoutId id="2147483882" r:id="rId62"/>
    <p:sldLayoutId id="2147483883" r:id="rId63"/>
    <p:sldLayoutId id="2147483884" r:id="rId64"/>
    <p:sldLayoutId id="2147483885" r:id="rId65"/>
    <p:sldLayoutId id="2147483886" r:id="rId66"/>
  </p:sldLayoutIdLst>
  <p:txStyles>
    <p:titleStyle>
      <a:lvl1pPr algn="ctr" defTabSz="1219170" rtl="0" eaLnBrk="1" latinLnBrk="0" hangingPunct="1">
        <a:lnSpc>
          <a:spcPct val="86000"/>
        </a:lnSpc>
        <a:spcBef>
          <a:spcPct val="0"/>
        </a:spcBef>
        <a:buNone/>
        <a:defRPr sz="2800" kern="800" spc="-53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121917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800" spc="-13">
          <a:solidFill>
            <a:schemeClr val="tx1"/>
          </a:solidFill>
          <a:latin typeface="+mn-lt"/>
          <a:ea typeface="+mn-ea"/>
          <a:cs typeface="+mn-cs"/>
        </a:defRPr>
      </a:lvl1pPr>
      <a:lvl2pPr marL="459306" indent="-230712" algn="l" defTabSz="121917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600" kern="800">
          <a:solidFill>
            <a:schemeClr val="tx1"/>
          </a:solidFill>
          <a:latin typeface="+mn-lt"/>
          <a:ea typeface="+mn-ea"/>
          <a:cs typeface="+mn-cs"/>
        </a:defRPr>
      </a:lvl2pPr>
      <a:lvl3pPr marL="687900" indent="-228594" algn="l" defTabSz="121917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600" kern="800">
          <a:solidFill>
            <a:schemeClr val="tx1"/>
          </a:solidFill>
          <a:latin typeface="+mn-lt"/>
          <a:ea typeface="+mn-ea"/>
          <a:cs typeface="+mn-cs"/>
        </a:defRPr>
      </a:lvl3pPr>
      <a:lvl4pPr marL="916494" indent="-228594" algn="l" defTabSz="121917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600" kern="800">
          <a:solidFill>
            <a:schemeClr val="tx1"/>
          </a:solidFill>
          <a:latin typeface="+mn-lt"/>
          <a:ea typeface="+mn-ea"/>
          <a:cs typeface="+mn-cs"/>
        </a:defRPr>
      </a:lvl4pPr>
      <a:lvl5pPr marL="1145089" indent="-228594" algn="l" defTabSz="121917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600" kern="8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219200"/>
            <a:ext cx="10363200" cy="46275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8433938" y="6303346"/>
            <a:ext cx="2161276" cy="307777"/>
          </a:xfrm>
          <a:prstGeom prst="rect">
            <a:avLst/>
          </a:prstGeom>
        </p:spPr>
        <p:txBody>
          <a:bodyPr vert="horz" wrap="square" lIns="121920" tIns="60960" rIns="121920" bIns="6096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200"/>
              <a:t>i9 presentation to Joe Smith</a:t>
            </a: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814963" y="6293087"/>
            <a:ext cx="139424" cy="328295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smtClean="0"/>
              <a:pPr algn="ctr"/>
              <a:t>‹#›</a:t>
            </a:fld>
            <a:endParaRPr lang="en-US" sz="1200"/>
          </a:p>
        </p:txBody>
      </p:sp>
      <p:sp>
        <p:nvSpPr>
          <p:cNvPr id="10" name="Oval 9"/>
          <p:cNvSpPr/>
          <p:nvPr/>
        </p:nvSpPr>
        <p:spPr>
          <a:xfrm>
            <a:off x="718075" y="6290644"/>
            <a:ext cx="333200" cy="333200"/>
          </a:xfrm>
          <a:prstGeom prst="ellipse">
            <a:avLst/>
          </a:prstGeom>
          <a:noFill/>
          <a:ln w="6350" cmpd="sng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6" name="Oval 15"/>
          <p:cNvSpPr/>
          <p:nvPr/>
        </p:nvSpPr>
        <p:spPr>
          <a:xfrm>
            <a:off x="281861" y="6290644"/>
            <a:ext cx="333200" cy="333200"/>
          </a:xfrm>
          <a:prstGeom prst="ellipse">
            <a:avLst/>
          </a:prstGeom>
          <a:noFill/>
          <a:ln w="6350" cmpd="sng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7" name="Rectangle 9"/>
          <p:cNvSpPr/>
          <p:nvPr/>
        </p:nvSpPr>
        <p:spPr>
          <a:xfrm rot="2700000">
            <a:off x="426720" y="6412186"/>
            <a:ext cx="90117" cy="90117"/>
          </a:xfrm>
          <a:custGeom>
            <a:avLst/>
            <a:gdLst>
              <a:gd name="connsiteX0" fmla="*/ 0 w 531091"/>
              <a:gd name="connsiteY0" fmla="*/ 0 h 531091"/>
              <a:gd name="connsiteX1" fmla="*/ 531091 w 531091"/>
              <a:gd name="connsiteY1" fmla="*/ 0 h 531091"/>
              <a:gd name="connsiteX2" fmla="*/ 531091 w 531091"/>
              <a:gd name="connsiteY2" fmla="*/ 531091 h 531091"/>
              <a:gd name="connsiteX3" fmla="*/ 0 w 531091"/>
              <a:gd name="connsiteY3" fmla="*/ 531091 h 531091"/>
              <a:gd name="connsiteX4" fmla="*/ 0 w 531091"/>
              <a:gd name="connsiteY4" fmla="*/ 0 h 531091"/>
              <a:gd name="connsiteX0" fmla="*/ 0 w 531091"/>
              <a:gd name="connsiteY0" fmla="*/ 0 h 531091"/>
              <a:gd name="connsiteX1" fmla="*/ 531091 w 531091"/>
              <a:gd name="connsiteY1" fmla="*/ 531091 h 531091"/>
              <a:gd name="connsiteX2" fmla="*/ 0 w 531091"/>
              <a:gd name="connsiteY2" fmla="*/ 531091 h 531091"/>
              <a:gd name="connsiteX3" fmla="*/ 0 w 531091"/>
              <a:gd name="connsiteY3" fmla="*/ 0 h 531091"/>
              <a:gd name="connsiteX0" fmla="*/ 0 w 531091"/>
              <a:gd name="connsiteY0" fmla="*/ 0 h 531091"/>
              <a:gd name="connsiteX1" fmla="*/ 230909 w 531091"/>
              <a:gd name="connsiteY1" fmla="*/ 224312 h 531091"/>
              <a:gd name="connsiteX2" fmla="*/ 531091 w 531091"/>
              <a:gd name="connsiteY2" fmla="*/ 531091 h 531091"/>
              <a:gd name="connsiteX3" fmla="*/ 0 w 531091"/>
              <a:gd name="connsiteY3" fmla="*/ 531091 h 531091"/>
              <a:gd name="connsiteX4" fmla="*/ 0 w 531091"/>
              <a:gd name="connsiteY4" fmla="*/ 0 h 531091"/>
              <a:gd name="connsiteX0" fmla="*/ 230909 w 531091"/>
              <a:gd name="connsiteY0" fmla="*/ 224312 h 531091"/>
              <a:gd name="connsiteX1" fmla="*/ 531091 w 531091"/>
              <a:gd name="connsiteY1" fmla="*/ 531091 h 531091"/>
              <a:gd name="connsiteX2" fmla="*/ 0 w 531091"/>
              <a:gd name="connsiteY2" fmla="*/ 531091 h 531091"/>
              <a:gd name="connsiteX3" fmla="*/ 0 w 531091"/>
              <a:gd name="connsiteY3" fmla="*/ 0 h 531091"/>
              <a:gd name="connsiteX4" fmla="*/ 322349 w 531091"/>
              <a:gd name="connsiteY4" fmla="*/ 315752 h 531091"/>
              <a:gd name="connsiteX0" fmla="*/ 343065 w 531091"/>
              <a:gd name="connsiteY0" fmla="*/ 89066 h 531091"/>
              <a:gd name="connsiteX1" fmla="*/ 531091 w 531091"/>
              <a:gd name="connsiteY1" fmla="*/ 531091 h 531091"/>
              <a:gd name="connsiteX2" fmla="*/ 0 w 531091"/>
              <a:gd name="connsiteY2" fmla="*/ 531091 h 531091"/>
              <a:gd name="connsiteX3" fmla="*/ 0 w 531091"/>
              <a:gd name="connsiteY3" fmla="*/ 0 h 531091"/>
              <a:gd name="connsiteX4" fmla="*/ 322349 w 531091"/>
              <a:gd name="connsiteY4" fmla="*/ 315752 h 531091"/>
              <a:gd name="connsiteX0" fmla="*/ 531091 w 531091"/>
              <a:gd name="connsiteY0" fmla="*/ 531091 h 531091"/>
              <a:gd name="connsiteX1" fmla="*/ 0 w 531091"/>
              <a:gd name="connsiteY1" fmla="*/ 531091 h 531091"/>
              <a:gd name="connsiteX2" fmla="*/ 0 w 531091"/>
              <a:gd name="connsiteY2" fmla="*/ 0 h 531091"/>
              <a:gd name="connsiteX3" fmla="*/ 322349 w 531091"/>
              <a:gd name="connsiteY3" fmla="*/ 315752 h 531091"/>
              <a:gd name="connsiteX0" fmla="*/ 531091 w 531091"/>
              <a:gd name="connsiteY0" fmla="*/ 531091 h 531091"/>
              <a:gd name="connsiteX1" fmla="*/ 0 w 531091"/>
              <a:gd name="connsiteY1" fmla="*/ 531091 h 531091"/>
              <a:gd name="connsiteX2" fmla="*/ 0 w 531091"/>
              <a:gd name="connsiteY2" fmla="*/ 0 h 531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1091" h="531091">
                <a:moveTo>
                  <a:pt x="531091" y="531091"/>
                </a:moveTo>
                <a:lnTo>
                  <a:pt x="0" y="531091"/>
                </a:lnTo>
                <a:lnTo>
                  <a:pt x="0" y="0"/>
                </a:lnTo>
              </a:path>
            </a:pathLst>
          </a:custGeom>
          <a:noFill/>
          <a:ln w="6350" cmpd="sng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4" name="Oval 13"/>
          <p:cNvSpPr/>
          <p:nvPr/>
        </p:nvSpPr>
        <p:spPr>
          <a:xfrm rot="10800000">
            <a:off x="1154288" y="6290644"/>
            <a:ext cx="333200" cy="333200"/>
          </a:xfrm>
          <a:prstGeom prst="ellipse">
            <a:avLst/>
          </a:prstGeom>
          <a:noFill/>
          <a:ln w="6350" cmpd="sng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5" name="Rectangle 9"/>
          <p:cNvSpPr/>
          <p:nvPr/>
        </p:nvSpPr>
        <p:spPr>
          <a:xfrm rot="13500000">
            <a:off x="1252512" y="6412186"/>
            <a:ext cx="90117" cy="90117"/>
          </a:xfrm>
          <a:custGeom>
            <a:avLst/>
            <a:gdLst>
              <a:gd name="connsiteX0" fmla="*/ 0 w 531091"/>
              <a:gd name="connsiteY0" fmla="*/ 0 h 531091"/>
              <a:gd name="connsiteX1" fmla="*/ 531091 w 531091"/>
              <a:gd name="connsiteY1" fmla="*/ 0 h 531091"/>
              <a:gd name="connsiteX2" fmla="*/ 531091 w 531091"/>
              <a:gd name="connsiteY2" fmla="*/ 531091 h 531091"/>
              <a:gd name="connsiteX3" fmla="*/ 0 w 531091"/>
              <a:gd name="connsiteY3" fmla="*/ 531091 h 531091"/>
              <a:gd name="connsiteX4" fmla="*/ 0 w 531091"/>
              <a:gd name="connsiteY4" fmla="*/ 0 h 531091"/>
              <a:gd name="connsiteX0" fmla="*/ 0 w 531091"/>
              <a:gd name="connsiteY0" fmla="*/ 0 h 531091"/>
              <a:gd name="connsiteX1" fmla="*/ 531091 w 531091"/>
              <a:gd name="connsiteY1" fmla="*/ 531091 h 531091"/>
              <a:gd name="connsiteX2" fmla="*/ 0 w 531091"/>
              <a:gd name="connsiteY2" fmla="*/ 531091 h 531091"/>
              <a:gd name="connsiteX3" fmla="*/ 0 w 531091"/>
              <a:gd name="connsiteY3" fmla="*/ 0 h 531091"/>
              <a:gd name="connsiteX0" fmla="*/ 0 w 531091"/>
              <a:gd name="connsiteY0" fmla="*/ 0 h 531091"/>
              <a:gd name="connsiteX1" fmla="*/ 230909 w 531091"/>
              <a:gd name="connsiteY1" fmla="*/ 224312 h 531091"/>
              <a:gd name="connsiteX2" fmla="*/ 531091 w 531091"/>
              <a:gd name="connsiteY2" fmla="*/ 531091 h 531091"/>
              <a:gd name="connsiteX3" fmla="*/ 0 w 531091"/>
              <a:gd name="connsiteY3" fmla="*/ 531091 h 531091"/>
              <a:gd name="connsiteX4" fmla="*/ 0 w 531091"/>
              <a:gd name="connsiteY4" fmla="*/ 0 h 531091"/>
              <a:gd name="connsiteX0" fmla="*/ 230909 w 531091"/>
              <a:gd name="connsiteY0" fmla="*/ 224312 h 531091"/>
              <a:gd name="connsiteX1" fmla="*/ 531091 w 531091"/>
              <a:gd name="connsiteY1" fmla="*/ 531091 h 531091"/>
              <a:gd name="connsiteX2" fmla="*/ 0 w 531091"/>
              <a:gd name="connsiteY2" fmla="*/ 531091 h 531091"/>
              <a:gd name="connsiteX3" fmla="*/ 0 w 531091"/>
              <a:gd name="connsiteY3" fmla="*/ 0 h 531091"/>
              <a:gd name="connsiteX4" fmla="*/ 322349 w 531091"/>
              <a:gd name="connsiteY4" fmla="*/ 315752 h 531091"/>
              <a:gd name="connsiteX0" fmla="*/ 343065 w 531091"/>
              <a:gd name="connsiteY0" fmla="*/ 89066 h 531091"/>
              <a:gd name="connsiteX1" fmla="*/ 531091 w 531091"/>
              <a:gd name="connsiteY1" fmla="*/ 531091 h 531091"/>
              <a:gd name="connsiteX2" fmla="*/ 0 w 531091"/>
              <a:gd name="connsiteY2" fmla="*/ 531091 h 531091"/>
              <a:gd name="connsiteX3" fmla="*/ 0 w 531091"/>
              <a:gd name="connsiteY3" fmla="*/ 0 h 531091"/>
              <a:gd name="connsiteX4" fmla="*/ 322349 w 531091"/>
              <a:gd name="connsiteY4" fmla="*/ 315752 h 531091"/>
              <a:gd name="connsiteX0" fmla="*/ 531091 w 531091"/>
              <a:gd name="connsiteY0" fmla="*/ 531091 h 531091"/>
              <a:gd name="connsiteX1" fmla="*/ 0 w 531091"/>
              <a:gd name="connsiteY1" fmla="*/ 531091 h 531091"/>
              <a:gd name="connsiteX2" fmla="*/ 0 w 531091"/>
              <a:gd name="connsiteY2" fmla="*/ 0 h 531091"/>
              <a:gd name="connsiteX3" fmla="*/ 322349 w 531091"/>
              <a:gd name="connsiteY3" fmla="*/ 315752 h 531091"/>
              <a:gd name="connsiteX0" fmla="*/ 531091 w 531091"/>
              <a:gd name="connsiteY0" fmla="*/ 531091 h 531091"/>
              <a:gd name="connsiteX1" fmla="*/ 0 w 531091"/>
              <a:gd name="connsiteY1" fmla="*/ 531091 h 531091"/>
              <a:gd name="connsiteX2" fmla="*/ 0 w 531091"/>
              <a:gd name="connsiteY2" fmla="*/ 0 h 531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1091" h="531091">
                <a:moveTo>
                  <a:pt x="531091" y="531091"/>
                </a:moveTo>
                <a:lnTo>
                  <a:pt x="0" y="531091"/>
                </a:lnTo>
                <a:lnTo>
                  <a:pt x="0" y="0"/>
                </a:lnTo>
              </a:path>
            </a:pathLst>
          </a:custGeom>
          <a:noFill/>
          <a:ln w="6350" cmpd="sng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9" name="Freeform 6"/>
          <p:cNvSpPr>
            <a:spLocks/>
          </p:cNvSpPr>
          <p:nvPr/>
        </p:nvSpPr>
        <p:spPr bwMode="auto">
          <a:xfrm>
            <a:off x="10833553" y="6390365"/>
            <a:ext cx="64135" cy="137803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>
              <a:alpha val="54902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0" name="Freeform 7"/>
          <p:cNvSpPr>
            <a:spLocks noEditPoints="1"/>
          </p:cNvSpPr>
          <p:nvPr/>
        </p:nvSpPr>
        <p:spPr bwMode="auto">
          <a:xfrm>
            <a:off x="11230723" y="6387435"/>
            <a:ext cx="142220" cy="136500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>
              <a:alpha val="54902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1" name="Freeform 8"/>
          <p:cNvSpPr>
            <a:spLocks/>
          </p:cNvSpPr>
          <p:nvPr/>
        </p:nvSpPr>
        <p:spPr bwMode="auto">
          <a:xfrm>
            <a:off x="11661065" y="6399834"/>
            <a:ext cx="153964" cy="125761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>
              <a:alpha val="54902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2" name="Oval 21"/>
          <p:cNvSpPr/>
          <p:nvPr userDrawn="1"/>
        </p:nvSpPr>
        <p:spPr>
          <a:xfrm>
            <a:off x="11135232" y="6290644"/>
            <a:ext cx="333200" cy="333200"/>
          </a:xfrm>
          <a:prstGeom prst="ellipse">
            <a:avLst/>
          </a:prstGeom>
          <a:noFill/>
          <a:ln w="6350" cmpd="sng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67"/>
          </a:p>
        </p:txBody>
      </p:sp>
      <p:sp>
        <p:nvSpPr>
          <p:cNvPr id="23" name="Oval 22"/>
          <p:cNvSpPr/>
          <p:nvPr userDrawn="1"/>
        </p:nvSpPr>
        <p:spPr>
          <a:xfrm>
            <a:off x="10699019" y="6290644"/>
            <a:ext cx="333200" cy="333200"/>
          </a:xfrm>
          <a:prstGeom prst="ellipse">
            <a:avLst/>
          </a:prstGeom>
          <a:noFill/>
          <a:ln w="6350" cmpd="sng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67"/>
          </a:p>
        </p:txBody>
      </p:sp>
      <p:sp>
        <p:nvSpPr>
          <p:cNvPr id="24" name="Oval 23"/>
          <p:cNvSpPr/>
          <p:nvPr userDrawn="1"/>
        </p:nvSpPr>
        <p:spPr>
          <a:xfrm rot="10800000">
            <a:off x="11571445" y="6290644"/>
            <a:ext cx="333200" cy="333200"/>
          </a:xfrm>
          <a:prstGeom prst="ellipse">
            <a:avLst/>
          </a:prstGeom>
          <a:noFill/>
          <a:ln w="6350" cmpd="sng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67"/>
          </a:p>
        </p:txBody>
      </p:sp>
      <p:sp>
        <p:nvSpPr>
          <p:cNvPr id="18" name="Rectangle 17">
            <a:hlinkClick r:id="rId60"/>
          </p:cNvPr>
          <p:cNvSpPr/>
          <p:nvPr userDrawn="1"/>
        </p:nvSpPr>
        <p:spPr>
          <a:xfrm>
            <a:off x="10658932" y="6254517"/>
            <a:ext cx="402336" cy="402336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hlinkClick r:id="rId61"/>
          </p:cNvPr>
          <p:cNvSpPr/>
          <p:nvPr userDrawn="1"/>
        </p:nvSpPr>
        <p:spPr>
          <a:xfrm>
            <a:off x="11092939" y="6254517"/>
            <a:ext cx="402336" cy="402336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hlinkClick r:id="rId62"/>
          </p:cNvPr>
          <p:cNvSpPr/>
          <p:nvPr userDrawn="1"/>
        </p:nvSpPr>
        <p:spPr>
          <a:xfrm>
            <a:off x="11536877" y="6254517"/>
            <a:ext cx="402336" cy="402336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ction Button: Forward or Next 26">
            <a:hlinkClick r:id="" action="ppaction://hlinkshowjump?jump=nextslide" highlightClick="1"/>
          </p:cNvPr>
          <p:cNvSpPr/>
          <p:nvPr userDrawn="1"/>
        </p:nvSpPr>
        <p:spPr>
          <a:xfrm>
            <a:off x="1127078" y="6259096"/>
            <a:ext cx="402336" cy="402336"/>
          </a:xfrm>
          <a:prstGeom prst="actionButtonForwardNex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8" name="Action Button: Back or Previous 27">
            <a:hlinkClick r:id="" action="ppaction://hlinkshowjump?jump=previousslide" highlightClick="1"/>
          </p:cNvPr>
          <p:cNvSpPr/>
          <p:nvPr userDrawn="1"/>
        </p:nvSpPr>
        <p:spPr>
          <a:xfrm>
            <a:off x="249959" y="6251322"/>
            <a:ext cx="402336" cy="402336"/>
          </a:xfrm>
          <a:prstGeom prst="actionButtonBackPrevious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911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752" r:id="rId13"/>
    <p:sldLayoutId id="2147483753" r:id="rId14"/>
    <p:sldLayoutId id="2147483754" r:id="rId15"/>
    <p:sldLayoutId id="2147483755" r:id="rId16"/>
    <p:sldLayoutId id="2147483774" r:id="rId17"/>
    <p:sldLayoutId id="2147483756" r:id="rId18"/>
    <p:sldLayoutId id="2147483775" r:id="rId19"/>
    <p:sldLayoutId id="2147483757" r:id="rId20"/>
    <p:sldLayoutId id="2147483776" r:id="rId21"/>
    <p:sldLayoutId id="2147483758" r:id="rId22"/>
    <p:sldLayoutId id="2147483777" r:id="rId23"/>
    <p:sldLayoutId id="2147483759" r:id="rId24"/>
    <p:sldLayoutId id="2147483778" r:id="rId25"/>
    <p:sldLayoutId id="2147483760" r:id="rId26"/>
    <p:sldLayoutId id="2147483779" r:id="rId27"/>
    <p:sldLayoutId id="2147483761" r:id="rId28"/>
    <p:sldLayoutId id="2147483780" r:id="rId29"/>
    <p:sldLayoutId id="2147483762" r:id="rId30"/>
    <p:sldLayoutId id="2147483781" r:id="rId31"/>
    <p:sldLayoutId id="2147483763" r:id="rId32"/>
    <p:sldLayoutId id="2147483782" r:id="rId33"/>
    <p:sldLayoutId id="2147483764" r:id="rId34"/>
    <p:sldLayoutId id="2147483783" r:id="rId35"/>
    <p:sldLayoutId id="2147483765" r:id="rId36"/>
    <p:sldLayoutId id="2147483784" r:id="rId37"/>
    <p:sldLayoutId id="2147483785" r:id="rId38"/>
    <p:sldLayoutId id="2147483766" r:id="rId39"/>
    <p:sldLayoutId id="2147483768" r:id="rId40"/>
    <p:sldLayoutId id="2147483786" r:id="rId41"/>
    <p:sldLayoutId id="2147483788" r:id="rId42"/>
    <p:sldLayoutId id="2147483769" r:id="rId43"/>
    <p:sldLayoutId id="2147483767" r:id="rId44"/>
    <p:sldLayoutId id="2147483787" r:id="rId45"/>
    <p:sldLayoutId id="2147483771" r:id="rId46"/>
    <p:sldLayoutId id="2147483773" r:id="rId47"/>
    <p:sldLayoutId id="2147483792" r:id="rId48"/>
    <p:sldLayoutId id="2147483793" r:id="rId49"/>
    <p:sldLayoutId id="2147483794" r:id="rId50"/>
    <p:sldLayoutId id="2147483795" r:id="rId51"/>
    <p:sldLayoutId id="2147483796" r:id="rId52"/>
    <p:sldLayoutId id="2147483797" r:id="rId53"/>
    <p:sldLayoutId id="2147483798" r:id="rId54"/>
    <p:sldLayoutId id="2147483842" r:id="rId55"/>
    <p:sldLayoutId id="2147483841" r:id="rId56"/>
    <p:sldLayoutId id="2147483843" r:id="rId57"/>
    <p:sldLayoutId id="2147483789" r:id="rId58"/>
  </p:sldLayoutIdLst>
  <p:txStyles>
    <p:titleStyle>
      <a:lvl1pPr algn="ctr" defTabSz="1219170" rtl="0" eaLnBrk="1" latinLnBrk="0" hangingPunct="1">
        <a:lnSpc>
          <a:spcPct val="86000"/>
        </a:lnSpc>
        <a:spcBef>
          <a:spcPct val="0"/>
        </a:spcBef>
        <a:buNone/>
        <a:defRPr sz="2800" kern="800" spc="-53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121917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800" spc="-13">
          <a:solidFill>
            <a:schemeClr val="tx1"/>
          </a:solidFill>
          <a:latin typeface="+mn-lt"/>
          <a:ea typeface="+mn-ea"/>
          <a:cs typeface="+mn-cs"/>
        </a:defRPr>
      </a:lvl1pPr>
      <a:lvl2pPr marL="459306" indent="-230712" algn="l" defTabSz="121917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600" kern="800">
          <a:solidFill>
            <a:schemeClr val="tx1"/>
          </a:solidFill>
          <a:latin typeface="+mn-lt"/>
          <a:ea typeface="+mn-ea"/>
          <a:cs typeface="+mn-cs"/>
        </a:defRPr>
      </a:lvl2pPr>
      <a:lvl3pPr marL="687900" indent="-228594" algn="l" defTabSz="121917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600" kern="800">
          <a:solidFill>
            <a:schemeClr val="tx1"/>
          </a:solidFill>
          <a:latin typeface="+mn-lt"/>
          <a:ea typeface="+mn-ea"/>
          <a:cs typeface="+mn-cs"/>
        </a:defRPr>
      </a:lvl3pPr>
      <a:lvl4pPr marL="916494" indent="-228594" algn="l" defTabSz="121917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600" kern="800">
          <a:solidFill>
            <a:schemeClr val="tx1"/>
          </a:solidFill>
          <a:latin typeface="+mn-lt"/>
          <a:ea typeface="+mn-ea"/>
          <a:cs typeface="+mn-cs"/>
        </a:defRPr>
      </a:lvl4pPr>
      <a:lvl5pPr marL="1145089" indent="-228594" algn="l" defTabSz="121917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600" kern="8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89.xml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89.xml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8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8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11AC23-8A26-DF98-F7AA-2349442E1C71}"/>
              </a:ext>
            </a:extLst>
          </p:cNvPr>
          <p:cNvSpPr txBox="1"/>
          <p:nvPr/>
        </p:nvSpPr>
        <p:spPr>
          <a:xfrm>
            <a:off x="1310355" y="964962"/>
            <a:ext cx="6096000" cy="20544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50">
                <a:solidFill>
                  <a:schemeClr val="bg1"/>
                </a:solidFill>
                <a:latin typeface="Arial"/>
                <a:ea typeface="+mn-lt"/>
                <a:cs typeface="Arial"/>
              </a:rPr>
              <a:t>Does skill attribution amplify the near-miss effect on task persistence?</a:t>
            </a:r>
            <a:endParaRPr lang="en-US"/>
          </a:p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823C7D-A4C2-80BE-1857-FE9BE346D32C}"/>
              </a:ext>
            </a:extLst>
          </p:cNvPr>
          <p:cNvSpPr txBox="1"/>
          <p:nvPr/>
        </p:nvSpPr>
        <p:spPr>
          <a:xfrm>
            <a:off x="1310355" y="6327449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Arial"/>
                <a:ea typeface="Arial"/>
                <a:cs typeface="Arial"/>
              </a:rPr>
              <a:t>Corneel Moons, Tizian Schenk, Samuel Fraley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5697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7"/>
          <p:cNvSpPr>
            <a:spLocks noChangeArrowheads="1"/>
          </p:cNvSpPr>
          <p:nvPr/>
        </p:nvSpPr>
        <p:spPr bwMode="auto">
          <a:xfrm>
            <a:off x="7873753" y="4083050"/>
            <a:ext cx="6426200" cy="7641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rgbClr val="FFFFFF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4952753" y="3192985"/>
            <a:ext cx="5842000" cy="2909089"/>
            <a:chOff x="3251200" y="3199611"/>
            <a:chExt cx="5842000" cy="2909089"/>
          </a:xfrm>
        </p:grpSpPr>
        <p:sp>
          <p:nvSpPr>
            <p:cNvPr id="28" name="Freeform 12"/>
            <p:cNvSpPr>
              <a:spLocks/>
            </p:cNvSpPr>
            <p:nvPr/>
          </p:nvSpPr>
          <p:spPr bwMode="auto">
            <a:xfrm>
              <a:off x="6172200" y="4083049"/>
              <a:ext cx="2921000" cy="2025651"/>
            </a:xfrm>
            <a:custGeom>
              <a:avLst/>
              <a:gdLst>
                <a:gd name="T0" fmla="*/ 1380 w 1380"/>
                <a:gd name="T1" fmla="*/ 361 h 957"/>
                <a:gd name="T2" fmla="*/ 1035 w 1380"/>
                <a:gd name="T3" fmla="*/ 0 h 957"/>
                <a:gd name="T4" fmla="*/ 0 w 1380"/>
                <a:gd name="T5" fmla="*/ 447 h 957"/>
                <a:gd name="T6" fmla="*/ 0 w 1380"/>
                <a:gd name="T7" fmla="*/ 957 h 957"/>
                <a:gd name="T8" fmla="*/ 1380 w 1380"/>
                <a:gd name="T9" fmla="*/ 361 h 9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0" h="957">
                  <a:moveTo>
                    <a:pt x="1380" y="361"/>
                  </a:moveTo>
                  <a:lnTo>
                    <a:pt x="1035" y="0"/>
                  </a:lnTo>
                  <a:lnTo>
                    <a:pt x="0" y="447"/>
                  </a:lnTo>
                  <a:lnTo>
                    <a:pt x="0" y="957"/>
                  </a:lnTo>
                  <a:lnTo>
                    <a:pt x="1380" y="36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>
                <a:solidFill>
                  <a:srgbClr val="FFFFFF"/>
                </a:solidFill>
              </a:endParaRPr>
            </a:p>
          </p:txBody>
        </p:sp>
        <p:sp>
          <p:nvSpPr>
            <p:cNvPr id="32" name="Freeform 16"/>
            <p:cNvSpPr>
              <a:spLocks/>
            </p:cNvSpPr>
            <p:nvPr/>
          </p:nvSpPr>
          <p:spPr bwMode="auto">
            <a:xfrm>
              <a:off x="3251200" y="4083049"/>
              <a:ext cx="2921000" cy="2025651"/>
            </a:xfrm>
            <a:custGeom>
              <a:avLst/>
              <a:gdLst>
                <a:gd name="T0" fmla="*/ 0 w 1380"/>
                <a:gd name="T1" fmla="*/ 361 h 957"/>
                <a:gd name="T2" fmla="*/ 345 w 1380"/>
                <a:gd name="T3" fmla="*/ 0 h 957"/>
                <a:gd name="T4" fmla="*/ 1380 w 1380"/>
                <a:gd name="T5" fmla="*/ 447 h 957"/>
                <a:gd name="T6" fmla="*/ 1380 w 1380"/>
                <a:gd name="T7" fmla="*/ 957 h 957"/>
                <a:gd name="T8" fmla="*/ 0 w 1380"/>
                <a:gd name="T9" fmla="*/ 361 h 9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0" h="957">
                  <a:moveTo>
                    <a:pt x="0" y="361"/>
                  </a:moveTo>
                  <a:lnTo>
                    <a:pt x="345" y="0"/>
                  </a:lnTo>
                  <a:lnTo>
                    <a:pt x="1380" y="447"/>
                  </a:lnTo>
                  <a:lnTo>
                    <a:pt x="1380" y="957"/>
                  </a:lnTo>
                  <a:lnTo>
                    <a:pt x="0" y="36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>
                <a:solidFill>
                  <a:srgbClr val="FFFFFF"/>
                </a:solidFill>
              </a:endParaRPr>
            </a:p>
          </p:txBody>
        </p:sp>
        <p:sp>
          <p:nvSpPr>
            <p:cNvPr id="55" name="Parallelogram 3"/>
            <p:cNvSpPr/>
            <p:nvPr/>
          </p:nvSpPr>
          <p:spPr>
            <a:xfrm>
              <a:off x="3981451" y="3199611"/>
              <a:ext cx="4381498" cy="1836216"/>
            </a:xfrm>
            <a:custGeom>
              <a:avLst/>
              <a:gdLst>
                <a:gd name="connsiteX0" fmla="*/ 0 w 3636000"/>
                <a:gd name="connsiteY0" fmla="*/ 2338917 h 2338917"/>
                <a:gd name="connsiteX1" fmla="*/ 894332 w 3636000"/>
                <a:gd name="connsiteY1" fmla="*/ 0 h 2338917"/>
                <a:gd name="connsiteX2" fmla="*/ 3636000 w 3636000"/>
                <a:gd name="connsiteY2" fmla="*/ 0 h 2338917"/>
                <a:gd name="connsiteX3" fmla="*/ 2741668 w 3636000"/>
                <a:gd name="connsiteY3" fmla="*/ 2338917 h 2338917"/>
                <a:gd name="connsiteX4" fmla="*/ 0 w 3636000"/>
                <a:gd name="connsiteY4" fmla="*/ 2338917 h 2338917"/>
                <a:gd name="connsiteX0" fmla="*/ 0 w 3636000"/>
                <a:gd name="connsiteY0" fmla="*/ 2338917 h 3152517"/>
                <a:gd name="connsiteX1" fmla="*/ 894332 w 3636000"/>
                <a:gd name="connsiteY1" fmla="*/ 0 h 3152517"/>
                <a:gd name="connsiteX2" fmla="*/ 3636000 w 3636000"/>
                <a:gd name="connsiteY2" fmla="*/ 0 h 3152517"/>
                <a:gd name="connsiteX3" fmla="*/ 1949668 w 3636000"/>
                <a:gd name="connsiteY3" fmla="*/ 3152517 h 3152517"/>
                <a:gd name="connsiteX4" fmla="*/ 0 w 3636000"/>
                <a:gd name="connsiteY4" fmla="*/ 2338917 h 3152517"/>
                <a:gd name="connsiteX0" fmla="*/ 0 w 3895200"/>
                <a:gd name="connsiteY0" fmla="*/ 2338917 h 3152517"/>
                <a:gd name="connsiteX1" fmla="*/ 894332 w 3895200"/>
                <a:gd name="connsiteY1" fmla="*/ 0 h 3152517"/>
                <a:gd name="connsiteX2" fmla="*/ 3895200 w 3895200"/>
                <a:gd name="connsiteY2" fmla="*/ 2332800 h 3152517"/>
                <a:gd name="connsiteX3" fmla="*/ 1949668 w 3895200"/>
                <a:gd name="connsiteY3" fmla="*/ 3152517 h 3152517"/>
                <a:gd name="connsiteX4" fmla="*/ 0 w 3895200"/>
                <a:gd name="connsiteY4" fmla="*/ 2338917 h 3152517"/>
                <a:gd name="connsiteX0" fmla="*/ 0 w 3895200"/>
                <a:gd name="connsiteY0" fmla="*/ 6117 h 819717"/>
                <a:gd name="connsiteX1" fmla="*/ 1909532 w 3895200"/>
                <a:gd name="connsiteY1" fmla="*/ 64800 h 819717"/>
                <a:gd name="connsiteX2" fmla="*/ 3895200 w 3895200"/>
                <a:gd name="connsiteY2" fmla="*/ 0 h 819717"/>
                <a:gd name="connsiteX3" fmla="*/ 1949668 w 3895200"/>
                <a:gd name="connsiteY3" fmla="*/ 819717 h 819717"/>
                <a:gd name="connsiteX4" fmla="*/ 0 w 3895200"/>
                <a:gd name="connsiteY4" fmla="*/ 6117 h 819717"/>
                <a:gd name="connsiteX0" fmla="*/ 0 w 3895200"/>
                <a:gd name="connsiteY0" fmla="*/ 430917 h 1244517"/>
                <a:gd name="connsiteX1" fmla="*/ 1923932 w 3895200"/>
                <a:gd name="connsiteY1" fmla="*/ 0 h 1244517"/>
                <a:gd name="connsiteX2" fmla="*/ 3895200 w 3895200"/>
                <a:gd name="connsiteY2" fmla="*/ 424800 h 1244517"/>
                <a:gd name="connsiteX3" fmla="*/ 1949668 w 3895200"/>
                <a:gd name="connsiteY3" fmla="*/ 1244517 h 1244517"/>
                <a:gd name="connsiteX4" fmla="*/ 0 w 3895200"/>
                <a:gd name="connsiteY4" fmla="*/ 430917 h 1244517"/>
                <a:gd name="connsiteX0" fmla="*/ 0 w 3895200"/>
                <a:gd name="connsiteY0" fmla="*/ 690117 h 1503717"/>
                <a:gd name="connsiteX1" fmla="*/ 1923932 w 3895200"/>
                <a:gd name="connsiteY1" fmla="*/ 0 h 1503717"/>
                <a:gd name="connsiteX2" fmla="*/ 3895200 w 3895200"/>
                <a:gd name="connsiteY2" fmla="*/ 684000 h 1503717"/>
                <a:gd name="connsiteX3" fmla="*/ 1949668 w 3895200"/>
                <a:gd name="connsiteY3" fmla="*/ 1503717 h 1503717"/>
                <a:gd name="connsiteX4" fmla="*/ 0 w 3895200"/>
                <a:gd name="connsiteY4" fmla="*/ 690117 h 1503717"/>
                <a:gd name="connsiteX0" fmla="*/ 0 w 3895200"/>
                <a:gd name="connsiteY0" fmla="*/ 920517 h 1734117"/>
                <a:gd name="connsiteX1" fmla="*/ 1923932 w 3895200"/>
                <a:gd name="connsiteY1" fmla="*/ 0 h 1734117"/>
                <a:gd name="connsiteX2" fmla="*/ 3895200 w 3895200"/>
                <a:gd name="connsiteY2" fmla="*/ 914400 h 1734117"/>
                <a:gd name="connsiteX3" fmla="*/ 1949668 w 3895200"/>
                <a:gd name="connsiteY3" fmla="*/ 1734117 h 1734117"/>
                <a:gd name="connsiteX4" fmla="*/ 0 w 3895200"/>
                <a:gd name="connsiteY4" fmla="*/ 920517 h 1734117"/>
                <a:gd name="connsiteX0" fmla="*/ 0 w 3895200"/>
                <a:gd name="connsiteY0" fmla="*/ 920517 h 1734117"/>
                <a:gd name="connsiteX1" fmla="*/ 1923932 w 3895200"/>
                <a:gd name="connsiteY1" fmla="*/ 0 h 1734117"/>
                <a:gd name="connsiteX2" fmla="*/ 3895200 w 3895200"/>
                <a:gd name="connsiteY2" fmla="*/ 914400 h 1734117"/>
                <a:gd name="connsiteX3" fmla="*/ 1922203 w 3895200"/>
                <a:gd name="connsiteY3" fmla="*/ 1734117 h 1734117"/>
                <a:gd name="connsiteX4" fmla="*/ 0 w 3895200"/>
                <a:gd name="connsiteY4" fmla="*/ 920517 h 1734117"/>
                <a:gd name="connsiteX0" fmla="*/ 0 w 3895200"/>
                <a:gd name="connsiteY0" fmla="*/ 920517 h 1734117"/>
                <a:gd name="connsiteX1" fmla="*/ 1923932 w 3895200"/>
                <a:gd name="connsiteY1" fmla="*/ 0 h 1734117"/>
                <a:gd name="connsiteX2" fmla="*/ 3895200 w 3895200"/>
                <a:gd name="connsiteY2" fmla="*/ 914400 h 1734117"/>
                <a:gd name="connsiteX3" fmla="*/ 1922203 w 3895200"/>
                <a:gd name="connsiteY3" fmla="*/ 1734117 h 1734117"/>
                <a:gd name="connsiteX4" fmla="*/ 0 w 3895200"/>
                <a:gd name="connsiteY4" fmla="*/ 920517 h 1734117"/>
                <a:gd name="connsiteX0" fmla="*/ 0 w 3895200"/>
                <a:gd name="connsiteY0" fmla="*/ 920517 h 1716346"/>
                <a:gd name="connsiteX1" fmla="*/ 1923932 w 3895200"/>
                <a:gd name="connsiteY1" fmla="*/ 0 h 1716346"/>
                <a:gd name="connsiteX2" fmla="*/ 3895200 w 3895200"/>
                <a:gd name="connsiteY2" fmla="*/ 914400 h 1716346"/>
                <a:gd name="connsiteX3" fmla="*/ 1973900 w 3895200"/>
                <a:gd name="connsiteY3" fmla="*/ 1716346 h 1716346"/>
                <a:gd name="connsiteX4" fmla="*/ 0 w 3895200"/>
                <a:gd name="connsiteY4" fmla="*/ 920517 h 1716346"/>
                <a:gd name="connsiteX0" fmla="*/ 0 w 3895200"/>
                <a:gd name="connsiteY0" fmla="*/ 920517 h 1730886"/>
                <a:gd name="connsiteX1" fmla="*/ 1923932 w 3895200"/>
                <a:gd name="connsiteY1" fmla="*/ 0 h 1730886"/>
                <a:gd name="connsiteX2" fmla="*/ 3895200 w 3895200"/>
                <a:gd name="connsiteY2" fmla="*/ 914400 h 1730886"/>
                <a:gd name="connsiteX3" fmla="*/ 1925433 w 3895200"/>
                <a:gd name="connsiteY3" fmla="*/ 1730886 h 1730886"/>
                <a:gd name="connsiteX4" fmla="*/ 0 w 3895200"/>
                <a:gd name="connsiteY4" fmla="*/ 920517 h 1730886"/>
                <a:gd name="connsiteX0" fmla="*/ 0 w 3895200"/>
                <a:gd name="connsiteY0" fmla="*/ 782404 h 1592773"/>
                <a:gd name="connsiteX1" fmla="*/ 1923932 w 3895200"/>
                <a:gd name="connsiteY1" fmla="*/ 0 h 1592773"/>
                <a:gd name="connsiteX2" fmla="*/ 3895200 w 3895200"/>
                <a:gd name="connsiteY2" fmla="*/ 776287 h 1592773"/>
                <a:gd name="connsiteX3" fmla="*/ 1925433 w 3895200"/>
                <a:gd name="connsiteY3" fmla="*/ 1592773 h 1592773"/>
                <a:gd name="connsiteX4" fmla="*/ 0 w 3895200"/>
                <a:gd name="connsiteY4" fmla="*/ 782404 h 1592773"/>
                <a:gd name="connsiteX0" fmla="*/ 0 w 3886962"/>
                <a:gd name="connsiteY0" fmla="*/ 759338 h 1592773"/>
                <a:gd name="connsiteX1" fmla="*/ 1915694 w 3886962"/>
                <a:gd name="connsiteY1" fmla="*/ 0 h 1592773"/>
                <a:gd name="connsiteX2" fmla="*/ 3886962 w 3886962"/>
                <a:gd name="connsiteY2" fmla="*/ 776287 h 1592773"/>
                <a:gd name="connsiteX3" fmla="*/ 1917195 w 3886962"/>
                <a:gd name="connsiteY3" fmla="*/ 1592773 h 1592773"/>
                <a:gd name="connsiteX4" fmla="*/ 0 w 3886962"/>
                <a:gd name="connsiteY4" fmla="*/ 759338 h 1592773"/>
                <a:gd name="connsiteX0" fmla="*/ 0 w 3901791"/>
                <a:gd name="connsiteY0" fmla="*/ 760986 h 1592773"/>
                <a:gd name="connsiteX1" fmla="*/ 1930523 w 3901791"/>
                <a:gd name="connsiteY1" fmla="*/ 0 h 1592773"/>
                <a:gd name="connsiteX2" fmla="*/ 3901791 w 3901791"/>
                <a:gd name="connsiteY2" fmla="*/ 776287 h 1592773"/>
                <a:gd name="connsiteX3" fmla="*/ 1932024 w 3901791"/>
                <a:gd name="connsiteY3" fmla="*/ 1592773 h 1592773"/>
                <a:gd name="connsiteX4" fmla="*/ 0 w 3901791"/>
                <a:gd name="connsiteY4" fmla="*/ 760986 h 1592773"/>
                <a:gd name="connsiteX0" fmla="*/ 0 w 3863897"/>
                <a:gd name="connsiteY0" fmla="*/ 760986 h 1592773"/>
                <a:gd name="connsiteX1" fmla="*/ 1930523 w 3863897"/>
                <a:gd name="connsiteY1" fmla="*/ 0 h 1592773"/>
                <a:gd name="connsiteX2" fmla="*/ 3863897 w 3863897"/>
                <a:gd name="connsiteY2" fmla="*/ 761459 h 1592773"/>
                <a:gd name="connsiteX3" fmla="*/ 1932024 w 3863897"/>
                <a:gd name="connsiteY3" fmla="*/ 1592773 h 1592773"/>
                <a:gd name="connsiteX4" fmla="*/ 0 w 3863897"/>
                <a:gd name="connsiteY4" fmla="*/ 760986 h 15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3897" h="1592773">
                  <a:moveTo>
                    <a:pt x="0" y="760986"/>
                  </a:moveTo>
                  <a:lnTo>
                    <a:pt x="1930523" y="0"/>
                  </a:lnTo>
                  <a:lnTo>
                    <a:pt x="3863897" y="761459"/>
                  </a:lnTo>
                  <a:lnTo>
                    <a:pt x="1932024" y="1592773"/>
                  </a:lnTo>
                  <a:lnTo>
                    <a:pt x="0" y="760986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6"/>
          <p:cNvSpPr>
            <a:spLocks noChangeArrowheads="1"/>
          </p:cNvSpPr>
          <p:nvPr/>
        </p:nvSpPr>
        <p:spPr bwMode="auto">
          <a:xfrm>
            <a:off x="7873753" y="2554816"/>
            <a:ext cx="6426200" cy="76411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rgbClr val="FFFFFF"/>
              </a:solidFill>
            </a:endParaRPr>
          </a:p>
        </p:txBody>
      </p:sp>
      <p:sp>
        <p:nvSpPr>
          <p:cNvPr id="24" name="Rectangle 8"/>
          <p:cNvSpPr>
            <a:spLocks noChangeArrowheads="1"/>
          </p:cNvSpPr>
          <p:nvPr/>
        </p:nvSpPr>
        <p:spPr bwMode="auto">
          <a:xfrm>
            <a:off x="7873753" y="3318934"/>
            <a:ext cx="6426200" cy="764117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rgbClr val="FFFFFF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683004" y="2735476"/>
            <a:ext cx="4381501" cy="2293724"/>
            <a:chOff x="3981451" y="2735476"/>
            <a:chExt cx="4381501" cy="2293724"/>
          </a:xfrm>
        </p:grpSpPr>
        <p:sp>
          <p:nvSpPr>
            <p:cNvPr id="27" name="Freeform 11"/>
            <p:cNvSpPr>
              <a:spLocks/>
            </p:cNvSpPr>
            <p:nvPr/>
          </p:nvSpPr>
          <p:spPr bwMode="auto">
            <a:xfrm>
              <a:off x="6172201" y="3316816"/>
              <a:ext cx="2190751" cy="1712384"/>
            </a:xfrm>
            <a:custGeom>
              <a:avLst/>
              <a:gdLst>
                <a:gd name="T0" fmla="*/ 689 w 1035"/>
                <a:gd name="T1" fmla="*/ 0 h 809"/>
                <a:gd name="T2" fmla="*/ 0 w 1035"/>
                <a:gd name="T3" fmla="*/ 298 h 809"/>
                <a:gd name="T4" fmla="*/ 0 w 1035"/>
                <a:gd name="T5" fmla="*/ 639 h 809"/>
                <a:gd name="T6" fmla="*/ 0 w 1035"/>
                <a:gd name="T7" fmla="*/ 809 h 809"/>
                <a:gd name="T8" fmla="*/ 1035 w 1035"/>
                <a:gd name="T9" fmla="*/ 362 h 809"/>
                <a:gd name="T10" fmla="*/ 689 w 1035"/>
                <a:gd name="T11" fmla="*/ 0 h 8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35" h="809">
                  <a:moveTo>
                    <a:pt x="689" y="0"/>
                  </a:moveTo>
                  <a:lnTo>
                    <a:pt x="0" y="298"/>
                  </a:lnTo>
                  <a:lnTo>
                    <a:pt x="0" y="639"/>
                  </a:lnTo>
                  <a:lnTo>
                    <a:pt x="0" y="809"/>
                  </a:lnTo>
                  <a:lnTo>
                    <a:pt x="1035" y="362"/>
                  </a:lnTo>
                  <a:lnTo>
                    <a:pt x="689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>
                <a:solidFill>
                  <a:srgbClr val="FFFFFF"/>
                </a:solidFill>
              </a:endParaRPr>
            </a:p>
          </p:txBody>
        </p:sp>
        <p:sp>
          <p:nvSpPr>
            <p:cNvPr id="31" name="Freeform 15"/>
            <p:cNvSpPr>
              <a:spLocks/>
            </p:cNvSpPr>
            <p:nvPr/>
          </p:nvSpPr>
          <p:spPr bwMode="auto">
            <a:xfrm>
              <a:off x="3981451" y="3316816"/>
              <a:ext cx="2190751" cy="1712384"/>
            </a:xfrm>
            <a:custGeom>
              <a:avLst/>
              <a:gdLst>
                <a:gd name="T0" fmla="*/ 346 w 1035"/>
                <a:gd name="T1" fmla="*/ 0 h 809"/>
                <a:gd name="T2" fmla="*/ 1035 w 1035"/>
                <a:gd name="T3" fmla="*/ 298 h 809"/>
                <a:gd name="T4" fmla="*/ 1035 w 1035"/>
                <a:gd name="T5" fmla="*/ 639 h 809"/>
                <a:gd name="T6" fmla="*/ 1035 w 1035"/>
                <a:gd name="T7" fmla="*/ 809 h 809"/>
                <a:gd name="T8" fmla="*/ 0 w 1035"/>
                <a:gd name="T9" fmla="*/ 362 h 809"/>
                <a:gd name="T10" fmla="*/ 346 w 1035"/>
                <a:gd name="T11" fmla="*/ 0 h 8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35" h="809">
                  <a:moveTo>
                    <a:pt x="346" y="0"/>
                  </a:moveTo>
                  <a:lnTo>
                    <a:pt x="1035" y="298"/>
                  </a:lnTo>
                  <a:lnTo>
                    <a:pt x="1035" y="639"/>
                  </a:lnTo>
                  <a:lnTo>
                    <a:pt x="1035" y="809"/>
                  </a:lnTo>
                  <a:lnTo>
                    <a:pt x="0" y="362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>
                <a:solidFill>
                  <a:srgbClr val="FFFFFF"/>
                </a:solidFill>
              </a:endParaRPr>
            </a:p>
          </p:txBody>
        </p:sp>
        <p:sp>
          <p:nvSpPr>
            <p:cNvPr id="56" name="Parallelogram 3"/>
            <p:cNvSpPr/>
            <p:nvPr/>
          </p:nvSpPr>
          <p:spPr>
            <a:xfrm>
              <a:off x="4704292" y="2735476"/>
              <a:ext cx="2935224" cy="1212108"/>
            </a:xfrm>
            <a:custGeom>
              <a:avLst/>
              <a:gdLst>
                <a:gd name="connsiteX0" fmla="*/ 0 w 3636000"/>
                <a:gd name="connsiteY0" fmla="*/ 2338917 h 2338917"/>
                <a:gd name="connsiteX1" fmla="*/ 894332 w 3636000"/>
                <a:gd name="connsiteY1" fmla="*/ 0 h 2338917"/>
                <a:gd name="connsiteX2" fmla="*/ 3636000 w 3636000"/>
                <a:gd name="connsiteY2" fmla="*/ 0 h 2338917"/>
                <a:gd name="connsiteX3" fmla="*/ 2741668 w 3636000"/>
                <a:gd name="connsiteY3" fmla="*/ 2338917 h 2338917"/>
                <a:gd name="connsiteX4" fmla="*/ 0 w 3636000"/>
                <a:gd name="connsiteY4" fmla="*/ 2338917 h 2338917"/>
                <a:gd name="connsiteX0" fmla="*/ 0 w 3636000"/>
                <a:gd name="connsiteY0" fmla="*/ 2338917 h 3152517"/>
                <a:gd name="connsiteX1" fmla="*/ 894332 w 3636000"/>
                <a:gd name="connsiteY1" fmla="*/ 0 h 3152517"/>
                <a:gd name="connsiteX2" fmla="*/ 3636000 w 3636000"/>
                <a:gd name="connsiteY2" fmla="*/ 0 h 3152517"/>
                <a:gd name="connsiteX3" fmla="*/ 1949668 w 3636000"/>
                <a:gd name="connsiteY3" fmla="*/ 3152517 h 3152517"/>
                <a:gd name="connsiteX4" fmla="*/ 0 w 3636000"/>
                <a:gd name="connsiteY4" fmla="*/ 2338917 h 3152517"/>
                <a:gd name="connsiteX0" fmla="*/ 0 w 3895200"/>
                <a:gd name="connsiteY0" fmla="*/ 2338917 h 3152517"/>
                <a:gd name="connsiteX1" fmla="*/ 894332 w 3895200"/>
                <a:gd name="connsiteY1" fmla="*/ 0 h 3152517"/>
                <a:gd name="connsiteX2" fmla="*/ 3895200 w 3895200"/>
                <a:gd name="connsiteY2" fmla="*/ 2332800 h 3152517"/>
                <a:gd name="connsiteX3" fmla="*/ 1949668 w 3895200"/>
                <a:gd name="connsiteY3" fmla="*/ 3152517 h 3152517"/>
                <a:gd name="connsiteX4" fmla="*/ 0 w 3895200"/>
                <a:gd name="connsiteY4" fmla="*/ 2338917 h 3152517"/>
                <a:gd name="connsiteX0" fmla="*/ 0 w 3895200"/>
                <a:gd name="connsiteY0" fmla="*/ 6117 h 819717"/>
                <a:gd name="connsiteX1" fmla="*/ 1909532 w 3895200"/>
                <a:gd name="connsiteY1" fmla="*/ 64800 h 819717"/>
                <a:gd name="connsiteX2" fmla="*/ 3895200 w 3895200"/>
                <a:gd name="connsiteY2" fmla="*/ 0 h 819717"/>
                <a:gd name="connsiteX3" fmla="*/ 1949668 w 3895200"/>
                <a:gd name="connsiteY3" fmla="*/ 819717 h 819717"/>
                <a:gd name="connsiteX4" fmla="*/ 0 w 3895200"/>
                <a:gd name="connsiteY4" fmla="*/ 6117 h 819717"/>
                <a:gd name="connsiteX0" fmla="*/ 0 w 3895200"/>
                <a:gd name="connsiteY0" fmla="*/ 430917 h 1244517"/>
                <a:gd name="connsiteX1" fmla="*/ 1923932 w 3895200"/>
                <a:gd name="connsiteY1" fmla="*/ 0 h 1244517"/>
                <a:gd name="connsiteX2" fmla="*/ 3895200 w 3895200"/>
                <a:gd name="connsiteY2" fmla="*/ 424800 h 1244517"/>
                <a:gd name="connsiteX3" fmla="*/ 1949668 w 3895200"/>
                <a:gd name="connsiteY3" fmla="*/ 1244517 h 1244517"/>
                <a:gd name="connsiteX4" fmla="*/ 0 w 3895200"/>
                <a:gd name="connsiteY4" fmla="*/ 430917 h 1244517"/>
                <a:gd name="connsiteX0" fmla="*/ 0 w 3895200"/>
                <a:gd name="connsiteY0" fmla="*/ 690117 h 1503717"/>
                <a:gd name="connsiteX1" fmla="*/ 1923932 w 3895200"/>
                <a:gd name="connsiteY1" fmla="*/ 0 h 1503717"/>
                <a:gd name="connsiteX2" fmla="*/ 3895200 w 3895200"/>
                <a:gd name="connsiteY2" fmla="*/ 684000 h 1503717"/>
                <a:gd name="connsiteX3" fmla="*/ 1949668 w 3895200"/>
                <a:gd name="connsiteY3" fmla="*/ 1503717 h 1503717"/>
                <a:gd name="connsiteX4" fmla="*/ 0 w 3895200"/>
                <a:gd name="connsiteY4" fmla="*/ 690117 h 1503717"/>
                <a:gd name="connsiteX0" fmla="*/ 0 w 3895200"/>
                <a:gd name="connsiteY0" fmla="*/ 920517 h 1734117"/>
                <a:gd name="connsiteX1" fmla="*/ 1923932 w 3895200"/>
                <a:gd name="connsiteY1" fmla="*/ 0 h 1734117"/>
                <a:gd name="connsiteX2" fmla="*/ 3895200 w 3895200"/>
                <a:gd name="connsiteY2" fmla="*/ 914400 h 1734117"/>
                <a:gd name="connsiteX3" fmla="*/ 1949668 w 3895200"/>
                <a:gd name="connsiteY3" fmla="*/ 1734117 h 1734117"/>
                <a:gd name="connsiteX4" fmla="*/ 0 w 3895200"/>
                <a:gd name="connsiteY4" fmla="*/ 920517 h 1734117"/>
                <a:gd name="connsiteX0" fmla="*/ 0 w 3895200"/>
                <a:gd name="connsiteY0" fmla="*/ 920517 h 1734117"/>
                <a:gd name="connsiteX1" fmla="*/ 1923932 w 3895200"/>
                <a:gd name="connsiteY1" fmla="*/ 0 h 1734117"/>
                <a:gd name="connsiteX2" fmla="*/ 3895200 w 3895200"/>
                <a:gd name="connsiteY2" fmla="*/ 914400 h 1734117"/>
                <a:gd name="connsiteX3" fmla="*/ 1922203 w 3895200"/>
                <a:gd name="connsiteY3" fmla="*/ 1734117 h 1734117"/>
                <a:gd name="connsiteX4" fmla="*/ 0 w 3895200"/>
                <a:gd name="connsiteY4" fmla="*/ 920517 h 1734117"/>
                <a:gd name="connsiteX0" fmla="*/ 0 w 3895200"/>
                <a:gd name="connsiteY0" fmla="*/ 920517 h 1734117"/>
                <a:gd name="connsiteX1" fmla="*/ 1923932 w 3895200"/>
                <a:gd name="connsiteY1" fmla="*/ 0 h 1734117"/>
                <a:gd name="connsiteX2" fmla="*/ 3895200 w 3895200"/>
                <a:gd name="connsiteY2" fmla="*/ 914400 h 1734117"/>
                <a:gd name="connsiteX3" fmla="*/ 1922203 w 3895200"/>
                <a:gd name="connsiteY3" fmla="*/ 1734117 h 1734117"/>
                <a:gd name="connsiteX4" fmla="*/ 0 w 3895200"/>
                <a:gd name="connsiteY4" fmla="*/ 920517 h 1734117"/>
                <a:gd name="connsiteX0" fmla="*/ 0 w 3895200"/>
                <a:gd name="connsiteY0" fmla="*/ 920517 h 1716346"/>
                <a:gd name="connsiteX1" fmla="*/ 1923932 w 3895200"/>
                <a:gd name="connsiteY1" fmla="*/ 0 h 1716346"/>
                <a:gd name="connsiteX2" fmla="*/ 3895200 w 3895200"/>
                <a:gd name="connsiteY2" fmla="*/ 914400 h 1716346"/>
                <a:gd name="connsiteX3" fmla="*/ 1973900 w 3895200"/>
                <a:gd name="connsiteY3" fmla="*/ 1716346 h 1716346"/>
                <a:gd name="connsiteX4" fmla="*/ 0 w 3895200"/>
                <a:gd name="connsiteY4" fmla="*/ 920517 h 1716346"/>
                <a:gd name="connsiteX0" fmla="*/ 0 w 3895200"/>
                <a:gd name="connsiteY0" fmla="*/ 920517 h 1730886"/>
                <a:gd name="connsiteX1" fmla="*/ 1923932 w 3895200"/>
                <a:gd name="connsiteY1" fmla="*/ 0 h 1730886"/>
                <a:gd name="connsiteX2" fmla="*/ 3895200 w 3895200"/>
                <a:gd name="connsiteY2" fmla="*/ 914400 h 1730886"/>
                <a:gd name="connsiteX3" fmla="*/ 1925433 w 3895200"/>
                <a:gd name="connsiteY3" fmla="*/ 1730886 h 1730886"/>
                <a:gd name="connsiteX4" fmla="*/ 0 w 3895200"/>
                <a:gd name="connsiteY4" fmla="*/ 920517 h 1730886"/>
                <a:gd name="connsiteX0" fmla="*/ 0 w 3895200"/>
                <a:gd name="connsiteY0" fmla="*/ 782404 h 1592773"/>
                <a:gd name="connsiteX1" fmla="*/ 1923932 w 3895200"/>
                <a:gd name="connsiteY1" fmla="*/ 0 h 1592773"/>
                <a:gd name="connsiteX2" fmla="*/ 3895200 w 3895200"/>
                <a:gd name="connsiteY2" fmla="*/ 776287 h 1592773"/>
                <a:gd name="connsiteX3" fmla="*/ 1925433 w 3895200"/>
                <a:gd name="connsiteY3" fmla="*/ 1592773 h 1592773"/>
                <a:gd name="connsiteX4" fmla="*/ 0 w 3895200"/>
                <a:gd name="connsiteY4" fmla="*/ 782404 h 1592773"/>
                <a:gd name="connsiteX0" fmla="*/ 0 w 3886962"/>
                <a:gd name="connsiteY0" fmla="*/ 759338 h 1592773"/>
                <a:gd name="connsiteX1" fmla="*/ 1915694 w 3886962"/>
                <a:gd name="connsiteY1" fmla="*/ 0 h 1592773"/>
                <a:gd name="connsiteX2" fmla="*/ 3886962 w 3886962"/>
                <a:gd name="connsiteY2" fmla="*/ 776287 h 1592773"/>
                <a:gd name="connsiteX3" fmla="*/ 1917195 w 3886962"/>
                <a:gd name="connsiteY3" fmla="*/ 1592773 h 1592773"/>
                <a:gd name="connsiteX4" fmla="*/ 0 w 3886962"/>
                <a:gd name="connsiteY4" fmla="*/ 759338 h 1592773"/>
                <a:gd name="connsiteX0" fmla="*/ 0 w 3901791"/>
                <a:gd name="connsiteY0" fmla="*/ 760986 h 1592773"/>
                <a:gd name="connsiteX1" fmla="*/ 1930523 w 3901791"/>
                <a:gd name="connsiteY1" fmla="*/ 0 h 1592773"/>
                <a:gd name="connsiteX2" fmla="*/ 3901791 w 3901791"/>
                <a:gd name="connsiteY2" fmla="*/ 776287 h 1592773"/>
                <a:gd name="connsiteX3" fmla="*/ 1932024 w 3901791"/>
                <a:gd name="connsiteY3" fmla="*/ 1592773 h 1592773"/>
                <a:gd name="connsiteX4" fmla="*/ 0 w 3901791"/>
                <a:gd name="connsiteY4" fmla="*/ 760986 h 1592773"/>
                <a:gd name="connsiteX0" fmla="*/ 0 w 3863897"/>
                <a:gd name="connsiteY0" fmla="*/ 760986 h 1592773"/>
                <a:gd name="connsiteX1" fmla="*/ 1930523 w 3863897"/>
                <a:gd name="connsiteY1" fmla="*/ 0 h 1592773"/>
                <a:gd name="connsiteX2" fmla="*/ 3863897 w 3863897"/>
                <a:gd name="connsiteY2" fmla="*/ 761459 h 1592773"/>
                <a:gd name="connsiteX3" fmla="*/ 1932024 w 3863897"/>
                <a:gd name="connsiteY3" fmla="*/ 1592773 h 1592773"/>
                <a:gd name="connsiteX4" fmla="*/ 0 w 3863897"/>
                <a:gd name="connsiteY4" fmla="*/ 760986 h 15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3897" h="1592773">
                  <a:moveTo>
                    <a:pt x="0" y="760986"/>
                  </a:moveTo>
                  <a:lnTo>
                    <a:pt x="1930523" y="0"/>
                  </a:lnTo>
                  <a:lnTo>
                    <a:pt x="3863897" y="761459"/>
                  </a:lnTo>
                  <a:lnTo>
                    <a:pt x="1932024" y="1592773"/>
                  </a:lnTo>
                  <a:lnTo>
                    <a:pt x="0" y="760986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6415370" y="2203299"/>
            <a:ext cx="2916767" cy="1751485"/>
            <a:chOff x="4713817" y="2196099"/>
            <a:chExt cx="2916767" cy="1751485"/>
          </a:xfrm>
        </p:grpSpPr>
        <p:sp>
          <p:nvSpPr>
            <p:cNvPr id="25" name="Freeform 9"/>
            <p:cNvSpPr>
              <a:spLocks/>
            </p:cNvSpPr>
            <p:nvPr/>
          </p:nvSpPr>
          <p:spPr bwMode="auto">
            <a:xfrm>
              <a:off x="6172200" y="2554817"/>
              <a:ext cx="1458384" cy="1392767"/>
            </a:xfrm>
            <a:custGeom>
              <a:avLst/>
              <a:gdLst>
                <a:gd name="T0" fmla="*/ 345 w 689"/>
                <a:gd name="T1" fmla="*/ 0 h 658"/>
                <a:gd name="T2" fmla="*/ 0 w 689"/>
                <a:gd name="T3" fmla="*/ 149 h 658"/>
                <a:gd name="T4" fmla="*/ 0 w 689"/>
                <a:gd name="T5" fmla="*/ 658 h 658"/>
                <a:gd name="T6" fmla="*/ 689 w 689"/>
                <a:gd name="T7" fmla="*/ 360 h 658"/>
                <a:gd name="T8" fmla="*/ 345 w 689"/>
                <a:gd name="T9" fmla="*/ 0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9" h="658">
                  <a:moveTo>
                    <a:pt x="345" y="0"/>
                  </a:moveTo>
                  <a:lnTo>
                    <a:pt x="0" y="149"/>
                  </a:lnTo>
                  <a:lnTo>
                    <a:pt x="0" y="658"/>
                  </a:lnTo>
                  <a:lnTo>
                    <a:pt x="689" y="360"/>
                  </a:lnTo>
                  <a:lnTo>
                    <a:pt x="345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>
                <a:solidFill>
                  <a:srgbClr val="FFFFFF"/>
                </a:solidFill>
              </a:endParaRPr>
            </a:p>
          </p:txBody>
        </p:sp>
        <p:sp>
          <p:nvSpPr>
            <p:cNvPr id="29" name="Freeform 13"/>
            <p:cNvSpPr>
              <a:spLocks/>
            </p:cNvSpPr>
            <p:nvPr/>
          </p:nvSpPr>
          <p:spPr bwMode="auto">
            <a:xfrm>
              <a:off x="4713817" y="2554817"/>
              <a:ext cx="1458384" cy="1392767"/>
            </a:xfrm>
            <a:custGeom>
              <a:avLst/>
              <a:gdLst>
                <a:gd name="T0" fmla="*/ 344 w 689"/>
                <a:gd name="T1" fmla="*/ 0 h 658"/>
                <a:gd name="T2" fmla="*/ 689 w 689"/>
                <a:gd name="T3" fmla="*/ 149 h 658"/>
                <a:gd name="T4" fmla="*/ 689 w 689"/>
                <a:gd name="T5" fmla="*/ 658 h 658"/>
                <a:gd name="T6" fmla="*/ 0 w 689"/>
                <a:gd name="T7" fmla="*/ 360 h 658"/>
                <a:gd name="T8" fmla="*/ 344 w 689"/>
                <a:gd name="T9" fmla="*/ 0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9" h="658">
                  <a:moveTo>
                    <a:pt x="344" y="0"/>
                  </a:moveTo>
                  <a:lnTo>
                    <a:pt x="689" y="149"/>
                  </a:lnTo>
                  <a:lnTo>
                    <a:pt x="689" y="658"/>
                  </a:lnTo>
                  <a:lnTo>
                    <a:pt x="0" y="360"/>
                  </a:lnTo>
                  <a:lnTo>
                    <a:pt x="34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>
                <a:solidFill>
                  <a:srgbClr val="FFFFFF"/>
                </a:solidFill>
              </a:endParaRPr>
            </a:p>
          </p:txBody>
        </p:sp>
        <p:sp>
          <p:nvSpPr>
            <p:cNvPr id="57" name="Parallelogram 3"/>
            <p:cNvSpPr/>
            <p:nvPr/>
          </p:nvSpPr>
          <p:spPr>
            <a:xfrm flipV="1">
              <a:off x="5437496" y="2196099"/>
              <a:ext cx="1475650" cy="676656"/>
            </a:xfrm>
            <a:custGeom>
              <a:avLst/>
              <a:gdLst>
                <a:gd name="connsiteX0" fmla="*/ 0 w 3636000"/>
                <a:gd name="connsiteY0" fmla="*/ 2338917 h 2338917"/>
                <a:gd name="connsiteX1" fmla="*/ 894332 w 3636000"/>
                <a:gd name="connsiteY1" fmla="*/ 0 h 2338917"/>
                <a:gd name="connsiteX2" fmla="*/ 3636000 w 3636000"/>
                <a:gd name="connsiteY2" fmla="*/ 0 h 2338917"/>
                <a:gd name="connsiteX3" fmla="*/ 2741668 w 3636000"/>
                <a:gd name="connsiteY3" fmla="*/ 2338917 h 2338917"/>
                <a:gd name="connsiteX4" fmla="*/ 0 w 3636000"/>
                <a:gd name="connsiteY4" fmla="*/ 2338917 h 2338917"/>
                <a:gd name="connsiteX0" fmla="*/ 0 w 3636000"/>
                <a:gd name="connsiteY0" fmla="*/ 2338917 h 3152517"/>
                <a:gd name="connsiteX1" fmla="*/ 894332 w 3636000"/>
                <a:gd name="connsiteY1" fmla="*/ 0 h 3152517"/>
                <a:gd name="connsiteX2" fmla="*/ 3636000 w 3636000"/>
                <a:gd name="connsiteY2" fmla="*/ 0 h 3152517"/>
                <a:gd name="connsiteX3" fmla="*/ 1949668 w 3636000"/>
                <a:gd name="connsiteY3" fmla="*/ 3152517 h 3152517"/>
                <a:gd name="connsiteX4" fmla="*/ 0 w 3636000"/>
                <a:gd name="connsiteY4" fmla="*/ 2338917 h 3152517"/>
                <a:gd name="connsiteX0" fmla="*/ 0 w 3895200"/>
                <a:gd name="connsiteY0" fmla="*/ 2338917 h 3152517"/>
                <a:gd name="connsiteX1" fmla="*/ 894332 w 3895200"/>
                <a:gd name="connsiteY1" fmla="*/ 0 h 3152517"/>
                <a:gd name="connsiteX2" fmla="*/ 3895200 w 3895200"/>
                <a:gd name="connsiteY2" fmla="*/ 2332800 h 3152517"/>
                <a:gd name="connsiteX3" fmla="*/ 1949668 w 3895200"/>
                <a:gd name="connsiteY3" fmla="*/ 3152517 h 3152517"/>
                <a:gd name="connsiteX4" fmla="*/ 0 w 3895200"/>
                <a:gd name="connsiteY4" fmla="*/ 2338917 h 3152517"/>
                <a:gd name="connsiteX0" fmla="*/ 0 w 3895200"/>
                <a:gd name="connsiteY0" fmla="*/ 6117 h 819717"/>
                <a:gd name="connsiteX1" fmla="*/ 1909532 w 3895200"/>
                <a:gd name="connsiteY1" fmla="*/ 64800 h 819717"/>
                <a:gd name="connsiteX2" fmla="*/ 3895200 w 3895200"/>
                <a:gd name="connsiteY2" fmla="*/ 0 h 819717"/>
                <a:gd name="connsiteX3" fmla="*/ 1949668 w 3895200"/>
                <a:gd name="connsiteY3" fmla="*/ 819717 h 819717"/>
                <a:gd name="connsiteX4" fmla="*/ 0 w 3895200"/>
                <a:gd name="connsiteY4" fmla="*/ 6117 h 819717"/>
                <a:gd name="connsiteX0" fmla="*/ 0 w 3895200"/>
                <a:gd name="connsiteY0" fmla="*/ 430917 h 1244517"/>
                <a:gd name="connsiteX1" fmla="*/ 1923932 w 3895200"/>
                <a:gd name="connsiteY1" fmla="*/ 0 h 1244517"/>
                <a:gd name="connsiteX2" fmla="*/ 3895200 w 3895200"/>
                <a:gd name="connsiteY2" fmla="*/ 424800 h 1244517"/>
                <a:gd name="connsiteX3" fmla="*/ 1949668 w 3895200"/>
                <a:gd name="connsiteY3" fmla="*/ 1244517 h 1244517"/>
                <a:gd name="connsiteX4" fmla="*/ 0 w 3895200"/>
                <a:gd name="connsiteY4" fmla="*/ 430917 h 1244517"/>
                <a:gd name="connsiteX0" fmla="*/ 0 w 3895200"/>
                <a:gd name="connsiteY0" fmla="*/ 690117 h 1503717"/>
                <a:gd name="connsiteX1" fmla="*/ 1923932 w 3895200"/>
                <a:gd name="connsiteY1" fmla="*/ 0 h 1503717"/>
                <a:gd name="connsiteX2" fmla="*/ 3895200 w 3895200"/>
                <a:gd name="connsiteY2" fmla="*/ 684000 h 1503717"/>
                <a:gd name="connsiteX3" fmla="*/ 1949668 w 3895200"/>
                <a:gd name="connsiteY3" fmla="*/ 1503717 h 1503717"/>
                <a:gd name="connsiteX4" fmla="*/ 0 w 3895200"/>
                <a:gd name="connsiteY4" fmla="*/ 690117 h 1503717"/>
                <a:gd name="connsiteX0" fmla="*/ 0 w 3895200"/>
                <a:gd name="connsiteY0" fmla="*/ 920517 h 1734117"/>
                <a:gd name="connsiteX1" fmla="*/ 1923932 w 3895200"/>
                <a:gd name="connsiteY1" fmla="*/ 0 h 1734117"/>
                <a:gd name="connsiteX2" fmla="*/ 3895200 w 3895200"/>
                <a:gd name="connsiteY2" fmla="*/ 914400 h 1734117"/>
                <a:gd name="connsiteX3" fmla="*/ 1949668 w 3895200"/>
                <a:gd name="connsiteY3" fmla="*/ 1734117 h 1734117"/>
                <a:gd name="connsiteX4" fmla="*/ 0 w 3895200"/>
                <a:gd name="connsiteY4" fmla="*/ 920517 h 1734117"/>
                <a:gd name="connsiteX0" fmla="*/ 0 w 3895200"/>
                <a:gd name="connsiteY0" fmla="*/ 920517 h 1734117"/>
                <a:gd name="connsiteX1" fmla="*/ 1923932 w 3895200"/>
                <a:gd name="connsiteY1" fmla="*/ 0 h 1734117"/>
                <a:gd name="connsiteX2" fmla="*/ 3895200 w 3895200"/>
                <a:gd name="connsiteY2" fmla="*/ 914400 h 1734117"/>
                <a:gd name="connsiteX3" fmla="*/ 1922203 w 3895200"/>
                <a:gd name="connsiteY3" fmla="*/ 1734117 h 1734117"/>
                <a:gd name="connsiteX4" fmla="*/ 0 w 3895200"/>
                <a:gd name="connsiteY4" fmla="*/ 920517 h 1734117"/>
                <a:gd name="connsiteX0" fmla="*/ 0 w 3895200"/>
                <a:gd name="connsiteY0" fmla="*/ 920517 h 1734117"/>
                <a:gd name="connsiteX1" fmla="*/ 1923932 w 3895200"/>
                <a:gd name="connsiteY1" fmla="*/ 0 h 1734117"/>
                <a:gd name="connsiteX2" fmla="*/ 3895200 w 3895200"/>
                <a:gd name="connsiteY2" fmla="*/ 914400 h 1734117"/>
                <a:gd name="connsiteX3" fmla="*/ 1922203 w 3895200"/>
                <a:gd name="connsiteY3" fmla="*/ 1734117 h 1734117"/>
                <a:gd name="connsiteX4" fmla="*/ 0 w 3895200"/>
                <a:gd name="connsiteY4" fmla="*/ 920517 h 1734117"/>
                <a:gd name="connsiteX0" fmla="*/ 0 w 3895200"/>
                <a:gd name="connsiteY0" fmla="*/ 920517 h 1716346"/>
                <a:gd name="connsiteX1" fmla="*/ 1923932 w 3895200"/>
                <a:gd name="connsiteY1" fmla="*/ 0 h 1716346"/>
                <a:gd name="connsiteX2" fmla="*/ 3895200 w 3895200"/>
                <a:gd name="connsiteY2" fmla="*/ 914400 h 1716346"/>
                <a:gd name="connsiteX3" fmla="*/ 1973900 w 3895200"/>
                <a:gd name="connsiteY3" fmla="*/ 1716346 h 1716346"/>
                <a:gd name="connsiteX4" fmla="*/ 0 w 3895200"/>
                <a:gd name="connsiteY4" fmla="*/ 920517 h 1716346"/>
                <a:gd name="connsiteX0" fmla="*/ 0 w 3895200"/>
                <a:gd name="connsiteY0" fmla="*/ 920517 h 1730886"/>
                <a:gd name="connsiteX1" fmla="*/ 1923932 w 3895200"/>
                <a:gd name="connsiteY1" fmla="*/ 0 h 1730886"/>
                <a:gd name="connsiteX2" fmla="*/ 3895200 w 3895200"/>
                <a:gd name="connsiteY2" fmla="*/ 914400 h 1730886"/>
                <a:gd name="connsiteX3" fmla="*/ 1925433 w 3895200"/>
                <a:gd name="connsiteY3" fmla="*/ 1730886 h 1730886"/>
                <a:gd name="connsiteX4" fmla="*/ 0 w 3895200"/>
                <a:gd name="connsiteY4" fmla="*/ 920517 h 1730886"/>
                <a:gd name="connsiteX0" fmla="*/ 0 w 3895200"/>
                <a:gd name="connsiteY0" fmla="*/ 782404 h 1592773"/>
                <a:gd name="connsiteX1" fmla="*/ 1923932 w 3895200"/>
                <a:gd name="connsiteY1" fmla="*/ 0 h 1592773"/>
                <a:gd name="connsiteX2" fmla="*/ 3895200 w 3895200"/>
                <a:gd name="connsiteY2" fmla="*/ 776287 h 1592773"/>
                <a:gd name="connsiteX3" fmla="*/ 1925433 w 3895200"/>
                <a:gd name="connsiteY3" fmla="*/ 1592773 h 1592773"/>
                <a:gd name="connsiteX4" fmla="*/ 0 w 3895200"/>
                <a:gd name="connsiteY4" fmla="*/ 782404 h 1592773"/>
                <a:gd name="connsiteX0" fmla="*/ 0 w 3886962"/>
                <a:gd name="connsiteY0" fmla="*/ 759338 h 1592773"/>
                <a:gd name="connsiteX1" fmla="*/ 1915694 w 3886962"/>
                <a:gd name="connsiteY1" fmla="*/ 0 h 1592773"/>
                <a:gd name="connsiteX2" fmla="*/ 3886962 w 3886962"/>
                <a:gd name="connsiteY2" fmla="*/ 776287 h 1592773"/>
                <a:gd name="connsiteX3" fmla="*/ 1917195 w 3886962"/>
                <a:gd name="connsiteY3" fmla="*/ 1592773 h 1592773"/>
                <a:gd name="connsiteX4" fmla="*/ 0 w 3886962"/>
                <a:gd name="connsiteY4" fmla="*/ 759338 h 1592773"/>
                <a:gd name="connsiteX0" fmla="*/ 0 w 3901791"/>
                <a:gd name="connsiteY0" fmla="*/ 760986 h 1592773"/>
                <a:gd name="connsiteX1" fmla="*/ 1930523 w 3901791"/>
                <a:gd name="connsiteY1" fmla="*/ 0 h 1592773"/>
                <a:gd name="connsiteX2" fmla="*/ 3901791 w 3901791"/>
                <a:gd name="connsiteY2" fmla="*/ 776287 h 1592773"/>
                <a:gd name="connsiteX3" fmla="*/ 1932024 w 3901791"/>
                <a:gd name="connsiteY3" fmla="*/ 1592773 h 1592773"/>
                <a:gd name="connsiteX4" fmla="*/ 0 w 3901791"/>
                <a:gd name="connsiteY4" fmla="*/ 760986 h 1592773"/>
                <a:gd name="connsiteX0" fmla="*/ 0 w 3863897"/>
                <a:gd name="connsiteY0" fmla="*/ 760986 h 1592773"/>
                <a:gd name="connsiteX1" fmla="*/ 1930523 w 3863897"/>
                <a:gd name="connsiteY1" fmla="*/ 0 h 1592773"/>
                <a:gd name="connsiteX2" fmla="*/ 3863897 w 3863897"/>
                <a:gd name="connsiteY2" fmla="*/ 761459 h 1592773"/>
                <a:gd name="connsiteX3" fmla="*/ 1932024 w 3863897"/>
                <a:gd name="connsiteY3" fmla="*/ 1592773 h 1592773"/>
                <a:gd name="connsiteX4" fmla="*/ 0 w 3863897"/>
                <a:gd name="connsiteY4" fmla="*/ 760986 h 15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3897" h="1592773">
                  <a:moveTo>
                    <a:pt x="0" y="760986"/>
                  </a:moveTo>
                  <a:lnTo>
                    <a:pt x="1930523" y="0"/>
                  </a:lnTo>
                  <a:lnTo>
                    <a:pt x="3863897" y="761459"/>
                  </a:lnTo>
                  <a:lnTo>
                    <a:pt x="1932024" y="1592773"/>
                  </a:lnTo>
                  <a:lnTo>
                    <a:pt x="0" y="760986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ctr">
            <a:noAutofit/>
          </a:bodyPr>
          <a:lstStyle/>
          <a:p>
            <a:r>
              <a:rPr lang="en-US">
                <a:solidFill>
                  <a:srgbClr val="57565A"/>
                </a:solidFill>
                <a:latin typeface="Open Sans Light"/>
                <a:ea typeface="Open Sans Light"/>
                <a:cs typeface="Open Sans Light"/>
              </a:rPr>
              <a:t>Causal </a:t>
            </a:r>
            <a:r>
              <a:rPr lang="en-US" err="1">
                <a:solidFill>
                  <a:srgbClr val="57565A"/>
                </a:solidFill>
                <a:latin typeface="Open Sans Light"/>
                <a:ea typeface="Open Sans Light"/>
                <a:cs typeface="Open Sans Light"/>
              </a:rPr>
              <a:t>clames</a:t>
            </a:r>
            <a:r>
              <a:rPr lang="en-US">
                <a:solidFill>
                  <a:srgbClr val="57565A"/>
                </a:solidFill>
                <a:latin typeface="Open Sans Light"/>
                <a:ea typeface="Open Sans Light"/>
                <a:cs typeface="Open Sans Light"/>
              </a:rPr>
              <a:t> to be tested</a:t>
            </a:r>
            <a:endParaRPr lang="en-US">
              <a:latin typeface="Open Sans Light"/>
              <a:ea typeface="Open Sans Light"/>
              <a:cs typeface="Open Sans Ligh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US">
                <a:solidFill>
                  <a:srgbClr val="57565A"/>
                </a:solidFill>
                <a:latin typeface="Open Sans Light"/>
                <a:ea typeface="Open Sans Light"/>
                <a:cs typeface="Open Sans Light"/>
              </a:rPr>
              <a:t>Manipulating task framing (skill vs. luck) and feedback type (near-miss vs. clear-loss) will produce an interaction effect on willingness to persist</a:t>
            </a:r>
          </a:p>
          <a:p>
            <a:endParaRPr lang="en-US">
              <a:ea typeface="Open Sans Light"/>
              <a:cs typeface="Open Sans Light"/>
            </a:endParaRPr>
          </a:p>
        </p:txBody>
      </p:sp>
      <p:sp>
        <p:nvSpPr>
          <p:cNvPr id="21" name="Rectangle 5"/>
          <p:cNvSpPr>
            <a:spLocks noChangeArrowheads="1"/>
          </p:cNvSpPr>
          <p:nvPr/>
        </p:nvSpPr>
        <p:spPr bwMode="auto">
          <a:xfrm>
            <a:off x="7873753" y="1818134"/>
            <a:ext cx="6426200" cy="7641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rgbClr val="FFFFFF"/>
              </a:solidFill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7143504" y="1804527"/>
            <a:ext cx="1460500" cy="1079500"/>
            <a:chOff x="5441951" y="1790701"/>
            <a:chExt cx="1460500" cy="1079500"/>
          </a:xfrm>
        </p:grpSpPr>
        <p:sp>
          <p:nvSpPr>
            <p:cNvPr id="26" name="Freeform 10"/>
            <p:cNvSpPr>
              <a:spLocks/>
            </p:cNvSpPr>
            <p:nvPr/>
          </p:nvSpPr>
          <p:spPr bwMode="auto">
            <a:xfrm>
              <a:off x="6172200" y="1790701"/>
              <a:ext cx="730251" cy="1079500"/>
            </a:xfrm>
            <a:custGeom>
              <a:avLst/>
              <a:gdLst>
                <a:gd name="T0" fmla="*/ 0 w 345"/>
                <a:gd name="T1" fmla="*/ 0 h 510"/>
                <a:gd name="T2" fmla="*/ 0 w 345"/>
                <a:gd name="T3" fmla="*/ 510 h 510"/>
                <a:gd name="T4" fmla="*/ 345 w 345"/>
                <a:gd name="T5" fmla="*/ 361 h 510"/>
                <a:gd name="T6" fmla="*/ 0 w 345"/>
                <a:gd name="T7" fmla="*/ 0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5" h="510">
                  <a:moveTo>
                    <a:pt x="0" y="0"/>
                  </a:moveTo>
                  <a:lnTo>
                    <a:pt x="0" y="510"/>
                  </a:lnTo>
                  <a:lnTo>
                    <a:pt x="345" y="3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>
                <a:solidFill>
                  <a:srgbClr val="FFFFFF"/>
                </a:solidFill>
              </a:endParaRPr>
            </a:p>
          </p:txBody>
        </p:sp>
        <p:sp>
          <p:nvSpPr>
            <p:cNvPr id="30" name="Freeform 14"/>
            <p:cNvSpPr>
              <a:spLocks/>
            </p:cNvSpPr>
            <p:nvPr/>
          </p:nvSpPr>
          <p:spPr bwMode="auto">
            <a:xfrm>
              <a:off x="5441951" y="1790701"/>
              <a:ext cx="730251" cy="1079500"/>
            </a:xfrm>
            <a:custGeom>
              <a:avLst/>
              <a:gdLst>
                <a:gd name="T0" fmla="*/ 345 w 345"/>
                <a:gd name="T1" fmla="*/ 0 h 510"/>
                <a:gd name="T2" fmla="*/ 345 w 345"/>
                <a:gd name="T3" fmla="*/ 510 h 510"/>
                <a:gd name="T4" fmla="*/ 0 w 345"/>
                <a:gd name="T5" fmla="*/ 361 h 510"/>
                <a:gd name="T6" fmla="*/ 345 w 345"/>
                <a:gd name="T7" fmla="*/ 0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5" h="510">
                  <a:moveTo>
                    <a:pt x="345" y="0"/>
                  </a:moveTo>
                  <a:lnTo>
                    <a:pt x="345" y="510"/>
                  </a:lnTo>
                  <a:lnTo>
                    <a:pt x="0" y="361"/>
                  </a:lnTo>
                  <a:lnTo>
                    <a:pt x="345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>
                <a:solidFill>
                  <a:srgbClr val="FFFFFF"/>
                </a:solidFill>
              </a:endParaRPr>
            </a:p>
          </p:txBody>
        </p:sp>
      </p:grpSp>
      <p:sp>
        <p:nvSpPr>
          <p:cNvPr id="17" name="Rectangle 16"/>
          <p:cNvSpPr/>
          <p:nvPr/>
        </p:nvSpPr>
        <p:spPr>
          <a:xfrm>
            <a:off x="12417256" y="1967911"/>
            <a:ext cx="2594187" cy="573619"/>
          </a:xfrm>
          <a:prstGeom prst="rect">
            <a:avLst/>
          </a:prstGeom>
          <a:ln>
            <a:noFill/>
          </a:ln>
        </p:spPr>
        <p:txBody>
          <a:bodyPr wrap="square" lIns="243840" tIns="45720" rIns="243840" bIns="97536" anchor="t">
            <a:spAutoFit/>
          </a:bodyPr>
          <a:lstStyle/>
          <a:p>
            <a:pPr>
              <a:lnSpc>
                <a:spcPct val="95000"/>
              </a:lnSpc>
            </a:pPr>
            <a:r>
              <a:rPr lang="en-US" sz="1450">
                <a:solidFill>
                  <a:srgbClr val="FFFFFF"/>
                </a:solidFill>
              </a:rPr>
              <a:t>Lorem ipsum dolor </a:t>
            </a:r>
            <a:br>
              <a:rPr lang="en-US" sz="1450"/>
            </a:br>
            <a:r>
              <a:rPr lang="en-US" sz="1450">
                <a:solidFill>
                  <a:srgbClr val="FFFFFF"/>
                </a:solidFill>
              </a:rPr>
              <a:t>sit </a:t>
            </a:r>
            <a:r>
              <a:rPr lang="en-US" sz="1450" err="1">
                <a:solidFill>
                  <a:srgbClr val="FFFFFF"/>
                </a:solidFill>
              </a:rPr>
              <a:t>amet</a:t>
            </a:r>
            <a:r>
              <a:rPr lang="en-US" sz="1450">
                <a:solidFill>
                  <a:srgbClr val="FFFFFF"/>
                </a:solidFill>
              </a:rPr>
              <a:t>, consectetr</a:t>
            </a:r>
            <a:endParaRPr lang="en-US" sz="1467">
              <a:solidFill>
                <a:srgbClr val="FFFFFF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461274" y="1922185"/>
            <a:ext cx="908262" cy="655564"/>
          </a:xfrm>
          <a:prstGeom prst="rect">
            <a:avLst/>
          </a:prstGeom>
          <a:ln>
            <a:noFill/>
          </a:ln>
        </p:spPr>
        <p:txBody>
          <a:bodyPr wrap="none" lIns="121920" tIns="45720" rIns="121920" bIns="60960" anchor="t">
            <a:spAutoFit/>
          </a:bodyPr>
          <a:lstStyle/>
          <a:p>
            <a:pPr algn="r">
              <a:lnSpc>
                <a:spcPct val="89000"/>
              </a:lnSpc>
            </a:pPr>
            <a:r>
              <a:rPr lang="en-US" sz="4000">
                <a:solidFill>
                  <a:srgbClr val="FFFFFF"/>
                </a:solidFill>
              </a:rPr>
              <a:t>H4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72474" y="2667898"/>
            <a:ext cx="908262" cy="655564"/>
          </a:xfrm>
          <a:prstGeom prst="rect">
            <a:avLst/>
          </a:prstGeom>
          <a:ln>
            <a:noFill/>
          </a:ln>
        </p:spPr>
        <p:txBody>
          <a:bodyPr wrap="none" lIns="121920" tIns="45720" rIns="121920" bIns="60960" anchor="t">
            <a:spAutoFit/>
          </a:bodyPr>
          <a:lstStyle/>
          <a:p>
            <a:pPr algn="r">
              <a:lnSpc>
                <a:spcPct val="89000"/>
              </a:lnSpc>
            </a:pPr>
            <a:r>
              <a:rPr lang="en-US" sz="4000">
                <a:solidFill>
                  <a:srgbClr val="FFFFFF"/>
                </a:solidFill>
              </a:rPr>
              <a:t>H3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128455" y="2704593"/>
            <a:ext cx="2594187" cy="573619"/>
          </a:xfrm>
          <a:prstGeom prst="rect">
            <a:avLst/>
          </a:prstGeom>
          <a:ln>
            <a:noFill/>
          </a:ln>
        </p:spPr>
        <p:txBody>
          <a:bodyPr wrap="square" lIns="243840" rIns="243840" bIns="97536">
            <a:spAutoFit/>
          </a:bodyPr>
          <a:lstStyle/>
          <a:p>
            <a:pPr>
              <a:lnSpc>
                <a:spcPct val="95000"/>
              </a:lnSpc>
            </a:pPr>
            <a:r>
              <a:rPr lang="en-US" sz="1467">
                <a:solidFill>
                  <a:srgbClr val="FFFFFF"/>
                </a:solidFill>
              </a:rPr>
              <a:t>Lorem ipsum dolor </a:t>
            </a:r>
            <a:br>
              <a:rPr lang="en-US" sz="1467">
                <a:solidFill>
                  <a:srgbClr val="FFFFFF"/>
                </a:solidFill>
              </a:rPr>
            </a:br>
            <a:r>
              <a:rPr lang="en-US" sz="1467">
                <a:solidFill>
                  <a:srgbClr val="FFFFFF"/>
                </a:solidFill>
              </a:rPr>
              <a:t>sit amet, </a:t>
            </a:r>
            <a:r>
              <a:rPr lang="en-US" sz="1467" err="1">
                <a:solidFill>
                  <a:srgbClr val="FFFFFF"/>
                </a:solidFill>
              </a:rPr>
              <a:t>consectetur</a:t>
            </a:r>
            <a:endParaRPr lang="en-US" sz="1467">
              <a:solidFill>
                <a:srgbClr val="FFFFFF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3738055" y="3454528"/>
            <a:ext cx="2594187" cy="573619"/>
          </a:xfrm>
          <a:prstGeom prst="rect">
            <a:avLst/>
          </a:prstGeom>
          <a:ln>
            <a:noFill/>
          </a:ln>
        </p:spPr>
        <p:txBody>
          <a:bodyPr wrap="square" lIns="243840" rIns="243840" bIns="97536">
            <a:spAutoFit/>
          </a:bodyPr>
          <a:lstStyle/>
          <a:p>
            <a:pPr>
              <a:lnSpc>
                <a:spcPct val="95000"/>
              </a:lnSpc>
            </a:pPr>
            <a:r>
              <a:rPr lang="en-US" sz="1467">
                <a:solidFill>
                  <a:srgbClr val="FFFFFF"/>
                </a:solidFill>
              </a:rPr>
              <a:t>Lorem ipsum dolor </a:t>
            </a:r>
            <a:br>
              <a:rPr lang="en-US" sz="1467">
                <a:solidFill>
                  <a:srgbClr val="FFFFFF"/>
                </a:solidFill>
              </a:rPr>
            </a:br>
            <a:r>
              <a:rPr lang="en-US" sz="1467">
                <a:solidFill>
                  <a:srgbClr val="FFFFFF"/>
                </a:solidFill>
              </a:rPr>
              <a:t>sit amet, </a:t>
            </a:r>
            <a:r>
              <a:rPr lang="en-US" sz="1467" err="1">
                <a:solidFill>
                  <a:srgbClr val="FFFFFF"/>
                </a:solidFill>
              </a:rPr>
              <a:t>consectetur</a:t>
            </a:r>
            <a:endParaRPr lang="en-US" sz="1467">
              <a:solidFill>
                <a:srgbClr val="FFFFFF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4449256" y="4191209"/>
            <a:ext cx="2594187" cy="573619"/>
          </a:xfrm>
          <a:prstGeom prst="rect">
            <a:avLst/>
          </a:prstGeom>
          <a:ln>
            <a:noFill/>
          </a:ln>
        </p:spPr>
        <p:txBody>
          <a:bodyPr wrap="square" lIns="243840" rIns="243840" bIns="97536">
            <a:spAutoFit/>
          </a:bodyPr>
          <a:lstStyle/>
          <a:p>
            <a:pPr>
              <a:lnSpc>
                <a:spcPct val="95000"/>
              </a:lnSpc>
            </a:pPr>
            <a:r>
              <a:rPr lang="en-US" sz="1467">
                <a:solidFill>
                  <a:srgbClr val="FFFFFF"/>
                </a:solidFill>
              </a:rPr>
              <a:t>Lorem ipsum dolor </a:t>
            </a:r>
            <a:br>
              <a:rPr lang="en-US" sz="1467">
                <a:solidFill>
                  <a:srgbClr val="FFFFFF"/>
                </a:solidFill>
              </a:rPr>
            </a:br>
            <a:r>
              <a:rPr lang="en-US" sz="1467">
                <a:solidFill>
                  <a:srgbClr val="FFFFFF"/>
                </a:solidFill>
              </a:rPr>
              <a:t>sit amet, </a:t>
            </a:r>
            <a:r>
              <a:rPr lang="en-US" sz="1467" err="1">
                <a:solidFill>
                  <a:srgbClr val="FFFFFF"/>
                </a:solidFill>
              </a:rPr>
              <a:t>consectetur</a:t>
            </a:r>
            <a:endParaRPr lang="en-US" sz="1467">
              <a:solidFill>
                <a:srgbClr val="FFFFFF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9782074" y="3426863"/>
            <a:ext cx="908262" cy="655564"/>
          </a:xfrm>
          <a:prstGeom prst="rect">
            <a:avLst/>
          </a:prstGeom>
          <a:ln>
            <a:noFill/>
          </a:ln>
        </p:spPr>
        <p:txBody>
          <a:bodyPr wrap="none" lIns="121920" tIns="45720" rIns="121920" bIns="60960" anchor="t">
            <a:spAutoFit/>
          </a:bodyPr>
          <a:lstStyle/>
          <a:p>
            <a:pPr algn="r">
              <a:lnSpc>
                <a:spcPct val="89000"/>
              </a:lnSpc>
            </a:pPr>
            <a:r>
              <a:rPr lang="en-US" sz="4000">
                <a:solidFill>
                  <a:srgbClr val="FFFFFF"/>
                </a:solidFill>
              </a:rPr>
              <a:t>H2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493274" y="4172577"/>
            <a:ext cx="908262" cy="655564"/>
          </a:xfrm>
          <a:prstGeom prst="rect">
            <a:avLst/>
          </a:prstGeom>
          <a:ln>
            <a:noFill/>
          </a:ln>
        </p:spPr>
        <p:txBody>
          <a:bodyPr wrap="none" lIns="121920" tIns="45720" rIns="121920" bIns="60960" anchor="t">
            <a:spAutoFit/>
          </a:bodyPr>
          <a:lstStyle/>
          <a:p>
            <a:pPr algn="r">
              <a:lnSpc>
                <a:spcPct val="89000"/>
              </a:lnSpc>
            </a:pPr>
            <a:r>
              <a:rPr lang="en-US" sz="4000">
                <a:solidFill>
                  <a:srgbClr val="FFFFFF"/>
                </a:solidFill>
              </a:rPr>
              <a:t>H1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94917" y="2282188"/>
            <a:ext cx="826428" cy="546047"/>
          </a:xfrm>
          <a:prstGeom prst="rect">
            <a:avLst/>
          </a:prstGeom>
          <a:ln>
            <a:noFill/>
          </a:ln>
        </p:spPr>
        <p:txBody>
          <a:bodyPr wrap="square" lIns="121920" tIns="45720" rIns="121920" bIns="60960" anchor="t">
            <a:spAutoFit/>
            <a:scene3d>
              <a:camera prst="isometricBottomDown">
                <a:rot lat="1260000" lon="20400000" rev="19740000"/>
              </a:camera>
              <a:lightRig rig="threePt" dir="t"/>
            </a:scene3d>
          </a:bodyPr>
          <a:lstStyle/>
          <a:p>
            <a:pPr algn="ctr">
              <a:lnSpc>
                <a:spcPct val="89000"/>
              </a:lnSpc>
            </a:pPr>
            <a:r>
              <a:rPr lang="en-US" sz="1600">
                <a:solidFill>
                  <a:srgbClr val="FFFFFF"/>
                </a:solidFill>
              </a:rPr>
              <a:t>Explo-ration</a:t>
            </a:r>
            <a:endParaRPr lang="en-US" sz="1600">
              <a:solidFill>
                <a:srgbClr val="FFFFFF"/>
              </a:solidFill>
              <a:ea typeface="Open Sans Light"/>
              <a:cs typeface="Open Sans Light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971808" y="4012020"/>
            <a:ext cx="1938992" cy="326884"/>
          </a:xfrm>
          <a:prstGeom prst="rect">
            <a:avLst/>
          </a:prstGeom>
          <a:ln>
            <a:noFill/>
          </a:ln>
        </p:spPr>
        <p:txBody>
          <a:bodyPr wrap="none" lIns="121920" tIns="45720" rIns="121920" bIns="60960" anchor="t">
            <a:spAutoFit/>
            <a:scene3d>
              <a:camera prst="isometricBottomDown">
                <a:rot lat="1260000" lon="20400000" rev="19740000"/>
              </a:camera>
              <a:lightRig rig="threePt" dir="t"/>
            </a:scene3d>
          </a:bodyPr>
          <a:lstStyle/>
          <a:p>
            <a:pPr algn="ctr">
              <a:lnSpc>
                <a:spcPct val="89000"/>
              </a:lnSpc>
            </a:pPr>
            <a:r>
              <a:rPr lang="en-US" sz="1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</a:rPr>
              <a:t>Simple effect - skill</a:t>
            </a:r>
            <a:endParaRPr lang="en-US" sz="1600">
              <a:latin typeface="Open Sans Light"/>
              <a:ea typeface="Open Sans Light"/>
              <a:cs typeface="Open Sans Light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601433" y="3057247"/>
            <a:ext cx="1365476" cy="546047"/>
          </a:xfrm>
          <a:prstGeom prst="rect">
            <a:avLst/>
          </a:prstGeom>
          <a:ln>
            <a:noFill/>
          </a:ln>
        </p:spPr>
        <p:txBody>
          <a:bodyPr wrap="square" lIns="121920" tIns="45720" rIns="121920" bIns="60960" anchor="t">
            <a:spAutoFit/>
            <a:scene3d>
              <a:camera prst="isometricBottomDown">
                <a:rot lat="1260000" lon="20400000" rev="19740000"/>
              </a:camera>
              <a:lightRig rig="threePt" dir="t"/>
            </a:scene3d>
          </a:bodyPr>
          <a:lstStyle/>
          <a:p>
            <a:pPr algn="ctr">
              <a:lnSpc>
                <a:spcPct val="89000"/>
              </a:lnSpc>
            </a:pPr>
            <a:r>
              <a:rPr lang="en-US" sz="1600">
                <a:solidFill>
                  <a:srgbClr val="FFFFFF"/>
                </a:solidFill>
              </a:rPr>
              <a:t>Simple effect - luck</a:t>
            </a:r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5796517" y="4913910"/>
            <a:ext cx="1240789" cy="326884"/>
          </a:xfrm>
          <a:prstGeom prst="rect">
            <a:avLst/>
          </a:prstGeom>
          <a:ln>
            <a:noFill/>
          </a:ln>
        </p:spPr>
        <p:txBody>
          <a:bodyPr wrap="none" lIns="121920" tIns="45720" rIns="121920" bIns="60960" anchor="t">
            <a:spAutoFit/>
            <a:scene3d>
              <a:camera prst="isometricBottomDown">
                <a:rot lat="1260000" lon="20400000" rev="19740000"/>
              </a:camera>
              <a:lightRig rig="threePt" dir="t"/>
            </a:scene3d>
          </a:bodyPr>
          <a:lstStyle/>
          <a:p>
            <a:pPr algn="ctr">
              <a:lnSpc>
                <a:spcPct val="89000"/>
              </a:lnSpc>
            </a:pPr>
            <a:r>
              <a:rPr lang="en-US" sz="1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</a:rPr>
              <a:t>Interaction</a:t>
            </a:r>
            <a:endParaRPr lang="en-US" sz="1600"/>
          </a:p>
        </p:txBody>
      </p:sp>
      <p:sp>
        <p:nvSpPr>
          <p:cNvPr id="51" name="Rectangle 50"/>
          <p:cNvSpPr/>
          <p:nvPr/>
        </p:nvSpPr>
        <p:spPr>
          <a:xfrm>
            <a:off x="1332689" y="1752621"/>
            <a:ext cx="4264023" cy="780598"/>
          </a:xfrm>
          <a:prstGeom prst="rect">
            <a:avLst/>
          </a:prstGeom>
        </p:spPr>
        <p:txBody>
          <a:bodyPr wrap="square" lIns="243840" tIns="45720" rIns="243840" bIns="97536" anchor="t">
            <a:spAutoFit/>
          </a:bodyPr>
          <a:lstStyle/>
          <a:p>
            <a:pPr>
              <a:lnSpc>
                <a:spcPct val="95000"/>
              </a:lnSpc>
            </a:pPr>
            <a:r>
              <a:rPr lang="en-US" sz="1450">
                <a:ea typeface="+mn-lt"/>
                <a:cs typeface="+mn-lt"/>
              </a:rPr>
              <a:t>If the </a:t>
            </a:r>
            <a:r>
              <a:rPr lang="en-US" sz="1450" b="1">
                <a:ea typeface="+mn-lt"/>
                <a:cs typeface="+mn-lt"/>
              </a:rPr>
              <a:t>interaction </a:t>
            </a:r>
            <a:r>
              <a:rPr lang="en-US" sz="1450">
                <a:ea typeface="+mn-lt"/>
                <a:cs typeface="+mn-lt"/>
              </a:rPr>
              <a:t>is driven by </a:t>
            </a:r>
            <a:r>
              <a:rPr lang="en-US" sz="1450" b="1">
                <a:ea typeface="+mn-lt"/>
                <a:cs typeface="+mn-lt"/>
              </a:rPr>
              <a:t>rational updating</a:t>
            </a:r>
            <a:r>
              <a:rPr lang="en-US" sz="1450">
                <a:ea typeface="+mn-lt"/>
                <a:cs typeface="+mn-lt"/>
              </a:rPr>
              <a:t>, perceived </a:t>
            </a:r>
            <a:r>
              <a:rPr lang="en-US" sz="1450" b="1">
                <a:ea typeface="+mn-lt"/>
                <a:cs typeface="+mn-lt"/>
              </a:rPr>
              <a:t>learning potential </a:t>
            </a:r>
            <a:r>
              <a:rPr lang="en-US" sz="1450">
                <a:ea typeface="+mn-lt"/>
                <a:cs typeface="+mn-lt"/>
              </a:rPr>
              <a:t>will mediate the </a:t>
            </a:r>
            <a:r>
              <a:rPr lang="en-US" sz="1450" b="1">
                <a:ea typeface="+mn-lt"/>
                <a:cs typeface="+mn-lt"/>
              </a:rPr>
              <a:t>Skill × Near-Miss </a:t>
            </a:r>
            <a:r>
              <a:rPr lang="en-US" sz="1450">
                <a:ea typeface="+mn-lt"/>
                <a:cs typeface="+mn-lt"/>
              </a:rPr>
              <a:t>interaction</a:t>
            </a:r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1332689" y="2789521"/>
            <a:ext cx="4256625" cy="780598"/>
          </a:xfrm>
          <a:prstGeom prst="rect">
            <a:avLst/>
          </a:prstGeom>
        </p:spPr>
        <p:txBody>
          <a:bodyPr wrap="square" lIns="243840" tIns="45720" rIns="243840" bIns="97536" anchor="t">
            <a:spAutoFit/>
          </a:bodyPr>
          <a:lstStyle/>
          <a:p>
            <a:pPr>
              <a:lnSpc>
                <a:spcPct val="95000"/>
              </a:lnSpc>
            </a:pPr>
            <a:r>
              <a:rPr lang="en-US" sz="1450">
                <a:ea typeface="+mn-lt"/>
                <a:cs typeface="+mn-lt"/>
              </a:rPr>
              <a:t>In the </a:t>
            </a:r>
            <a:r>
              <a:rPr lang="en-US" sz="1450" b="1">
                <a:ea typeface="+mn-lt"/>
                <a:cs typeface="+mn-lt"/>
              </a:rPr>
              <a:t>skill-framed </a:t>
            </a:r>
            <a:r>
              <a:rPr lang="en-US" sz="1450">
                <a:ea typeface="+mn-lt"/>
                <a:cs typeface="+mn-lt"/>
              </a:rPr>
              <a:t>condition, </a:t>
            </a:r>
            <a:r>
              <a:rPr lang="en-US" sz="1450" b="1">
                <a:ea typeface="+mn-lt"/>
                <a:cs typeface="+mn-lt"/>
              </a:rPr>
              <a:t>near-miss </a:t>
            </a:r>
            <a:r>
              <a:rPr lang="en-US" sz="1450">
                <a:ea typeface="+mn-lt"/>
                <a:cs typeface="+mn-lt"/>
              </a:rPr>
              <a:t>feedback will produce significantly </a:t>
            </a:r>
            <a:r>
              <a:rPr lang="en-US" sz="1450" b="1">
                <a:ea typeface="+mn-lt"/>
                <a:cs typeface="+mn-lt"/>
              </a:rPr>
              <a:t>higher persistence </a:t>
            </a:r>
            <a:r>
              <a:rPr lang="en-US" sz="1450">
                <a:ea typeface="+mn-lt"/>
                <a:cs typeface="+mn-lt"/>
              </a:rPr>
              <a:t>than </a:t>
            </a:r>
            <a:r>
              <a:rPr lang="en-US" sz="1450" b="1">
                <a:ea typeface="+mn-lt"/>
                <a:cs typeface="+mn-lt"/>
              </a:rPr>
              <a:t>clear-loss </a:t>
            </a:r>
            <a:r>
              <a:rPr lang="en-US" sz="1450">
                <a:ea typeface="+mn-lt"/>
                <a:cs typeface="+mn-lt"/>
              </a:rPr>
              <a:t>feedback</a:t>
            </a:r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1332689" y="3878532"/>
            <a:ext cx="4264023" cy="1204561"/>
          </a:xfrm>
          <a:prstGeom prst="rect">
            <a:avLst/>
          </a:prstGeom>
        </p:spPr>
        <p:txBody>
          <a:bodyPr wrap="square" lIns="243840" tIns="45720" rIns="243840" bIns="97536" anchor="t">
            <a:spAutoFit/>
          </a:bodyPr>
          <a:lstStyle/>
          <a:p>
            <a:pPr>
              <a:lnSpc>
                <a:spcPct val="95000"/>
              </a:lnSpc>
            </a:pPr>
            <a:r>
              <a:rPr lang="en-US" sz="1450">
                <a:ea typeface="+mn-lt"/>
                <a:cs typeface="+mn-lt"/>
              </a:rPr>
              <a:t>In the </a:t>
            </a:r>
            <a:r>
              <a:rPr lang="en-US" sz="1450" b="1">
                <a:ea typeface="+mn-lt"/>
                <a:cs typeface="+mn-lt"/>
              </a:rPr>
              <a:t>luck-framed </a:t>
            </a:r>
            <a:r>
              <a:rPr lang="en-US" sz="1450">
                <a:ea typeface="+mn-lt"/>
                <a:cs typeface="+mn-lt"/>
              </a:rPr>
              <a:t>condition, </a:t>
            </a:r>
            <a:r>
              <a:rPr lang="en-US" sz="1450" b="1">
                <a:ea typeface="+mn-lt"/>
                <a:cs typeface="+mn-lt"/>
              </a:rPr>
              <a:t>near-miss </a:t>
            </a:r>
            <a:r>
              <a:rPr lang="en-US" sz="1450">
                <a:ea typeface="+mn-lt"/>
                <a:cs typeface="+mn-lt"/>
              </a:rPr>
              <a:t>feedback will produce </a:t>
            </a:r>
            <a:r>
              <a:rPr lang="en-US" sz="1450" b="1">
                <a:ea typeface="+mn-lt"/>
                <a:cs typeface="+mn-lt"/>
              </a:rPr>
              <a:t>higher persistence </a:t>
            </a:r>
            <a:r>
              <a:rPr lang="en-US" sz="1450">
                <a:ea typeface="+mn-lt"/>
                <a:cs typeface="+mn-lt"/>
              </a:rPr>
              <a:t>than </a:t>
            </a:r>
            <a:r>
              <a:rPr lang="en-US" sz="1450" b="1">
                <a:ea typeface="+mn-lt"/>
                <a:cs typeface="+mn-lt"/>
              </a:rPr>
              <a:t>clear-loss </a:t>
            </a:r>
            <a:r>
              <a:rPr lang="en-US" sz="1450">
                <a:ea typeface="+mn-lt"/>
                <a:cs typeface="+mn-lt"/>
              </a:rPr>
              <a:t>feedback, but this difference will be </a:t>
            </a:r>
            <a:r>
              <a:rPr lang="en-US" sz="1450" b="1">
                <a:ea typeface="+mn-lt"/>
                <a:cs typeface="+mn-lt"/>
              </a:rPr>
              <a:t>smaller than in H2 </a:t>
            </a:r>
            <a:r>
              <a:rPr lang="en-US" sz="1450">
                <a:ea typeface="+mn-lt"/>
                <a:cs typeface="+mn-lt"/>
              </a:rPr>
              <a:t>(or potentially </a:t>
            </a:r>
            <a:endParaRPr lang="en-US">
              <a:ea typeface="+mn-lt"/>
              <a:cs typeface="+mn-lt"/>
            </a:endParaRPr>
          </a:p>
          <a:p>
            <a:pPr>
              <a:lnSpc>
                <a:spcPct val="95000"/>
              </a:lnSpc>
            </a:pPr>
            <a:r>
              <a:rPr lang="en-US" sz="1450">
                <a:ea typeface="+mn-lt"/>
                <a:cs typeface="+mn-lt"/>
              </a:rPr>
              <a:t>non-significant)</a:t>
            </a:r>
            <a:endParaRPr lang="en-US">
              <a:ea typeface="Open Sans Light"/>
              <a:cs typeface="Open Sans Light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711201" y="2724865"/>
            <a:ext cx="753095" cy="753088"/>
            <a:chOff x="711201" y="2532515"/>
            <a:chExt cx="753095" cy="753088"/>
          </a:xfrm>
        </p:grpSpPr>
        <p:sp>
          <p:nvSpPr>
            <p:cNvPr id="42" name="Oval 12"/>
            <p:cNvSpPr>
              <a:spLocks noChangeArrowheads="1"/>
            </p:cNvSpPr>
            <p:nvPr/>
          </p:nvSpPr>
          <p:spPr bwMode="auto">
            <a:xfrm>
              <a:off x="711201" y="2532515"/>
              <a:ext cx="753095" cy="75308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6464" y="2763940"/>
              <a:ext cx="502565" cy="290241"/>
            </a:xfrm>
            <a:prstGeom prst="rect">
              <a:avLst/>
            </a:prstGeom>
          </p:spPr>
        </p:pic>
      </p:grpSp>
      <p:grpSp>
        <p:nvGrpSpPr>
          <p:cNvPr id="11" name="Group 10"/>
          <p:cNvGrpSpPr/>
          <p:nvPr/>
        </p:nvGrpSpPr>
        <p:grpSpPr>
          <a:xfrm>
            <a:off x="711201" y="3780739"/>
            <a:ext cx="753095" cy="753088"/>
            <a:chOff x="711201" y="3381244"/>
            <a:chExt cx="753095" cy="753088"/>
          </a:xfrm>
        </p:grpSpPr>
        <p:sp>
          <p:nvSpPr>
            <p:cNvPr id="44" name="Oval 12"/>
            <p:cNvSpPr>
              <a:spLocks noChangeArrowheads="1"/>
            </p:cNvSpPr>
            <p:nvPr/>
          </p:nvSpPr>
          <p:spPr bwMode="auto">
            <a:xfrm>
              <a:off x="711201" y="3381244"/>
              <a:ext cx="753095" cy="753088"/>
            </a:xfrm>
            <a:prstGeom prst="ellipse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/>
            </a:p>
          </p:txBody>
        </p:sp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8649" y="3534720"/>
              <a:ext cx="298195" cy="446136"/>
            </a:xfrm>
            <a:prstGeom prst="rect">
              <a:avLst/>
            </a:prstGeom>
          </p:spPr>
        </p:pic>
      </p:grpSp>
      <p:grpSp>
        <p:nvGrpSpPr>
          <p:cNvPr id="13" name="Group 12"/>
          <p:cNvGrpSpPr/>
          <p:nvPr/>
        </p:nvGrpSpPr>
        <p:grpSpPr>
          <a:xfrm>
            <a:off x="711201" y="5077586"/>
            <a:ext cx="753095" cy="753088"/>
            <a:chOff x="711201" y="4219411"/>
            <a:chExt cx="753095" cy="753088"/>
          </a:xfrm>
        </p:grpSpPr>
        <p:sp>
          <p:nvSpPr>
            <p:cNvPr id="46" name="Oval 12"/>
            <p:cNvSpPr>
              <a:spLocks noChangeArrowheads="1"/>
            </p:cNvSpPr>
            <p:nvPr/>
          </p:nvSpPr>
          <p:spPr bwMode="auto">
            <a:xfrm>
              <a:off x="711201" y="4219411"/>
              <a:ext cx="753095" cy="75308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/>
            </a:p>
          </p:txBody>
        </p:sp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7444" y="4461175"/>
              <a:ext cx="500609" cy="269560"/>
            </a:xfrm>
            <a:prstGeom prst="rect">
              <a:avLst/>
            </a:prstGeom>
          </p:spPr>
        </p:pic>
      </p:grpSp>
      <p:sp>
        <p:nvSpPr>
          <p:cNvPr id="49" name="Oval 12"/>
          <p:cNvSpPr>
            <a:spLocks noChangeArrowheads="1"/>
          </p:cNvSpPr>
          <p:nvPr/>
        </p:nvSpPr>
        <p:spPr bwMode="auto">
          <a:xfrm>
            <a:off x="711201" y="1701801"/>
            <a:ext cx="753095" cy="753087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6B0067-CBB5-D3B5-085C-0906E37A3BF6}"/>
              </a:ext>
            </a:extLst>
          </p:cNvPr>
          <p:cNvSpPr txBox="1"/>
          <p:nvPr/>
        </p:nvSpPr>
        <p:spPr>
          <a:xfrm>
            <a:off x="103573" y="6288348"/>
            <a:ext cx="1893902" cy="369332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C9E6A2-B9BE-BBE9-93AB-AC68657BA122}"/>
              </a:ext>
            </a:extLst>
          </p:cNvPr>
          <p:cNvSpPr txBox="1"/>
          <p:nvPr/>
        </p:nvSpPr>
        <p:spPr>
          <a:xfrm>
            <a:off x="8360150" y="6211557"/>
            <a:ext cx="3580659" cy="524691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  <p:sp>
        <p:nvSpPr>
          <p:cNvPr id="54" name="Rectangle 53"/>
          <p:cNvSpPr/>
          <p:nvPr/>
        </p:nvSpPr>
        <p:spPr>
          <a:xfrm>
            <a:off x="1332689" y="5197342"/>
            <a:ext cx="4264022" cy="992579"/>
          </a:xfrm>
          <a:prstGeom prst="rect">
            <a:avLst/>
          </a:prstGeom>
        </p:spPr>
        <p:txBody>
          <a:bodyPr wrap="square" lIns="243840" tIns="45720" rIns="243840" bIns="97536" anchor="t">
            <a:spAutoFit/>
          </a:bodyPr>
          <a:lstStyle/>
          <a:p>
            <a:pPr>
              <a:lnSpc>
                <a:spcPct val="95000"/>
              </a:lnSpc>
            </a:pPr>
            <a:r>
              <a:rPr lang="en-US" sz="1450">
                <a:ea typeface="+mn-lt"/>
                <a:cs typeface="+mn-lt"/>
              </a:rPr>
              <a:t>The </a:t>
            </a:r>
            <a:r>
              <a:rPr lang="en-US" sz="1450" b="1">
                <a:ea typeface="+mn-lt"/>
                <a:cs typeface="+mn-lt"/>
              </a:rPr>
              <a:t>difference in persistence </a:t>
            </a:r>
            <a:r>
              <a:rPr lang="en-US" sz="1450">
                <a:ea typeface="+mn-lt"/>
                <a:cs typeface="+mn-lt"/>
              </a:rPr>
              <a:t>between near-miss and clear-loss feedback will be significantly </a:t>
            </a:r>
            <a:r>
              <a:rPr lang="en-US" sz="1450" b="1">
                <a:ea typeface="+mn-lt"/>
                <a:cs typeface="+mn-lt"/>
              </a:rPr>
              <a:t>larger </a:t>
            </a:r>
            <a:r>
              <a:rPr lang="en-US" sz="1450">
                <a:ea typeface="+mn-lt"/>
                <a:cs typeface="+mn-lt"/>
              </a:rPr>
              <a:t>in the </a:t>
            </a:r>
            <a:r>
              <a:rPr lang="en-US" sz="1450" b="1">
                <a:ea typeface="+mn-lt"/>
                <a:cs typeface="+mn-lt"/>
              </a:rPr>
              <a:t>skill-framed condition </a:t>
            </a:r>
            <a:r>
              <a:rPr lang="en-US" sz="1450">
                <a:ea typeface="+mn-lt"/>
                <a:cs typeface="+mn-lt"/>
              </a:rPr>
              <a:t>than in the luck-framed condition</a:t>
            </a:r>
            <a:endParaRPr lang="en-US"/>
          </a:p>
        </p:txBody>
      </p:sp>
      <p:sp>
        <p:nvSpPr>
          <p:cNvPr id="48" name="Freeform 109">
            <a:extLst>
              <a:ext uri="{FF2B5EF4-FFF2-40B4-BE49-F238E27FC236}">
                <a16:creationId xmlns:a16="http://schemas.microsoft.com/office/drawing/2014/main" id="{FC22EFAB-47C6-F037-949D-35F045898A44}"/>
              </a:ext>
            </a:extLst>
          </p:cNvPr>
          <p:cNvSpPr>
            <a:spLocks noEditPoints="1"/>
          </p:cNvSpPr>
          <p:nvPr/>
        </p:nvSpPr>
        <p:spPr bwMode="auto">
          <a:xfrm>
            <a:off x="799770" y="1783240"/>
            <a:ext cx="572834" cy="594011"/>
          </a:xfrm>
          <a:custGeom>
            <a:avLst/>
            <a:gdLst>
              <a:gd name="T0" fmla="*/ 431 w 692"/>
              <a:gd name="T1" fmla="*/ 165 h 693"/>
              <a:gd name="T2" fmla="*/ 350 w 692"/>
              <a:gd name="T3" fmla="*/ 245 h 693"/>
              <a:gd name="T4" fmla="*/ 349 w 692"/>
              <a:gd name="T5" fmla="*/ 246 h 693"/>
              <a:gd name="T6" fmla="*/ 348 w 692"/>
              <a:gd name="T7" fmla="*/ 246 h 693"/>
              <a:gd name="T8" fmla="*/ 345 w 692"/>
              <a:gd name="T9" fmla="*/ 246 h 693"/>
              <a:gd name="T10" fmla="*/ 343 w 692"/>
              <a:gd name="T11" fmla="*/ 246 h 693"/>
              <a:gd name="T12" fmla="*/ 342 w 692"/>
              <a:gd name="T13" fmla="*/ 245 h 693"/>
              <a:gd name="T14" fmla="*/ 262 w 692"/>
              <a:gd name="T15" fmla="*/ 165 h 693"/>
              <a:gd name="T16" fmla="*/ 272 w 692"/>
              <a:gd name="T17" fmla="*/ 155 h 693"/>
              <a:gd name="T18" fmla="*/ 339 w 692"/>
              <a:gd name="T19" fmla="*/ 7 h 693"/>
              <a:gd name="T20" fmla="*/ 353 w 692"/>
              <a:gd name="T21" fmla="*/ 7 h 693"/>
              <a:gd name="T22" fmla="*/ 421 w 692"/>
              <a:gd name="T23" fmla="*/ 155 h 693"/>
              <a:gd name="T24" fmla="*/ 351 w 692"/>
              <a:gd name="T25" fmla="*/ 449 h 693"/>
              <a:gd name="T26" fmla="*/ 341 w 692"/>
              <a:gd name="T27" fmla="*/ 449 h 693"/>
              <a:gd name="T28" fmla="*/ 262 w 692"/>
              <a:gd name="T29" fmla="*/ 539 h 693"/>
              <a:gd name="T30" fmla="*/ 339 w 692"/>
              <a:gd name="T31" fmla="*/ 471 h 693"/>
              <a:gd name="T32" fmla="*/ 346 w 692"/>
              <a:gd name="T33" fmla="*/ 693 h 693"/>
              <a:gd name="T34" fmla="*/ 353 w 692"/>
              <a:gd name="T35" fmla="*/ 471 h 693"/>
              <a:gd name="T36" fmla="*/ 426 w 692"/>
              <a:gd name="T37" fmla="*/ 541 h 693"/>
              <a:gd name="T38" fmla="*/ 431 w 692"/>
              <a:gd name="T39" fmla="*/ 529 h 693"/>
              <a:gd name="T40" fmla="*/ 685 w 692"/>
              <a:gd name="T41" fmla="*/ 340 h 693"/>
              <a:gd name="T42" fmla="*/ 538 w 692"/>
              <a:gd name="T43" fmla="*/ 272 h 693"/>
              <a:gd name="T44" fmla="*/ 528 w 692"/>
              <a:gd name="T45" fmla="*/ 262 h 693"/>
              <a:gd name="T46" fmla="*/ 448 w 692"/>
              <a:gd name="T47" fmla="*/ 343 h 693"/>
              <a:gd name="T48" fmla="*/ 447 w 692"/>
              <a:gd name="T49" fmla="*/ 344 h 693"/>
              <a:gd name="T50" fmla="*/ 447 w 692"/>
              <a:gd name="T51" fmla="*/ 345 h 693"/>
              <a:gd name="T52" fmla="*/ 447 w 692"/>
              <a:gd name="T53" fmla="*/ 348 h 693"/>
              <a:gd name="T54" fmla="*/ 447 w 692"/>
              <a:gd name="T55" fmla="*/ 349 h 693"/>
              <a:gd name="T56" fmla="*/ 448 w 692"/>
              <a:gd name="T57" fmla="*/ 351 h 693"/>
              <a:gd name="T58" fmla="*/ 528 w 692"/>
              <a:gd name="T59" fmla="*/ 431 h 693"/>
              <a:gd name="T60" fmla="*/ 538 w 692"/>
              <a:gd name="T61" fmla="*/ 431 h 693"/>
              <a:gd name="T62" fmla="*/ 471 w 692"/>
              <a:gd name="T63" fmla="*/ 354 h 693"/>
              <a:gd name="T64" fmla="*/ 692 w 692"/>
              <a:gd name="T65" fmla="*/ 347 h 693"/>
              <a:gd name="T66" fmla="*/ 245 w 692"/>
              <a:gd name="T67" fmla="*/ 349 h 693"/>
              <a:gd name="T68" fmla="*/ 246 w 692"/>
              <a:gd name="T69" fmla="*/ 348 h 693"/>
              <a:gd name="T70" fmla="*/ 246 w 692"/>
              <a:gd name="T71" fmla="*/ 345 h 693"/>
              <a:gd name="T72" fmla="*/ 245 w 692"/>
              <a:gd name="T73" fmla="*/ 344 h 693"/>
              <a:gd name="T74" fmla="*/ 244 w 692"/>
              <a:gd name="T75" fmla="*/ 343 h 693"/>
              <a:gd name="T76" fmla="*/ 164 w 692"/>
              <a:gd name="T77" fmla="*/ 262 h 693"/>
              <a:gd name="T78" fmla="*/ 154 w 692"/>
              <a:gd name="T79" fmla="*/ 272 h 693"/>
              <a:gd name="T80" fmla="*/ 7 w 692"/>
              <a:gd name="T81" fmla="*/ 340 h 693"/>
              <a:gd name="T82" fmla="*/ 7 w 692"/>
              <a:gd name="T83" fmla="*/ 354 h 693"/>
              <a:gd name="T84" fmla="*/ 154 w 692"/>
              <a:gd name="T85" fmla="*/ 421 h 693"/>
              <a:gd name="T86" fmla="*/ 159 w 692"/>
              <a:gd name="T87" fmla="*/ 433 h 693"/>
              <a:gd name="T88" fmla="*/ 244 w 692"/>
              <a:gd name="T89" fmla="*/ 352 h 693"/>
              <a:gd name="T90" fmla="*/ 245 w 692"/>
              <a:gd name="T91" fmla="*/ 350 h 693"/>
              <a:gd name="T92" fmla="*/ 346 w 692"/>
              <a:gd name="T93" fmla="*/ 371 h 693"/>
              <a:gd name="T94" fmla="*/ 346 w 692"/>
              <a:gd name="T95" fmla="*/ 323 h 693"/>
              <a:gd name="T96" fmla="*/ 346 w 692"/>
              <a:gd name="T97" fmla="*/ 371 h 693"/>
              <a:gd name="T98" fmla="*/ 356 w 692"/>
              <a:gd name="T99" fmla="*/ 347 h 693"/>
              <a:gd name="T100" fmla="*/ 336 w 692"/>
              <a:gd name="T101" fmla="*/ 347 h 6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692" h="693">
                <a:moveTo>
                  <a:pt x="431" y="155"/>
                </a:moveTo>
                <a:cubicBezTo>
                  <a:pt x="433" y="158"/>
                  <a:pt x="433" y="162"/>
                  <a:pt x="431" y="165"/>
                </a:cubicBezTo>
                <a:cubicBezTo>
                  <a:pt x="351" y="244"/>
                  <a:pt x="351" y="244"/>
                  <a:pt x="351" y="244"/>
                </a:cubicBezTo>
                <a:cubicBezTo>
                  <a:pt x="351" y="245"/>
                  <a:pt x="350" y="245"/>
                  <a:pt x="350" y="245"/>
                </a:cubicBezTo>
                <a:cubicBezTo>
                  <a:pt x="350" y="245"/>
                  <a:pt x="350" y="245"/>
                  <a:pt x="350" y="245"/>
                </a:cubicBezTo>
                <a:cubicBezTo>
                  <a:pt x="349" y="246"/>
                  <a:pt x="349" y="246"/>
                  <a:pt x="349" y="246"/>
                </a:cubicBezTo>
                <a:cubicBezTo>
                  <a:pt x="349" y="246"/>
                  <a:pt x="348" y="246"/>
                  <a:pt x="348" y="246"/>
                </a:cubicBezTo>
                <a:cubicBezTo>
                  <a:pt x="348" y="246"/>
                  <a:pt x="348" y="246"/>
                  <a:pt x="348" y="246"/>
                </a:cubicBezTo>
                <a:cubicBezTo>
                  <a:pt x="347" y="246"/>
                  <a:pt x="347" y="246"/>
                  <a:pt x="346" y="246"/>
                </a:cubicBezTo>
                <a:cubicBezTo>
                  <a:pt x="346" y="246"/>
                  <a:pt x="345" y="246"/>
                  <a:pt x="345" y="246"/>
                </a:cubicBezTo>
                <a:cubicBezTo>
                  <a:pt x="345" y="246"/>
                  <a:pt x="344" y="246"/>
                  <a:pt x="344" y="246"/>
                </a:cubicBezTo>
                <a:cubicBezTo>
                  <a:pt x="344" y="246"/>
                  <a:pt x="344" y="246"/>
                  <a:pt x="343" y="246"/>
                </a:cubicBezTo>
                <a:cubicBezTo>
                  <a:pt x="343" y="246"/>
                  <a:pt x="343" y="246"/>
                  <a:pt x="343" y="245"/>
                </a:cubicBezTo>
                <a:cubicBezTo>
                  <a:pt x="343" y="245"/>
                  <a:pt x="342" y="245"/>
                  <a:pt x="342" y="245"/>
                </a:cubicBezTo>
                <a:cubicBezTo>
                  <a:pt x="342" y="245"/>
                  <a:pt x="342" y="245"/>
                  <a:pt x="341" y="244"/>
                </a:cubicBezTo>
                <a:cubicBezTo>
                  <a:pt x="262" y="165"/>
                  <a:pt x="262" y="165"/>
                  <a:pt x="262" y="165"/>
                </a:cubicBezTo>
                <a:cubicBezTo>
                  <a:pt x="259" y="162"/>
                  <a:pt x="259" y="158"/>
                  <a:pt x="262" y="155"/>
                </a:cubicBezTo>
                <a:cubicBezTo>
                  <a:pt x="264" y="152"/>
                  <a:pt x="269" y="152"/>
                  <a:pt x="272" y="155"/>
                </a:cubicBezTo>
                <a:cubicBezTo>
                  <a:pt x="339" y="222"/>
                  <a:pt x="339" y="222"/>
                  <a:pt x="339" y="222"/>
                </a:cubicBezTo>
                <a:cubicBezTo>
                  <a:pt x="339" y="7"/>
                  <a:pt x="339" y="7"/>
                  <a:pt x="339" y="7"/>
                </a:cubicBezTo>
                <a:cubicBezTo>
                  <a:pt x="339" y="4"/>
                  <a:pt x="342" y="0"/>
                  <a:pt x="346" y="0"/>
                </a:cubicBezTo>
                <a:cubicBezTo>
                  <a:pt x="350" y="0"/>
                  <a:pt x="353" y="4"/>
                  <a:pt x="353" y="7"/>
                </a:cubicBezTo>
                <a:cubicBezTo>
                  <a:pt x="353" y="222"/>
                  <a:pt x="353" y="222"/>
                  <a:pt x="353" y="222"/>
                </a:cubicBezTo>
                <a:cubicBezTo>
                  <a:pt x="421" y="155"/>
                  <a:pt x="421" y="155"/>
                  <a:pt x="421" y="155"/>
                </a:cubicBezTo>
                <a:cubicBezTo>
                  <a:pt x="423" y="152"/>
                  <a:pt x="428" y="152"/>
                  <a:pt x="431" y="155"/>
                </a:cubicBezTo>
                <a:close/>
                <a:moveTo>
                  <a:pt x="351" y="449"/>
                </a:moveTo>
                <a:cubicBezTo>
                  <a:pt x="350" y="448"/>
                  <a:pt x="348" y="447"/>
                  <a:pt x="346" y="447"/>
                </a:cubicBezTo>
                <a:cubicBezTo>
                  <a:pt x="344" y="447"/>
                  <a:pt x="342" y="448"/>
                  <a:pt x="341" y="449"/>
                </a:cubicBezTo>
                <a:cubicBezTo>
                  <a:pt x="262" y="529"/>
                  <a:pt x="262" y="529"/>
                  <a:pt x="262" y="529"/>
                </a:cubicBezTo>
                <a:cubicBezTo>
                  <a:pt x="259" y="532"/>
                  <a:pt x="259" y="536"/>
                  <a:pt x="262" y="539"/>
                </a:cubicBezTo>
                <a:cubicBezTo>
                  <a:pt x="264" y="542"/>
                  <a:pt x="269" y="542"/>
                  <a:pt x="272" y="539"/>
                </a:cubicBezTo>
                <a:cubicBezTo>
                  <a:pt x="339" y="471"/>
                  <a:pt x="339" y="471"/>
                  <a:pt x="339" y="471"/>
                </a:cubicBezTo>
                <a:cubicBezTo>
                  <a:pt x="339" y="686"/>
                  <a:pt x="339" y="686"/>
                  <a:pt x="339" y="686"/>
                </a:cubicBezTo>
                <a:cubicBezTo>
                  <a:pt x="339" y="690"/>
                  <a:pt x="342" y="693"/>
                  <a:pt x="346" y="693"/>
                </a:cubicBezTo>
                <a:cubicBezTo>
                  <a:pt x="350" y="693"/>
                  <a:pt x="353" y="690"/>
                  <a:pt x="353" y="686"/>
                </a:cubicBezTo>
                <a:cubicBezTo>
                  <a:pt x="353" y="471"/>
                  <a:pt x="353" y="471"/>
                  <a:pt x="353" y="471"/>
                </a:cubicBezTo>
                <a:cubicBezTo>
                  <a:pt x="421" y="539"/>
                  <a:pt x="421" y="539"/>
                  <a:pt x="421" y="539"/>
                </a:cubicBezTo>
                <a:cubicBezTo>
                  <a:pt x="422" y="540"/>
                  <a:pt x="424" y="541"/>
                  <a:pt x="426" y="541"/>
                </a:cubicBezTo>
                <a:cubicBezTo>
                  <a:pt x="427" y="541"/>
                  <a:pt x="429" y="540"/>
                  <a:pt x="431" y="539"/>
                </a:cubicBezTo>
                <a:cubicBezTo>
                  <a:pt x="433" y="536"/>
                  <a:pt x="433" y="532"/>
                  <a:pt x="431" y="529"/>
                </a:cubicBezTo>
                <a:lnTo>
                  <a:pt x="351" y="449"/>
                </a:lnTo>
                <a:close/>
                <a:moveTo>
                  <a:pt x="685" y="340"/>
                </a:moveTo>
                <a:cubicBezTo>
                  <a:pt x="471" y="340"/>
                  <a:pt x="471" y="340"/>
                  <a:pt x="471" y="340"/>
                </a:cubicBezTo>
                <a:cubicBezTo>
                  <a:pt x="538" y="272"/>
                  <a:pt x="538" y="272"/>
                  <a:pt x="538" y="272"/>
                </a:cubicBezTo>
                <a:cubicBezTo>
                  <a:pt x="541" y="269"/>
                  <a:pt x="541" y="265"/>
                  <a:pt x="538" y="262"/>
                </a:cubicBezTo>
                <a:cubicBezTo>
                  <a:pt x="535" y="260"/>
                  <a:pt x="531" y="260"/>
                  <a:pt x="528" y="262"/>
                </a:cubicBezTo>
                <a:cubicBezTo>
                  <a:pt x="449" y="342"/>
                  <a:pt x="449" y="342"/>
                  <a:pt x="449" y="342"/>
                </a:cubicBezTo>
                <a:cubicBezTo>
                  <a:pt x="448" y="342"/>
                  <a:pt x="448" y="343"/>
                  <a:pt x="448" y="343"/>
                </a:cubicBezTo>
                <a:cubicBezTo>
                  <a:pt x="448" y="343"/>
                  <a:pt x="448" y="343"/>
                  <a:pt x="448" y="343"/>
                </a:cubicBezTo>
                <a:cubicBezTo>
                  <a:pt x="448" y="343"/>
                  <a:pt x="447" y="344"/>
                  <a:pt x="447" y="344"/>
                </a:cubicBezTo>
                <a:cubicBezTo>
                  <a:pt x="447" y="344"/>
                  <a:pt x="447" y="344"/>
                  <a:pt x="447" y="344"/>
                </a:cubicBezTo>
                <a:cubicBezTo>
                  <a:pt x="447" y="345"/>
                  <a:pt x="447" y="345"/>
                  <a:pt x="447" y="345"/>
                </a:cubicBezTo>
                <a:cubicBezTo>
                  <a:pt x="447" y="346"/>
                  <a:pt x="447" y="346"/>
                  <a:pt x="447" y="347"/>
                </a:cubicBezTo>
                <a:cubicBezTo>
                  <a:pt x="447" y="347"/>
                  <a:pt x="447" y="348"/>
                  <a:pt x="447" y="348"/>
                </a:cubicBezTo>
                <a:cubicBezTo>
                  <a:pt x="447" y="349"/>
                  <a:pt x="447" y="349"/>
                  <a:pt x="447" y="349"/>
                </a:cubicBezTo>
                <a:cubicBezTo>
                  <a:pt x="447" y="349"/>
                  <a:pt x="447" y="349"/>
                  <a:pt x="447" y="349"/>
                </a:cubicBezTo>
                <a:cubicBezTo>
                  <a:pt x="447" y="350"/>
                  <a:pt x="448" y="350"/>
                  <a:pt x="448" y="351"/>
                </a:cubicBezTo>
                <a:cubicBezTo>
                  <a:pt x="448" y="351"/>
                  <a:pt x="448" y="351"/>
                  <a:pt x="448" y="351"/>
                </a:cubicBezTo>
                <a:cubicBezTo>
                  <a:pt x="448" y="351"/>
                  <a:pt x="448" y="351"/>
                  <a:pt x="449" y="352"/>
                </a:cubicBezTo>
                <a:cubicBezTo>
                  <a:pt x="528" y="431"/>
                  <a:pt x="528" y="431"/>
                  <a:pt x="528" y="431"/>
                </a:cubicBezTo>
                <a:cubicBezTo>
                  <a:pt x="530" y="433"/>
                  <a:pt x="531" y="433"/>
                  <a:pt x="533" y="433"/>
                </a:cubicBezTo>
                <a:cubicBezTo>
                  <a:pt x="535" y="433"/>
                  <a:pt x="537" y="433"/>
                  <a:pt x="538" y="431"/>
                </a:cubicBezTo>
                <a:cubicBezTo>
                  <a:pt x="541" y="429"/>
                  <a:pt x="541" y="424"/>
                  <a:pt x="538" y="421"/>
                </a:cubicBezTo>
                <a:cubicBezTo>
                  <a:pt x="471" y="354"/>
                  <a:pt x="471" y="354"/>
                  <a:pt x="471" y="354"/>
                </a:cubicBezTo>
                <a:cubicBezTo>
                  <a:pt x="685" y="354"/>
                  <a:pt x="685" y="354"/>
                  <a:pt x="685" y="354"/>
                </a:cubicBezTo>
                <a:cubicBezTo>
                  <a:pt x="689" y="354"/>
                  <a:pt x="692" y="351"/>
                  <a:pt x="692" y="347"/>
                </a:cubicBezTo>
                <a:cubicBezTo>
                  <a:pt x="692" y="343"/>
                  <a:pt x="689" y="340"/>
                  <a:pt x="685" y="340"/>
                </a:cubicBezTo>
                <a:close/>
                <a:moveTo>
                  <a:pt x="245" y="349"/>
                </a:moveTo>
                <a:cubicBezTo>
                  <a:pt x="245" y="349"/>
                  <a:pt x="245" y="349"/>
                  <a:pt x="245" y="349"/>
                </a:cubicBezTo>
                <a:cubicBezTo>
                  <a:pt x="245" y="349"/>
                  <a:pt x="245" y="349"/>
                  <a:pt x="246" y="348"/>
                </a:cubicBezTo>
                <a:cubicBezTo>
                  <a:pt x="246" y="348"/>
                  <a:pt x="246" y="347"/>
                  <a:pt x="246" y="347"/>
                </a:cubicBezTo>
                <a:cubicBezTo>
                  <a:pt x="246" y="346"/>
                  <a:pt x="246" y="346"/>
                  <a:pt x="246" y="345"/>
                </a:cubicBezTo>
                <a:cubicBezTo>
                  <a:pt x="245" y="345"/>
                  <a:pt x="245" y="345"/>
                  <a:pt x="245" y="344"/>
                </a:cubicBezTo>
                <a:cubicBezTo>
                  <a:pt x="245" y="344"/>
                  <a:pt x="245" y="344"/>
                  <a:pt x="245" y="344"/>
                </a:cubicBezTo>
                <a:cubicBezTo>
                  <a:pt x="245" y="344"/>
                  <a:pt x="245" y="343"/>
                  <a:pt x="245" y="343"/>
                </a:cubicBezTo>
                <a:cubicBezTo>
                  <a:pt x="245" y="343"/>
                  <a:pt x="245" y="343"/>
                  <a:pt x="244" y="343"/>
                </a:cubicBezTo>
                <a:cubicBezTo>
                  <a:pt x="244" y="343"/>
                  <a:pt x="244" y="342"/>
                  <a:pt x="244" y="342"/>
                </a:cubicBezTo>
                <a:cubicBezTo>
                  <a:pt x="164" y="262"/>
                  <a:pt x="164" y="262"/>
                  <a:pt x="164" y="262"/>
                </a:cubicBezTo>
                <a:cubicBezTo>
                  <a:pt x="161" y="260"/>
                  <a:pt x="157" y="260"/>
                  <a:pt x="154" y="262"/>
                </a:cubicBezTo>
                <a:cubicBezTo>
                  <a:pt x="151" y="265"/>
                  <a:pt x="151" y="269"/>
                  <a:pt x="154" y="272"/>
                </a:cubicBezTo>
                <a:cubicBezTo>
                  <a:pt x="222" y="340"/>
                  <a:pt x="222" y="340"/>
                  <a:pt x="222" y="340"/>
                </a:cubicBezTo>
                <a:cubicBezTo>
                  <a:pt x="7" y="340"/>
                  <a:pt x="7" y="340"/>
                  <a:pt x="7" y="340"/>
                </a:cubicBezTo>
                <a:cubicBezTo>
                  <a:pt x="3" y="340"/>
                  <a:pt x="0" y="343"/>
                  <a:pt x="0" y="347"/>
                </a:cubicBezTo>
                <a:cubicBezTo>
                  <a:pt x="0" y="351"/>
                  <a:pt x="3" y="354"/>
                  <a:pt x="7" y="354"/>
                </a:cubicBezTo>
                <a:cubicBezTo>
                  <a:pt x="222" y="354"/>
                  <a:pt x="222" y="354"/>
                  <a:pt x="222" y="354"/>
                </a:cubicBezTo>
                <a:cubicBezTo>
                  <a:pt x="154" y="421"/>
                  <a:pt x="154" y="421"/>
                  <a:pt x="154" y="421"/>
                </a:cubicBezTo>
                <a:cubicBezTo>
                  <a:pt x="151" y="424"/>
                  <a:pt x="151" y="429"/>
                  <a:pt x="154" y="431"/>
                </a:cubicBezTo>
                <a:cubicBezTo>
                  <a:pt x="156" y="433"/>
                  <a:pt x="157" y="433"/>
                  <a:pt x="159" y="433"/>
                </a:cubicBezTo>
                <a:cubicBezTo>
                  <a:pt x="161" y="433"/>
                  <a:pt x="163" y="433"/>
                  <a:pt x="164" y="431"/>
                </a:cubicBezTo>
                <a:cubicBezTo>
                  <a:pt x="244" y="352"/>
                  <a:pt x="244" y="352"/>
                  <a:pt x="244" y="352"/>
                </a:cubicBezTo>
                <a:cubicBezTo>
                  <a:pt x="244" y="351"/>
                  <a:pt x="244" y="351"/>
                  <a:pt x="244" y="351"/>
                </a:cubicBezTo>
                <a:cubicBezTo>
                  <a:pt x="245" y="351"/>
                  <a:pt x="245" y="351"/>
                  <a:pt x="245" y="350"/>
                </a:cubicBezTo>
                <a:cubicBezTo>
                  <a:pt x="245" y="350"/>
                  <a:pt x="245" y="350"/>
                  <a:pt x="245" y="349"/>
                </a:cubicBezTo>
                <a:close/>
                <a:moveTo>
                  <a:pt x="346" y="371"/>
                </a:moveTo>
                <a:cubicBezTo>
                  <a:pt x="333" y="371"/>
                  <a:pt x="322" y="360"/>
                  <a:pt x="322" y="347"/>
                </a:cubicBezTo>
                <a:cubicBezTo>
                  <a:pt x="322" y="333"/>
                  <a:pt x="333" y="323"/>
                  <a:pt x="346" y="323"/>
                </a:cubicBezTo>
                <a:cubicBezTo>
                  <a:pt x="359" y="323"/>
                  <a:pt x="370" y="333"/>
                  <a:pt x="370" y="347"/>
                </a:cubicBezTo>
                <a:cubicBezTo>
                  <a:pt x="370" y="360"/>
                  <a:pt x="359" y="371"/>
                  <a:pt x="346" y="371"/>
                </a:cubicBezTo>
                <a:close/>
                <a:moveTo>
                  <a:pt x="346" y="357"/>
                </a:moveTo>
                <a:cubicBezTo>
                  <a:pt x="352" y="357"/>
                  <a:pt x="356" y="352"/>
                  <a:pt x="356" y="347"/>
                </a:cubicBezTo>
                <a:cubicBezTo>
                  <a:pt x="356" y="341"/>
                  <a:pt x="352" y="337"/>
                  <a:pt x="346" y="337"/>
                </a:cubicBezTo>
                <a:cubicBezTo>
                  <a:pt x="341" y="337"/>
                  <a:pt x="336" y="341"/>
                  <a:pt x="336" y="347"/>
                </a:cubicBezTo>
                <a:cubicBezTo>
                  <a:pt x="336" y="352"/>
                  <a:pt x="341" y="357"/>
                  <a:pt x="346" y="35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457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decel="75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8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8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decel="75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8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8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decel="75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8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8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decel="75000" fill="hold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8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8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10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0" presetClass="entr" presetSubtype="0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8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2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2" presetClass="entr" presetSubtype="8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8" dur="2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2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22" presetClass="entr" presetSubtype="8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4" dur="2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10" presetClass="entr" presetSubtype="0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2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10" presetClass="entr" presetSubtype="0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0" dur="2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2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10" presetClass="entr" presetSubtype="0" fill="hold" grpId="0" nodeType="withEffect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6" dur="2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10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2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10" presetClass="entr" presetSubtype="0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2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10" presetClass="entr" presetSubtype="0" fill="hold" grpId="0" nodeType="withEffect">
                                      <p:stCondLst>
                                        <p:cond delay="170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5" dur="2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6" presetID="10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2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2" presetClass="entr" presetSubtype="1" fill="hold" nodeType="withEffect" p14:presetBounceEnd="61111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1111">
                                          <p:cBhvr additive="base">
                                            <p:cTn id="71" dur="9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1111">
                                          <p:cBhvr additive="base">
                                            <p:cTn id="72" dur="9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3" presetID="2" presetClass="entr" presetSubtype="1" fill="hold" nodeType="withEffect" p14:presetBounceEnd="61111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1111">
                                          <p:cBhvr additive="base">
                                            <p:cTn id="75" dur="9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1111">
                                          <p:cBhvr additive="base">
                                            <p:cTn id="76" dur="9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7" presetID="2" presetClass="entr" presetSubtype="1" fill="hold" nodeType="withEffect" p14:presetBounceEnd="61111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1111">
                                          <p:cBhvr additive="base">
                                            <p:cTn id="79" dur="9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1111">
                                          <p:cBhvr additive="base">
                                            <p:cTn id="80" dur="9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1" presetID="10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4" presetID="10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6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7" presetID="10" presetClass="entr" presetSubtype="0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9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0" presetID="10" presetClass="entr" presetSubtype="0" fill="hold" grpId="0" nodeType="withEffect">
                                      <p:stCondLst>
                                        <p:cond delay="170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2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3" grpId="0" animBg="1"/>
          <p:bldP spid="22" grpId="0" animBg="1"/>
          <p:bldP spid="24" grpId="0" animBg="1"/>
          <p:bldP spid="21" grpId="0" animBg="1"/>
          <p:bldP spid="17" grpId="0"/>
          <p:bldP spid="18" grpId="0"/>
          <p:bldP spid="19" grpId="0"/>
          <p:bldP spid="33" grpId="0"/>
          <p:bldP spid="34" grpId="0"/>
          <p:bldP spid="35" grpId="0"/>
          <p:bldP spid="36" grpId="0"/>
          <p:bldP spid="37" grpId="0"/>
          <p:bldP spid="38" grpId="0"/>
          <p:bldP spid="39" grpId="0"/>
          <p:bldP spid="40" grpId="0"/>
          <p:bldP spid="41" grpId="0"/>
          <p:bldP spid="51" grpId="0"/>
          <p:bldP spid="52" grpId="0"/>
          <p:bldP spid="53" grpId="0"/>
          <p:bldP spid="54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decel="75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8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8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decel="75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8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8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decel="75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8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8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decel="75000" fill="hold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8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8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10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0" presetClass="entr" presetSubtype="0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8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2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2" presetClass="entr" presetSubtype="8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8" dur="2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2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22" presetClass="entr" presetSubtype="8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4" dur="2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10" presetClass="entr" presetSubtype="0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2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10" presetClass="entr" presetSubtype="0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0" dur="2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2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10" presetClass="entr" presetSubtype="0" fill="hold" grpId="0" nodeType="withEffect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6" dur="2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10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2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10" presetClass="entr" presetSubtype="0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2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10" presetClass="entr" presetSubtype="0" fill="hold" grpId="0" nodeType="withEffect">
                                      <p:stCondLst>
                                        <p:cond delay="170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5" dur="2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6" presetID="10" presetClass="entr" presetSubtype="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2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2" presetClass="entr" presetSubtype="1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1" dur="9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2" dur="9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3" presetID="2" presetClass="entr" presetSubtype="1" fill="hold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5" dur="9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6" dur="9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7" presetID="2" presetClass="entr" presetSubtype="1" fill="hold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9" dur="9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0" dur="9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1" presetID="10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4" presetID="10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6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7" presetID="10" presetClass="entr" presetSubtype="0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9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0" presetID="10" presetClass="entr" presetSubtype="0" fill="hold" grpId="0" nodeType="withEffect">
                                      <p:stCondLst>
                                        <p:cond delay="170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2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3" grpId="0" animBg="1"/>
          <p:bldP spid="22" grpId="0" animBg="1"/>
          <p:bldP spid="24" grpId="0" animBg="1"/>
          <p:bldP spid="21" grpId="0" animBg="1"/>
          <p:bldP spid="17" grpId="0"/>
          <p:bldP spid="18" grpId="0"/>
          <p:bldP spid="19" grpId="0"/>
          <p:bldP spid="33" grpId="0"/>
          <p:bldP spid="34" grpId="0"/>
          <p:bldP spid="35" grpId="0"/>
          <p:bldP spid="36" grpId="0"/>
          <p:bldP spid="37" grpId="0"/>
          <p:bldP spid="38" grpId="0"/>
          <p:bldP spid="39" grpId="0"/>
          <p:bldP spid="40" grpId="0"/>
          <p:bldP spid="41" grpId="0"/>
          <p:bldP spid="51" grpId="0"/>
          <p:bldP spid="52" grpId="0"/>
          <p:bldP spid="53" grpId="0"/>
          <p:bldP spid="54" grpId="0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32F20-87E3-A076-A40F-73F8EA3C9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67C5A-1F9B-E4F6-86A2-F332A2086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ctr">
            <a:noAutofit/>
          </a:bodyPr>
          <a:lstStyle/>
          <a:p>
            <a:r>
              <a:rPr lang="en-US">
                <a:solidFill>
                  <a:srgbClr val="57565A"/>
                </a:solidFill>
                <a:latin typeface="Open Sans Light"/>
                <a:ea typeface="Open Sans Light"/>
                <a:cs typeface="Open Sans Light"/>
              </a:rPr>
              <a:t>Causal </a:t>
            </a:r>
            <a:r>
              <a:rPr lang="en-US" err="1">
                <a:solidFill>
                  <a:srgbClr val="57565A"/>
                </a:solidFill>
                <a:latin typeface="Open Sans Light"/>
                <a:ea typeface="Open Sans Light"/>
                <a:cs typeface="Open Sans Light"/>
              </a:rPr>
              <a:t>clames</a:t>
            </a:r>
            <a:r>
              <a:rPr lang="en-US">
                <a:solidFill>
                  <a:srgbClr val="57565A"/>
                </a:solidFill>
                <a:latin typeface="Open Sans Light"/>
                <a:ea typeface="Open Sans Light"/>
                <a:cs typeface="Open Sans Light"/>
              </a:rPr>
              <a:t> to be tested</a:t>
            </a:r>
            <a:endParaRPr lang="en-US">
              <a:latin typeface="Open Sans Light"/>
              <a:ea typeface="Open Sans Light"/>
              <a:cs typeface="Open Sans Ligh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A9B1AA-1EF6-8FD5-7203-1AC8B95C34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US">
                <a:solidFill>
                  <a:srgbClr val="57565A"/>
                </a:solidFill>
                <a:latin typeface="Open Sans Light"/>
                <a:ea typeface="Open Sans Light"/>
                <a:cs typeface="Open Sans Light"/>
              </a:rPr>
              <a:t>Manipulating task framing (skill vs. luck) and feedback type (near-miss vs. clear-loss) will produce an interaction effect on willingness to persist</a:t>
            </a:r>
          </a:p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539F360-A3CE-E5B0-1F3C-65CA85088668}"/>
              </a:ext>
            </a:extLst>
          </p:cNvPr>
          <p:cNvSpPr/>
          <p:nvPr/>
        </p:nvSpPr>
        <p:spPr>
          <a:xfrm>
            <a:off x="5796517" y="4913910"/>
            <a:ext cx="1240789" cy="326884"/>
          </a:xfrm>
          <a:prstGeom prst="rect">
            <a:avLst/>
          </a:prstGeom>
          <a:ln>
            <a:noFill/>
          </a:ln>
        </p:spPr>
        <p:txBody>
          <a:bodyPr wrap="none" lIns="121920" tIns="45720" rIns="121920" bIns="60960" anchor="t">
            <a:spAutoFit/>
            <a:scene3d>
              <a:camera prst="isometricBottomDown">
                <a:rot lat="1260000" lon="20400000" rev="19740000"/>
              </a:camera>
              <a:lightRig rig="threePt" dir="t"/>
            </a:scene3d>
          </a:bodyPr>
          <a:lstStyle/>
          <a:p>
            <a:pPr algn="ctr">
              <a:lnSpc>
                <a:spcPct val="89000"/>
              </a:lnSpc>
            </a:pPr>
            <a:r>
              <a:rPr lang="en-US" sz="1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</a:rPr>
              <a:t>Interaction</a:t>
            </a:r>
            <a:endParaRPr lang="en-US" sz="16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8BC33E-A934-0742-EB2B-A2378FE12FDC}"/>
              </a:ext>
            </a:extLst>
          </p:cNvPr>
          <p:cNvSpPr txBox="1"/>
          <p:nvPr/>
        </p:nvSpPr>
        <p:spPr>
          <a:xfrm>
            <a:off x="103573" y="6288348"/>
            <a:ext cx="1893902" cy="369332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0AA7C5-ACDB-8172-D242-5F7E81F69DA8}"/>
              </a:ext>
            </a:extLst>
          </p:cNvPr>
          <p:cNvSpPr txBox="1"/>
          <p:nvPr/>
        </p:nvSpPr>
        <p:spPr>
          <a:xfrm>
            <a:off x="8360150" y="6211557"/>
            <a:ext cx="3580659" cy="524691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  <p:graphicFrame>
        <p:nvGraphicFramePr>
          <p:cNvPr id="86" name="Table 85">
            <a:extLst>
              <a:ext uri="{FF2B5EF4-FFF2-40B4-BE49-F238E27FC236}">
                <a16:creationId xmlns:a16="http://schemas.microsoft.com/office/drawing/2014/main" id="{E1DA1E6A-8128-DF5D-6B41-C2835E26F1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457534"/>
              </p:ext>
            </p:extLst>
          </p:nvPr>
        </p:nvGraphicFramePr>
        <p:xfrm>
          <a:off x="5585322" y="2203260"/>
          <a:ext cx="6223698" cy="253492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6421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94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26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9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22400">
                <a:tc>
                  <a:txBody>
                    <a:bodyPr/>
                    <a:lstStyle/>
                    <a:p>
                      <a:pPr algn="ctr"/>
                      <a:endParaRPr lang="en-US" sz="19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121920" marR="121920" marT="60960" marB="60960" anchor="b">
                    <a:lnL w="12700" cmpd="sng">
                      <a:noFill/>
                    </a:lnL>
                    <a:lnR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Near-Miss</a:t>
                      </a:r>
                      <a:endParaRPr lang="en-US" sz="1500" b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121920" marR="121920" marT="60960" marB="60960" anchor="b">
                    <a:lnL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Clear-Loss</a:t>
                      </a:r>
                      <a:endParaRPr lang="en-US" sz="1500" b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121920" marR="121920" marT="60960" marB="60960" anchor="b">
                    <a:lnL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Difference</a:t>
                      </a:r>
                      <a:endParaRPr lang="en-US" sz="1500" b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121920" marR="121920" marT="60960" marB="60960" anchor="b">
                    <a:lnL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r"/>
                      <a:r>
                        <a:rPr lang="en-US" sz="19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Skill-framed</a:t>
                      </a:r>
                    </a:p>
                  </a:txBody>
                  <a:tcPr marL="121920" marR="121920" marT="60960" marB="60960" anchor="ctr">
                    <a:lnL w="12700" cmpd="sng">
                      <a:noFill/>
                    </a:lnL>
                    <a:lnR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High</a:t>
                      </a: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Medium</a:t>
                      </a: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Large gap</a:t>
                      </a: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Luck-framed</a:t>
                      </a:r>
                    </a:p>
                  </a:txBody>
                  <a:tcPr marL="121920" marR="121920" marT="60960" marB="60960" anchor="ctr">
                    <a:lnL w="12700" cmpd="sng">
                      <a:noFill/>
                    </a:lnL>
                    <a:lnR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Medium</a:t>
                      </a: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Low-Medium</a:t>
                      </a: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Small gap</a:t>
                      </a: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90" name="Group 4">
            <a:extLst>
              <a:ext uri="{FF2B5EF4-FFF2-40B4-BE49-F238E27FC236}">
                <a16:creationId xmlns:a16="http://schemas.microsoft.com/office/drawing/2014/main" id="{7DE55410-4D5C-5523-505C-4EF13007746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530212" y="2444104"/>
            <a:ext cx="739088" cy="484363"/>
            <a:chOff x="144" y="-1122"/>
            <a:chExt cx="1738" cy="1139"/>
          </a:xfrm>
          <a:solidFill>
            <a:schemeClr val="accent1"/>
          </a:solidFill>
        </p:grpSpPr>
        <p:sp>
          <p:nvSpPr>
            <p:cNvPr id="88" name="Freeform 5">
              <a:extLst>
                <a:ext uri="{FF2B5EF4-FFF2-40B4-BE49-F238E27FC236}">
                  <a16:creationId xmlns:a16="http://schemas.microsoft.com/office/drawing/2014/main" id="{8D1C554D-357B-8F1E-8C1E-AB61939FB5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4" y="-1122"/>
              <a:ext cx="1738" cy="1139"/>
            </a:xfrm>
            <a:custGeom>
              <a:avLst/>
              <a:gdLst>
                <a:gd name="T0" fmla="*/ 678 w 733"/>
                <a:gd name="T1" fmla="*/ 0 h 479"/>
                <a:gd name="T2" fmla="*/ 55 w 733"/>
                <a:gd name="T3" fmla="*/ 0 h 479"/>
                <a:gd name="T4" fmla="*/ 0 w 733"/>
                <a:gd name="T5" fmla="*/ 55 h 479"/>
                <a:gd name="T6" fmla="*/ 0 w 733"/>
                <a:gd name="T7" fmla="*/ 424 h 479"/>
                <a:gd name="T8" fmla="*/ 55 w 733"/>
                <a:gd name="T9" fmla="*/ 479 h 479"/>
                <a:gd name="T10" fmla="*/ 678 w 733"/>
                <a:gd name="T11" fmla="*/ 479 h 479"/>
                <a:gd name="T12" fmla="*/ 733 w 733"/>
                <a:gd name="T13" fmla="*/ 424 h 479"/>
                <a:gd name="T14" fmla="*/ 733 w 733"/>
                <a:gd name="T15" fmla="*/ 55 h 479"/>
                <a:gd name="T16" fmla="*/ 678 w 733"/>
                <a:gd name="T17" fmla="*/ 0 h 479"/>
                <a:gd name="T18" fmla="*/ 14 w 733"/>
                <a:gd name="T19" fmla="*/ 330 h 479"/>
                <a:gd name="T20" fmla="*/ 719 w 733"/>
                <a:gd name="T21" fmla="*/ 330 h 479"/>
                <a:gd name="T22" fmla="*/ 719 w 733"/>
                <a:gd name="T23" fmla="*/ 393 h 479"/>
                <a:gd name="T24" fmla="*/ 14 w 733"/>
                <a:gd name="T25" fmla="*/ 393 h 479"/>
                <a:gd name="T26" fmla="*/ 14 w 733"/>
                <a:gd name="T27" fmla="*/ 330 h 479"/>
                <a:gd name="T28" fmla="*/ 55 w 733"/>
                <a:gd name="T29" fmla="*/ 14 h 479"/>
                <a:gd name="T30" fmla="*/ 678 w 733"/>
                <a:gd name="T31" fmla="*/ 14 h 479"/>
                <a:gd name="T32" fmla="*/ 719 w 733"/>
                <a:gd name="T33" fmla="*/ 55 h 479"/>
                <a:gd name="T34" fmla="*/ 719 w 733"/>
                <a:gd name="T35" fmla="*/ 316 h 479"/>
                <a:gd name="T36" fmla="*/ 14 w 733"/>
                <a:gd name="T37" fmla="*/ 316 h 479"/>
                <a:gd name="T38" fmla="*/ 14 w 733"/>
                <a:gd name="T39" fmla="*/ 55 h 479"/>
                <a:gd name="T40" fmla="*/ 55 w 733"/>
                <a:gd name="T41" fmla="*/ 14 h 479"/>
                <a:gd name="T42" fmla="*/ 678 w 733"/>
                <a:gd name="T43" fmla="*/ 465 h 479"/>
                <a:gd name="T44" fmla="*/ 55 w 733"/>
                <a:gd name="T45" fmla="*/ 465 h 479"/>
                <a:gd name="T46" fmla="*/ 14 w 733"/>
                <a:gd name="T47" fmla="*/ 424 h 479"/>
                <a:gd name="T48" fmla="*/ 14 w 733"/>
                <a:gd name="T49" fmla="*/ 407 h 479"/>
                <a:gd name="T50" fmla="*/ 719 w 733"/>
                <a:gd name="T51" fmla="*/ 407 h 479"/>
                <a:gd name="T52" fmla="*/ 719 w 733"/>
                <a:gd name="T53" fmla="*/ 424 h 479"/>
                <a:gd name="T54" fmla="*/ 678 w 733"/>
                <a:gd name="T55" fmla="*/ 465 h 4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33" h="479">
                  <a:moveTo>
                    <a:pt x="678" y="0"/>
                  </a:moveTo>
                  <a:cubicBezTo>
                    <a:pt x="55" y="0"/>
                    <a:pt x="55" y="0"/>
                    <a:pt x="55" y="0"/>
                  </a:cubicBezTo>
                  <a:cubicBezTo>
                    <a:pt x="25" y="0"/>
                    <a:pt x="0" y="24"/>
                    <a:pt x="0" y="55"/>
                  </a:cubicBezTo>
                  <a:cubicBezTo>
                    <a:pt x="0" y="424"/>
                    <a:pt x="0" y="424"/>
                    <a:pt x="0" y="424"/>
                  </a:cubicBezTo>
                  <a:cubicBezTo>
                    <a:pt x="0" y="455"/>
                    <a:pt x="25" y="479"/>
                    <a:pt x="55" y="479"/>
                  </a:cubicBezTo>
                  <a:cubicBezTo>
                    <a:pt x="678" y="479"/>
                    <a:pt x="678" y="479"/>
                    <a:pt x="678" y="479"/>
                  </a:cubicBezTo>
                  <a:cubicBezTo>
                    <a:pt x="708" y="479"/>
                    <a:pt x="733" y="455"/>
                    <a:pt x="733" y="424"/>
                  </a:cubicBezTo>
                  <a:cubicBezTo>
                    <a:pt x="733" y="55"/>
                    <a:pt x="733" y="55"/>
                    <a:pt x="733" y="55"/>
                  </a:cubicBezTo>
                  <a:cubicBezTo>
                    <a:pt x="733" y="24"/>
                    <a:pt x="708" y="0"/>
                    <a:pt x="678" y="0"/>
                  </a:cubicBezTo>
                  <a:close/>
                  <a:moveTo>
                    <a:pt x="14" y="330"/>
                  </a:moveTo>
                  <a:cubicBezTo>
                    <a:pt x="719" y="330"/>
                    <a:pt x="719" y="330"/>
                    <a:pt x="719" y="330"/>
                  </a:cubicBezTo>
                  <a:cubicBezTo>
                    <a:pt x="719" y="393"/>
                    <a:pt x="719" y="393"/>
                    <a:pt x="719" y="393"/>
                  </a:cubicBezTo>
                  <a:cubicBezTo>
                    <a:pt x="14" y="393"/>
                    <a:pt x="14" y="393"/>
                    <a:pt x="14" y="393"/>
                  </a:cubicBezTo>
                  <a:lnTo>
                    <a:pt x="14" y="330"/>
                  </a:lnTo>
                  <a:close/>
                  <a:moveTo>
                    <a:pt x="55" y="14"/>
                  </a:moveTo>
                  <a:cubicBezTo>
                    <a:pt x="678" y="14"/>
                    <a:pt x="678" y="14"/>
                    <a:pt x="678" y="14"/>
                  </a:cubicBezTo>
                  <a:cubicBezTo>
                    <a:pt x="701" y="14"/>
                    <a:pt x="719" y="32"/>
                    <a:pt x="719" y="55"/>
                  </a:cubicBezTo>
                  <a:cubicBezTo>
                    <a:pt x="719" y="316"/>
                    <a:pt x="719" y="316"/>
                    <a:pt x="719" y="316"/>
                  </a:cubicBezTo>
                  <a:cubicBezTo>
                    <a:pt x="14" y="316"/>
                    <a:pt x="14" y="316"/>
                    <a:pt x="14" y="316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32"/>
                    <a:pt x="32" y="14"/>
                    <a:pt x="55" y="14"/>
                  </a:cubicBezTo>
                  <a:close/>
                  <a:moveTo>
                    <a:pt x="678" y="465"/>
                  </a:moveTo>
                  <a:cubicBezTo>
                    <a:pt x="55" y="465"/>
                    <a:pt x="55" y="465"/>
                    <a:pt x="55" y="465"/>
                  </a:cubicBezTo>
                  <a:cubicBezTo>
                    <a:pt x="32" y="465"/>
                    <a:pt x="14" y="447"/>
                    <a:pt x="14" y="424"/>
                  </a:cubicBezTo>
                  <a:cubicBezTo>
                    <a:pt x="14" y="407"/>
                    <a:pt x="14" y="407"/>
                    <a:pt x="14" y="407"/>
                  </a:cubicBezTo>
                  <a:cubicBezTo>
                    <a:pt x="719" y="407"/>
                    <a:pt x="719" y="407"/>
                    <a:pt x="719" y="407"/>
                  </a:cubicBezTo>
                  <a:cubicBezTo>
                    <a:pt x="719" y="424"/>
                    <a:pt x="719" y="424"/>
                    <a:pt x="719" y="424"/>
                  </a:cubicBezTo>
                  <a:cubicBezTo>
                    <a:pt x="719" y="447"/>
                    <a:pt x="701" y="465"/>
                    <a:pt x="678" y="4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/>
            </a:p>
          </p:txBody>
        </p:sp>
        <p:sp>
          <p:nvSpPr>
            <p:cNvPr id="89" name="Freeform 6">
              <a:extLst>
                <a:ext uri="{FF2B5EF4-FFF2-40B4-BE49-F238E27FC236}">
                  <a16:creationId xmlns:a16="http://schemas.microsoft.com/office/drawing/2014/main" id="{E009F588-9561-1FAD-2C11-114A24C342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0" y="-1008"/>
              <a:ext cx="904" cy="587"/>
            </a:xfrm>
            <a:custGeom>
              <a:avLst/>
              <a:gdLst>
                <a:gd name="T0" fmla="*/ 124 w 381"/>
                <a:gd name="T1" fmla="*/ 247 h 247"/>
                <a:gd name="T2" fmla="*/ 191 w 381"/>
                <a:gd name="T3" fmla="*/ 227 h 247"/>
                <a:gd name="T4" fmla="*/ 257 w 381"/>
                <a:gd name="T5" fmla="*/ 247 h 247"/>
                <a:gd name="T6" fmla="*/ 381 w 381"/>
                <a:gd name="T7" fmla="*/ 123 h 247"/>
                <a:gd name="T8" fmla="*/ 257 w 381"/>
                <a:gd name="T9" fmla="*/ 0 h 247"/>
                <a:gd name="T10" fmla="*/ 191 w 381"/>
                <a:gd name="T11" fmla="*/ 19 h 247"/>
                <a:gd name="T12" fmla="*/ 124 w 381"/>
                <a:gd name="T13" fmla="*/ 0 h 247"/>
                <a:gd name="T14" fmla="*/ 0 w 381"/>
                <a:gd name="T15" fmla="*/ 123 h 247"/>
                <a:gd name="T16" fmla="*/ 124 w 381"/>
                <a:gd name="T17" fmla="*/ 247 h 247"/>
                <a:gd name="T18" fmla="*/ 367 w 381"/>
                <a:gd name="T19" fmla="*/ 123 h 247"/>
                <a:gd name="T20" fmla="*/ 257 w 381"/>
                <a:gd name="T21" fmla="*/ 233 h 247"/>
                <a:gd name="T22" fmla="*/ 148 w 381"/>
                <a:gd name="T23" fmla="*/ 123 h 247"/>
                <a:gd name="T24" fmla="*/ 257 w 381"/>
                <a:gd name="T25" fmla="*/ 14 h 247"/>
                <a:gd name="T26" fmla="*/ 367 w 381"/>
                <a:gd name="T27" fmla="*/ 123 h 247"/>
                <a:gd name="T28" fmla="*/ 124 w 381"/>
                <a:gd name="T29" fmla="*/ 14 h 247"/>
                <a:gd name="T30" fmla="*/ 178 w 381"/>
                <a:gd name="T31" fmla="*/ 28 h 247"/>
                <a:gd name="T32" fmla="*/ 134 w 381"/>
                <a:gd name="T33" fmla="*/ 123 h 247"/>
                <a:gd name="T34" fmla="*/ 178 w 381"/>
                <a:gd name="T35" fmla="*/ 218 h 247"/>
                <a:gd name="T36" fmla="*/ 124 w 381"/>
                <a:gd name="T37" fmla="*/ 233 h 247"/>
                <a:gd name="T38" fmla="*/ 14 w 381"/>
                <a:gd name="T39" fmla="*/ 123 h 247"/>
                <a:gd name="T40" fmla="*/ 124 w 381"/>
                <a:gd name="T41" fmla="*/ 14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1" h="247">
                  <a:moveTo>
                    <a:pt x="124" y="247"/>
                  </a:moveTo>
                  <a:cubicBezTo>
                    <a:pt x="148" y="247"/>
                    <a:pt x="171" y="240"/>
                    <a:pt x="191" y="227"/>
                  </a:cubicBezTo>
                  <a:cubicBezTo>
                    <a:pt x="210" y="240"/>
                    <a:pt x="233" y="247"/>
                    <a:pt x="257" y="247"/>
                  </a:cubicBezTo>
                  <a:cubicBezTo>
                    <a:pt x="326" y="247"/>
                    <a:pt x="381" y="192"/>
                    <a:pt x="381" y="123"/>
                  </a:cubicBezTo>
                  <a:cubicBezTo>
                    <a:pt x="381" y="55"/>
                    <a:pt x="326" y="0"/>
                    <a:pt x="257" y="0"/>
                  </a:cubicBezTo>
                  <a:cubicBezTo>
                    <a:pt x="233" y="0"/>
                    <a:pt x="210" y="7"/>
                    <a:pt x="191" y="19"/>
                  </a:cubicBezTo>
                  <a:cubicBezTo>
                    <a:pt x="171" y="6"/>
                    <a:pt x="148" y="0"/>
                    <a:pt x="124" y="0"/>
                  </a:cubicBezTo>
                  <a:cubicBezTo>
                    <a:pt x="55" y="0"/>
                    <a:pt x="0" y="55"/>
                    <a:pt x="0" y="123"/>
                  </a:cubicBezTo>
                  <a:cubicBezTo>
                    <a:pt x="0" y="192"/>
                    <a:pt x="55" y="247"/>
                    <a:pt x="124" y="247"/>
                  </a:cubicBezTo>
                  <a:close/>
                  <a:moveTo>
                    <a:pt x="367" y="123"/>
                  </a:moveTo>
                  <a:cubicBezTo>
                    <a:pt x="367" y="184"/>
                    <a:pt x="318" y="233"/>
                    <a:pt x="257" y="233"/>
                  </a:cubicBezTo>
                  <a:cubicBezTo>
                    <a:pt x="197" y="233"/>
                    <a:pt x="148" y="184"/>
                    <a:pt x="148" y="123"/>
                  </a:cubicBezTo>
                  <a:cubicBezTo>
                    <a:pt x="148" y="63"/>
                    <a:pt x="197" y="14"/>
                    <a:pt x="257" y="14"/>
                  </a:cubicBezTo>
                  <a:cubicBezTo>
                    <a:pt x="318" y="14"/>
                    <a:pt x="367" y="63"/>
                    <a:pt x="367" y="123"/>
                  </a:cubicBezTo>
                  <a:close/>
                  <a:moveTo>
                    <a:pt x="124" y="14"/>
                  </a:moveTo>
                  <a:cubicBezTo>
                    <a:pt x="143" y="14"/>
                    <a:pt x="162" y="19"/>
                    <a:pt x="178" y="28"/>
                  </a:cubicBezTo>
                  <a:cubicBezTo>
                    <a:pt x="151" y="51"/>
                    <a:pt x="134" y="85"/>
                    <a:pt x="134" y="123"/>
                  </a:cubicBezTo>
                  <a:cubicBezTo>
                    <a:pt x="134" y="161"/>
                    <a:pt x="151" y="196"/>
                    <a:pt x="178" y="218"/>
                  </a:cubicBezTo>
                  <a:cubicBezTo>
                    <a:pt x="162" y="228"/>
                    <a:pt x="143" y="233"/>
                    <a:pt x="124" y="233"/>
                  </a:cubicBezTo>
                  <a:cubicBezTo>
                    <a:pt x="63" y="233"/>
                    <a:pt x="14" y="184"/>
                    <a:pt x="14" y="123"/>
                  </a:cubicBezTo>
                  <a:cubicBezTo>
                    <a:pt x="14" y="63"/>
                    <a:pt x="63" y="14"/>
                    <a:pt x="124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/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576B7357-F6DA-64A4-2F20-F7216799B85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752505" y="2433299"/>
            <a:ext cx="501454" cy="508163"/>
            <a:chOff x="5758552" y="2095157"/>
            <a:chExt cx="299" cy="303"/>
          </a:xfrm>
          <a:solidFill>
            <a:schemeClr val="accent1"/>
          </a:solidFill>
        </p:grpSpPr>
        <p:sp>
          <p:nvSpPr>
            <p:cNvPr id="92" name="Freeform 12">
              <a:extLst>
                <a:ext uri="{FF2B5EF4-FFF2-40B4-BE49-F238E27FC236}">
                  <a16:creationId xmlns:a16="http://schemas.microsoft.com/office/drawing/2014/main" id="{55D53B8C-C10A-D3A4-A8EB-CBF159DAE3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8613" y="2095247"/>
              <a:ext cx="215" cy="189"/>
            </a:xfrm>
            <a:custGeom>
              <a:avLst/>
              <a:gdLst>
                <a:gd name="T0" fmla="*/ 353 w 361"/>
                <a:gd name="T1" fmla="*/ 318 h 318"/>
                <a:gd name="T2" fmla="*/ 8 w 361"/>
                <a:gd name="T3" fmla="*/ 318 h 318"/>
                <a:gd name="T4" fmla="*/ 0 w 361"/>
                <a:gd name="T5" fmla="*/ 310 h 318"/>
                <a:gd name="T6" fmla="*/ 0 w 361"/>
                <a:gd name="T7" fmla="*/ 8 h 318"/>
                <a:gd name="T8" fmla="*/ 8 w 361"/>
                <a:gd name="T9" fmla="*/ 0 h 318"/>
                <a:gd name="T10" fmla="*/ 103 w 361"/>
                <a:gd name="T11" fmla="*/ 0 h 318"/>
                <a:gd name="T12" fmla="*/ 111 w 361"/>
                <a:gd name="T13" fmla="*/ 8 h 318"/>
                <a:gd name="T14" fmla="*/ 103 w 361"/>
                <a:gd name="T15" fmla="*/ 16 h 318"/>
                <a:gd name="T16" fmla="*/ 16 w 361"/>
                <a:gd name="T17" fmla="*/ 16 h 318"/>
                <a:gd name="T18" fmla="*/ 16 w 361"/>
                <a:gd name="T19" fmla="*/ 302 h 318"/>
                <a:gd name="T20" fmla="*/ 345 w 361"/>
                <a:gd name="T21" fmla="*/ 302 h 318"/>
                <a:gd name="T22" fmla="*/ 345 w 361"/>
                <a:gd name="T23" fmla="*/ 16 h 318"/>
                <a:gd name="T24" fmla="*/ 318 w 361"/>
                <a:gd name="T25" fmla="*/ 16 h 318"/>
                <a:gd name="T26" fmla="*/ 310 w 361"/>
                <a:gd name="T27" fmla="*/ 8 h 318"/>
                <a:gd name="T28" fmla="*/ 318 w 361"/>
                <a:gd name="T29" fmla="*/ 0 h 318"/>
                <a:gd name="T30" fmla="*/ 353 w 361"/>
                <a:gd name="T31" fmla="*/ 0 h 318"/>
                <a:gd name="T32" fmla="*/ 361 w 361"/>
                <a:gd name="T33" fmla="*/ 8 h 318"/>
                <a:gd name="T34" fmla="*/ 361 w 361"/>
                <a:gd name="T35" fmla="*/ 310 h 318"/>
                <a:gd name="T36" fmla="*/ 353 w 361"/>
                <a:gd name="T37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61" h="318">
                  <a:moveTo>
                    <a:pt x="353" y="318"/>
                  </a:moveTo>
                  <a:cubicBezTo>
                    <a:pt x="8" y="318"/>
                    <a:pt x="8" y="318"/>
                    <a:pt x="8" y="318"/>
                  </a:cubicBezTo>
                  <a:cubicBezTo>
                    <a:pt x="4" y="318"/>
                    <a:pt x="0" y="314"/>
                    <a:pt x="0" y="31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107" y="0"/>
                    <a:pt x="111" y="4"/>
                    <a:pt x="111" y="8"/>
                  </a:cubicBezTo>
                  <a:cubicBezTo>
                    <a:pt x="111" y="13"/>
                    <a:pt x="107" y="16"/>
                    <a:pt x="103" y="16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302"/>
                    <a:pt x="16" y="302"/>
                    <a:pt x="16" y="302"/>
                  </a:cubicBezTo>
                  <a:cubicBezTo>
                    <a:pt x="345" y="302"/>
                    <a:pt x="345" y="302"/>
                    <a:pt x="345" y="302"/>
                  </a:cubicBezTo>
                  <a:cubicBezTo>
                    <a:pt x="345" y="16"/>
                    <a:pt x="345" y="16"/>
                    <a:pt x="345" y="16"/>
                  </a:cubicBezTo>
                  <a:cubicBezTo>
                    <a:pt x="318" y="16"/>
                    <a:pt x="318" y="16"/>
                    <a:pt x="318" y="16"/>
                  </a:cubicBezTo>
                  <a:cubicBezTo>
                    <a:pt x="314" y="16"/>
                    <a:pt x="310" y="13"/>
                    <a:pt x="310" y="8"/>
                  </a:cubicBezTo>
                  <a:cubicBezTo>
                    <a:pt x="310" y="4"/>
                    <a:pt x="314" y="0"/>
                    <a:pt x="318" y="0"/>
                  </a:cubicBezTo>
                  <a:cubicBezTo>
                    <a:pt x="353" y="0"/>
                    <a:pt x="353" y="0"/>
                    <a:pt x="353" y="0"/>
                  </a:cubicBezTo>
                  <a:cubicBezTo>
                    <a:pt x="358" y="0"/>
                    <a:pt x="361" y="4"/>
                    <a:pt x="361" y="8"/>
                  </a:cubicBezTo>
                  <a:cubicBezTo>
                    <a:pt x="361" y="310"/>
                    <a:pt x="361" y="310"/>
                    <a:pt x="361" y="310"/>
                  </a:cubicBezTo>
                  <a:cubicBezTo>
                    <a:pt x="361" y="314"/>
                    <a:pt x="358" y="318"/>
                    <a:pt x="353" y="3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3200"/>
            </a:p>
          </p:txBody>
        </p:sp>
        <p:sp>
          <p:nvSpPr>
            <p:cNvPr id="93" name="Freeform 13">
              <a:extLst>
                <a:ext uri="{FF2B5EF4-FFF2-40B4-BE49-F238E27FC236}">
                  <a16:creationId xmlns:a16="http://schemas.microsoft.com/office/drawing/2014/main" id="{DBA544DA-BD2D-8867-F61D-496E73A148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8552" y="2095222"/>
              <a:ext cx="299" cy="238"/>
            </a:xfrm>
            <a:custGeom>
              <a:avLst/>
              <a:gdLst>
                <a:gd name="T0" fmla="*/ 457 w 503"/>
                <a:gd name="T1" fmla="*/ 400 h 400"/>
                <a:gd name="T2" fmla="*/ 46 w 503"/>
                <a:gd name="T3" fmla="*/ 400 h 400"/>
                <a:gd name="T4" fmla="*/ 0 w 503"/>
                <a:gd name="T5" fmla="*/ 354 h 400"/>
                <a:gd name="T6" fmla="*/ 0 w 503"/>
                <a:gd name="T7" fmla="*/ 46 h 400"/>
                <a:gd name="T8" fmla="*/ 46 w 503"/>
                <a:gd name="T9" fmla="*/ 0 h 400"/>
                <a:gd name="T10" fmla="*/ 247 w 503"/>
                <a:gd name="T11" fmla="*/ 0 h 400"/>
                <a:gd name="T12" fmla="*/ 255 w 503"/>
                <a:gd name="T13" fmla="*/ 8 h 400"/>
                <a:gd name="T14" fmla="*/ 247 w 503"/>
                <a:gd name="T15" fmla="*/ 16 h 400"/>
                <a:gd name="T16" fmla="*/ 46 w 503"/>
                <a:gd name="T17" fmla="*/ 16 h 400"/>
                <a:gd name="T18" fmla="*/ 16 w 503"/>
                <a:gd name="T19" fmla="*/ 46 h 400"/>
                <a:gd name="T20" fmla="*/ 16 w 503"/>
                <a:gd name="T21" fmla="*/ 354 h 400"/>
                <a:gd name="T22" fmla="*/ 46 w 503"/>
                <a:gd name="T23" fmla="*/ 384 h 400"/>
                <a:gd name="T24" fmla="*/ 457 w 503"/>
                <a:gd name="T25" fmla="*/ 384 h 400"/>
                <a:gd name="T26" fmla="*/ 487 w 503"/>
                <a:gd name="T27" fmla="*/ 354 h 400"/>
                <a:gd name="T28" fmla="*/ 487 w 503"/>
                <a:gd name="T29" fmla="*/ 46 h 400"/>
                <a:gd name="T30" fmla="*/ 457 w 503"/>
                <a:gd name="T31" fmla="*/ 16 h 400"/>
                <a:gd name="T32" fmla="*/ 449 w 503"/>
                <a:gd name="T33" fmla="*/ 8 h 400"/>
                <a:gd name="T34" fmla="*/ 457 w 503"/>
                <a:gd name="T35" fmla="*/ 0 h 400"/>
                <a:gd name="T36" fmla="*/ 503 w 503"/>
                <a:gd name="T37" fmla="*/ 46 h 400"/>
                <a:gd name="T38" fmla="*/ 503 w 503"/>
                <a:gd name="T39" fmla="*/ 354 h 400"/>
                <a:gd name="T40" fmla="*/ 457 w 503"/>
                <a:gd name="T41" fmla="*/ 400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03" h="400">
                  <a:moveTo>
                    <a:pt x="457" y="400"/>
                  </a:moveTo>
                  <a:cubicBezTo>
                    <a:pt x="46" y="400"/>
                    <a:pt x="46" y="400"/>
                    <a:pt x="46" y="400"/>
                  </a:cubicBezTo>
                  <a:cubicBezTo>
                    <a:pt x="21" y="400"/>
                    <a:pt x="0" y="380"/>
                    <a:pt x="0" y="354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247" y="0"/>
                    <a:pt x="247" y="0"/>
                    <a:pt x="247" y="0"/>
                  </a:cubicBezTo>
                  <a:cubicBezTo>
                    <a:pt x="251" y="0"/>
                    <a:pt x="255" y="3"/>
                    <a:pt x="255" y="8"/>
                  </a:cubicBezTo>
                  <a:cubicBezTo>
                    <a:pt x="255" y="12"/>
                    <a:pt x="251" y="16"/>
                    <a:pt x="247" y="16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29" y="16"/>
                    <a:pt x="16" y="29"/>
                    <a:pt x="16" y="46"/>
                  </a:cubicBezTo>
                  <a:cubicBezTo>
                    <a:pt x="16" y="354"/>
                    <a:pt x="16" y="354"/>
                    <a:pt x="16" y="354"/>
                  </a:cubicBezTo>
                  <a:cubicBezTo>
                    <a:pt x="16" y="371"/>
                    <a:pt x="29" y="384"/>
                    <a:pt x="46" y="384"/>
                  </a:cubicBezTo>
                  <a:cubicBezTo>
                    <a:pt x="457" y="384"/>
                    <a:pt x="457" y="384"/>
                    <a:pt x="457" y="384"/>
                  </a:cubicBezTo>
                  <a:cubicBezTo>
                    <a:pt x="474" y="384"/>
                    <a:pt x="487" y="371"/>
                    <a:pt x="487" y="354"/>
                  </a:cubicBezTo>
                  <a:cubicBezTo>
                    <a:pt x="487" y="46"/>
                    <a:pt x="487" y="46"/>
                    <a:pt x="487" y="46"/>
                  </a:cubicBezTo>
                  <a:cubicBezTo>
                    <a:pt x="487" y="29"/>
                    <a:pt x="474" y="16"/>
                    <a:pt x="457" y="16"/>
                  </a:cubicBezTo>
                  <a:cubicBezTo>
                    <a:pt x="453" y="16"/>
                    <a:pt x="449" y="12"/>
                    <a:pt x="449" y="8"/>
                  </a:cubicBezTo>
                  <a:cubicBezTo>
                    <a:pt x="449" y="3"/>
                    <a:pt x="453" y="0"/>
                    <a:pt x="457" y="0"/>
                  </a:cubicBezTo>
                  <a:cubicBezTo>
                    <a:pt x="482" y="0"/>
                    <a:pt x="503" y="20"/>
                    <a:pt x="503" y="46"/>
                  </a:cubicBezTo>
                  <a:cubicBezTo>
                    <a:pt x="503" y="354"/>
                    <a:pt x="503" y="354"/>
                    <a:pt x="503" y="354"/>
                  </a:cubicBezTo>
                  <a:cubicBezTo>
                    <a:pt x="503" y="380"/>
                    <a:pt x="482" y="400"/>
                    <a:pt x="457" y="40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3200"/>
            </a:p>
          </p:txBody>
        </p:sp>
        <p:sp>
          <p:nvSpPr>
            <p:cNvPr id="94" name="Freeform 14">
              <a:extLst>
                <a:ext uri="{FF2B5EF4-FFF2-40B4-BE49-F238E27FC236}">
                  <a16:creationId xmlns:a16="http://schemas.microsoft.com/office/drawing/2014/main" id="{C3ECBDF9-5F3C-790B-92A4-AFC2748DE5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58552" y="2095260"/>
              <a:ext cx="47" cy="163"/>
            </a:xfrm>
            <a:custGeom>
              <a:avLst/>
              <a:gdLst>
                <a:gd name="T0" fmla="*/ 72 w 80"/>
                <a:gd name="T1" fmla="*/ 274 h 274"/>
                <a:gd name="T2" fmla="*/ 8 w 80"/>
                <a:gd name="T3" fmla="*/ 274 h 274"/>
                <a:gd name="T4" fmla="*/ 0 w 80"/>
                <a:gd name="T5" fmla="*/ 266 h 274"/>
                <a:gd name="T6" fmla="*/ 0 w 80"/>
                <a:gd name="T7" fmla="*/ 8 h 274"/>
                <a:gd name="T8" fmla="*/ 8 w 80"/>
                <a:gd name="T9" fmla="*/ 0 h 274"/>
                <a:gd name="T10" fmla="*/ 72 w 80"/>
                <a:gd name="T11" fmla="*/ 0 h 274"/>
                <a:gd name="T12" fmla="*/ 80 w 80"/>
                <a:gd name="T13" fmla="*/ 8 h 274"/>
                <a:gd name="T14" fmla="*/ 80 w 80"/>
                <a:gd name="T15" fmla="*/ 266 h 274"/>
                <a:gd name="T16" fmla="*/ 72 w 80"/>
                <a:gd name="T17" fmla="*/ 274 h 274"/>
                <a:gd name="T18" fmla="*/ 16 w 80"/>
                <a:gd name="T19" fmla="*/ 258 h 274"/>
                <a:gd name="T20" fmla="*/ 64 w 80"/>
                <a:gd name="T21" fmla="*/ 258 h 274"/>
                <a:gd name="T22" fmla="*/ 64 w 80"/>
                <a:gd name="T23" fmla="*/ 16 h 274"/>
                <a:gd name="T24" fmla="*/ 16 w 80"/>
                <a:gd name="T25" fmla="*/ 16 h 274"/>
                <a:gd name="T26" fmla="*/ 16 w 80"/>
                <a:gd name="T27" fmla="*/ 258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274">
                  <a:moveTo>
                    <a:pt x="72" y="274"/>
                  </a:moveTo>
                  <a:cubicBezTo>
                    <a:pt x="8" y="274"/>
                    <a:pt x="8" y="274"/>
                    <a:pt x="8" y="274"/>
                  </a:cubicBezTo>
                  <a:cubicBezTo>
                    <a:pt x="3" y="274"/>
                    <a:pt x="0" y="270"/>
                    <a:pt x="0" y="266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6" y="0"/>
                    <a:pt x="80" y="4"/>
                    <a:pt x="80" y="8"/>
                  </a:cubicBezTo>
                  <a:cubicBezTo>
                    <a:pt x="80" y="266"/>
                    <a:pt x="80" y="266"/>
                    <a:pt x="80" y="266"/>
                  </a:cubicBezTo>
                  <a:cubicBezTo>
                    <a:pt x="80" y="270"/>
                    <a:pt x="76" y="274"/>
                    <a:pt x="72" y="274"/>
                  </a:cubicBezTo>
                  <a:close/>
                  <a:moveTo>
                    <a:pt x="16" y="258"/>
                  </a:moveTo>
                  <a:cubicBezTo>
                    <a:pt x="64" y="258"/>
                    <a:pt x="64" y="258"/>
                    <a:pt x="64" y="258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6" y="16"/>
                    <a:pt x="16" y="16"/>
                    <a:pt x="16" y="16"/>
                  </a:cubicBezTo>
                  <a:lnTo>
                    <a:pt x="16" y="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3200"/>
            </a:p>
          </p:txBody>
        </p:sp>
        <p:sp>
          <p:nvSpPr>
            <p:cNvPr id="95" name="Freeform 15">
              <a:extLst>
                <a:ext uri="{FF2B5EF4-FFF2-40B4-BE49-F238E27FC236}">
                  <a16:creationId xmlns:a16="http://schemas.microsoft.com/office/drawing/2014/main" id="{9E110FFA-1D4E-C48F-A1FE-13C5EC977F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8552" y="2095310"/>
              <a:ext cx="47" cy="9"/>
            </a:xfrm>
            <a:custGeom>
              <a:avLst/>
              <a:gdLst>
                <a:gd name="T0" fmla="*/ 72 w 80"/>
                <a:gd name="T1" fmla="*/ 16 h 16"/>
                <a:gd name="T2" fmla="*/ 8 w 80"/>
                <a:gd name="T3" fmla="*/ 16 h 16"/>
                <a:gd name="T4" fmla="*/ 0 w 80"/>
                <a:gd name="T5" fmla="*/ 8 h 16"/>
                <a:gd name="T6" fmla="*/ 8 w 80"/>
                <a:gd name="T7" fmla="*/ 0 h 16"/>
                <a:gd name="T8" fmla="*/ 72 w 80"/>
                <a:gd name="T9" fmla="*/ 0 h 16"/>
                <a:gd name="T10" fmla="*/ 80 w 80"/>
                <a:gd name="T11" fmla="*/ 8 h 16"/>
                <a:gd name="T12" fmla="*/ 72 w 80"/>
                <a:gd name="T1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" h="16">
                  <a:moveTo>
                    <a:pt x="72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3" y="16"/>
                    <a:pt x="0" y="13"/>
                    <a:pt x="0" y="8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6" y="0"/>
                    <a:pt x="80" y="4"/>
                    <a:pt x="80" y="8"/>
                  </a:cubicBezTo>
                  <a:cubicBezTo>
                    <a:pt x="80" y="13"/>
                    <a:pt x="76" y="16"/>
                    <a:pt x="72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3200"/>
            </a:p>
          </p:txBody>
        </p:sp>
        <p:sp>
          <p:nvSpPr>
            <p:cNvPr id="96" name="Freeform 16">
              <a:extLst>
                <a:ext uri="{FF2B5EF4-FFF2-40B4-BE49-F238E27FC236}">
                  <a16:creationId xmlns:a16="http://schemas.microsoft.com/office/drawing/2014/main" id="{F89C1DCD-0F31-8BA5-FFBD-422B4B6C9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8552" y="2095359"/>
              <a:ext cx="47" cy="10"/>
            </a:xfrm>
            <a:custGeom>
              <a:avLst/>
              <a:gdLst>
                <a:gd name="T0" fmla="*/ 72 w 80"/>
                <a:gd name="T1" fmla="*/ 16 h 16"/>
                <a:gd name="T2" fmla="*/ 8 w 80"/>
                <a:gd name="T3" fmla="*/ 16 h 16"/>
                <a:gd name="T4" fmla="*/ 0 w 80"/>
                <a:gd name="T5" fmla="*/ 8 h 16"/>
                <a:gd name="T6" fmla="*/ 8 w 80"/>
                <a:gd name="T7" fmla="*/ 0 h 16"/>
                <a:gd name="T8" fmla="*/ 72 w 80"/>
                <a:gd name="T9" fmla="*/ 0 h 16"/>
                <a:gd name="T10" fmla="*/ 80 w 80"/>
                <a:gd name="T11" fmla="*/ 8 h 16"/>
                <a:gd name="T12" fmla="*/ 72 w 80"/>
                <a:gd name="T1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" h="16">
                  <a:moveTo>
                    <a:pt x="72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3" y="16"/>
                    <a:pt x="0" y="13"/>
                    <a:pt x="0" y="8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6" y="0"/>
                    <a:pt x="80" y="4"/>
                    <a:pt x="80" y="8"/>
                  </a:cubicBezTo>
                  <a:cubicBezTo>
                    <a:pt x="80" y="13"/>
                    <a:pt x="76" y="16"/>
                    <a:pt x="72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3200"/>
            </a:p>
          </p:txBody>
        </p:sp>
        <p:sp>
          <p:nvSpPr>
            <p:cNvPr id="97" name="Freeform 17">
              <a:extLst>
                <a:ext uri="{FF2B5EF4-FFF2-40B4-BE49-F238E27FC236}">
                  <a16:creationId xmlns:a16="http://schemas.microsoft.com/office/drawing/2014/main" id="{F43F7D3E-EDD3-0695-254C-255F9FF5EA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8552" y="2095362"/>
              <a:ext cx="47" cy="9"/>
            </a:xfrm>
            <a:custGeom>
              <a:avLst/>
              <a:gdLst>
                <a:gd name="T0" fmla="*/ 72 w 80"/>
                <a:gd name="T1" fmla="*/ 16 h 16"/>
                <a:gd name="T2" fmla="*/ 8 w 80"/>
                <a:gd name="T3" fmla="*/ 16 h 16"/>
                <a:gd name="T4" fmla="*/ 0 w 80"/>
                <a:gd name="T5" fmla="*/ 8 h 16"/>
                <a:gd name="T6" fmla="*/ 8 w 80"/>
                <a:gd name="T7" fmla="*/ 0 h 16"/>
                <a:gd name="T8" fmla="*/ 72 w 80"/>
                <a:gd name="T9" fmla="*/ 0 h 16"/>
                <a:gd name="T10" fmla="*/ 80 w 80"/>
                <a:gd name="T11" fmla="*/ 8 h 16"/>
                <a:gd name="T12" fmla="*/ 72 w 80"/>
                <a:gd name="T1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" h="16">
                  <a:moveTo>
                    <a:pt x="72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3" y="16"/>
                    <a:pt x="0" y="12"/>
                    <a:pt x="0" y="8"/>
                  </a:cubicBezTo>
                  <a:cubicBezTo>
                    <a:pt x="0" y="3"/>
                    <a:pt x="3" y="0"/>
                    <a:pt x="8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6" y="0"/>
                    <a:pt x="80" y="3"/>
                    <a:pt x="80" y="8"/>
                  </a:cubicBezTo>
                  <a:cubicBezTo>
                    <a:pt x="80" y="12"/>
                    <a:pt x="76" y="16"/>
                    <a:pt x="72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3200"/>
            </a:p>
          </p:txBody>
        </p:sp>
        <p:sp>
          <p:nvSpPr>
            <p:cNvPr id="98" name="Freeform 18">
              <a:extLst>
                <a:ext uri="{FF2B5EF4-FFF2-40B4-BE49-F238E27FC236}">
                  <a16:creationId xmlns:a16="http://schemas.microsoft.com/office/drawing/2014/main" id="{336F85E1-5CE4-9810-38BF-B1F94A1F55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58672" y="2095157"/>
              <a:ext cx="160" cy="160"/>
            </a:xfrm>
            <a:custGeom>
              <a:avLst/>
              <a:gdLst>
                <a:gd name="T0" fmla="*/ 57 w 269"/>
                <a:gd name="T1" fmla="*/ 269 h 269"/>
                <a:gd name="T2" fmla="*/ 51 w 269"/>
                <a:gd name="T3" fmla="*/ 267 h 269"/>
                <a:gd name="T4" fmla="*/ 2 w 269"/>
                <a:gd name="T5" fmla="*/ 218 h 269"/>
                <a:gd name="T6" fmla="*/ 0 w 269"/>
                <a:gd name="T7" fmla="*/ 213 h 269"/>
                <a:gd name="T8" fmla="*/ 2 w 269"/>
                <a:gd name="T9" fmla="*/ 207 h 269"/>
                <a:gd name="T10" fmla="*/ 197 w 269"/>
                <a:gd name="T11" fmla="*/ 12 h 269"/>
                <a:gd name="T12" fmla="*/ 227 w 269"/>
                <a:gd name="T13" fmla="*/ 0 h 269"/>
                <a:gd name="T14" fmla="*/ 257 w 269"/>
                <a:gd name="T15" fmla="*/ 12 h 269"/>
                <a:gd name="T16" fmla="*/ 269 w 269"/>
                <a:gd name="T17" fmla="*/ 42 h 269"/>
                <a:gd name="T18" fmla="*/ 257 w 269"/>
                <a:gd name="T19" fmla="*/ 72 h 269"/>
                <a:gd name="T20" fmla="*/ 62 w 269"/>
                <a:gd name="T21" fmla="*/ 267 h 269"/>
                <a:gd name="T22" fmla="*/ 57 w 269"/>
                <a:gd name="T23" fmla="*/ 269 h 269"/>
                <a:gd name="T24" fmla="*/ 19 w 269"/>
                <a:gd name="T25" fmla="*/ 213 h 269"/>
                <a:gd name="T26" fmla="*/ 57 w 269"/>
                <a:gd name="T27" fmla="*/ 250 h 269"/>
                <a:gd name="T28" fmla="*/ 246 w 269"/>
                <a:gd name="T29" fmla="*/ 61 h 269"/>
                <a:gd name="T30" fmla="*/ 253 w 269"/>
                <a:gd name="T31" fmla="*/ 42 h 269"/>
                <a:gd name="T32" fmla="*/ 246 w 269"/>
                <a:gd name="T33" fmla="*/ 24 h 269"/>
                <a:gd name="T34" fmla="*/ 227 w 269"/>
                <a:gd name="T35" fmla="*/ 16 h 269"/>
                <a:gd name="T36" fmla="*/ 209 w 269"/>
                <a:gd name="T37" fmla="*/ 24 h 269"/>
                <a:gd name="T38" fmla="*/ 19 w 269"/>
                <a:gd name="T39" fmla="*/ 213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69" h="269">
                  <a:moveTo>
                    <a:pt x="57" y="269"/>
                  </a:moveTo>
                  <a:cubicBezTo>
                    <a:pt x="54" y="269"/>
                    <a:pt x="52" y="268"/>
                    <a:pt x="51" y="267"/>
                  </a:cubicBezTo>
                  <a:cubicBezTo>
                    <a:pt x="2" y="218"/>
                    <a:pt x="2" y="218"/>
                    <a:pt x="2" y="218"/>
                  </a:cubicBezTo>
                  <a:cubicBezTo>
                    <a:pt x="1" y="217"/>
                    <a:pt x="0" y="215"/>
                    <a:pt x="0" y="213"/>
                  </a:cubicBezTo>
                  <a:cubicBezTo>
                    <a:pt x="0" y="211"/>
                    <a:pt x="1" y="209"/>
                    <a:pt x="2" y="207"/>
                  </a:cubicBezTo>
                  <a:cubicBezTo>
                    <a:pt x="197" y="12"/>
                    <a:pt x="197" y="12"/>
                    <a:pt x="197" y="12"/>
                  </a:cubicBezTo>
                  <a:cubicBezTo>
                    <a:pt x="205" y="4"/>
                    <a:pt x="216" y="0"/>
                    <a:pt x="227" y="0"/>
                  </a:cubicBezTo>
                  <a:cubicBezTo>
                    <a:pt x="238" y="0"/>
                    <a:pt x="249" y="4"/>
                    <a:pt x="257" y="12"/>
                  </a:cubicBezTo>
                  <a:cubicBezTo>
                    <a:pt x="265" y="20"/>
                    <a:pt x="269" y="31"/>
                    <a:pt x="269" y="42"/>
                  </a:cubicBezTo>
                  <a:cubicBezTo>
                    <a:pt x="269" y="53"/>
                    <a:pt x="265" y="64"/>
                    <a:pt x="257" y="72"/>
                  </a:cubicBezTo>
                  <a:cubicBezTo>
                    <a:pt x="62" y="267"/>
                    <a:pt x="62" y="267"/>
                    <a:pt x="62" y="267"/>
                  </a:cubicBezTo>
                  <a:cubicBezTo>
                    <a:pt x="61" y="268"/>
                    <a:pt x="59" y="269"/>
                    <a:pt x="57" y="269"/>
                  </a:cubicBezTo>
                  <a:close/>
                  <a:moveTo>
                    <a:pt x="19" y="213"/>
                  </a:moveTo>
                  <a:cubicBezTo>
                    <a:pt x="57" y="250"/>
                    <a:pt x="57" y="250"/>
                    <a:pt x="57" y="250"/>
                  </a:cubicBezTo>
                  <a:cubicBezTo>
                    <a:pt x="246" y="61"/>
                    <a:pt x="246" y="61"/>
                    <a:pt x="246" y="61"/>
                  </a:cubicBezTo>
                  <a:cubicBezTo>
                    <a:pt x="251" y="56"/>
                    <a:pt x="253" y="49"/>
                    <a:pt x="253" y="42"/>
                  </a:cubicBezTo>
                  <a:cubicBezTo>
                    <a:pt x="253" y="35"/>
                    <a:pt x="251" y="29"/>
                    <a:pt x="246" y="24"/>
                  </a:cubicBezTo>
                  <a:cubicBezTo>
                    <a:pt x="241" y="19"/>
                    <a:pt x="234" y="16"/>
                    <a:pt x="227" y="16"/>
                  </a:cubicBezTo>
                  <a:cubicBezTo>
                    <a:pt x="220" y="16"/>
                    <a:pt x="214" y="19"/>
                    <a:pt x="209" y="24"/>
                  </a:cubicBezTo>
                  <a:lnTo>
                    <a:pt x="1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3200"/>
            </a:p>
          </p:txBody>
        </p:sp>
        <p:sp>
          <p:nvSpPr>
            <p:cNvPr id="99" name="Freeform 19">
              <a:extLst>
                <a:ext uri="{FF2B5EF4-FFF2-40B4-BE49-F238E27FC236}">
                  <a16:creationId xmlns:a16="http://schemas.microsoft.com/office/drawing/2014/main" id="{DCA080CA-419D-C051-7D77-AE465A62E2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8750" y="2095199"/>
              <a:ext cx="40" cy="39"/>
            </a:xfrm>
            <a:custGeom>
              <a:avLst/>
              <a:gdLst>
                <a:gd name="T0" fmla="*/ 57 w 66"/>
                <a:gd name="T1" fmla="*/ 65 h 65"/>
                <a:gd name="T2" fmla="*/ 52 w 66"/>
                <a:gd name="T3" fmla="*/ 63 h 65"/>
                <a:gd name="T4" fmla="*/ 3 w 66"/>
                <a:gd name="T5" fmla="*/ 15 h 65"/>
                <a:gd name="T6" fmla="*/ 3 w 66"/>
                <a:gd name="T7" fmla="*/ 3 h 65"/>
                <a:gd name="T8" fmla="*/ 15 w 66"/>
                <a:gd name="T9" fmla="*/ 3 h 65"/>
                <a:gd name="T10" fmla="*/ 63 w 66"/>
                <a:gd name="T11" fmla="*/ 52 h 65"/>
                <a:gd name="T12" fmla="*/ 63 w 66"/>
                <a:gd name="T13" fmla="*/ 63 h 65"/>
                <a:gd name="T14" fmla="*/ 57 w 66"/>
                <a:gd name="T15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6" h="65">
                  <a:moveTo>
                    <a:pt x="57" y="65"/>
                  </a:moveTo>
                  <a:cubicBezTo>
                    <a:pt x="55" y="65"/>
                    <a:pt x="53" y="64"/>
                    <a:pt x="52" y="63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0" y="11"/>
                    <a:pt x="0" y="6"/>
                    <a:pt x="3" y="3"/>
                  </a:cubicBezTo>
                  <a:cubicBezTo>
                    <a:pt x="7" y="0"/>
                    <a:pt x="12" y="0"/>
                    <a:pt x="15" y="3"/>
                  </a:cubicBezTo>
                  <a:cubicBezTo>
                    <a:pt x="63" y="52"/>
                    <a:pt x="63" y="52"/>
                    <a:pt x="63" y="52"/>
                  </a:cubicBezTo>
                  <a:cubicBezTo>
                    <a:pt x="66" y="55"/>
                    <a:pt x="66" y="60"/>
                    <a:pt x="63" y="63"/>
                  </a:cubicBezTo>
                  <a:cubicBezTo>
                    <a:pt x="62" y="64"/>
                    <a:pt x="60" y="65"/>
                    <a:pt x="57" y="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3200"/>
            </a:p>
          </p:txBody>
        </p:sp>
        <p:sp>
          <p:nvSpPr>
            <p:cNvPr id="100" name="Freeform 20">
              <a:extLst>
                <a:ext uri="{FF2B5EF4-FFF2-40B4-BE49-F238E27FC236}">
                  <a16:creationId xmlns:a16="http://schemas.microsoft.com/office/drawing/2014/main" id="{A53709E6-CCCC-B2E5-7939-01979C8FE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8782" y="2095168"/>
              <a:ext cx="39" cy="38"/>
            </a:xfrm>
            <a:custGeom>
              <a:avLst/>
              <a:gdLst>
                <a:gd name="T0" fmla="*/ 57 w 65"/>
                <a:gd name="T1" fmla="*/ 65 h 65"/>
                <a:gd name="T2" fmla="*/ 51 w 65"/>
                <a:gd name="T3" fmla="*/ 63 h 65"/>
                <a:gd name="T4" fmla="*/ 3 w 65"/>
                <a:gd name="T5" fmla="*/ 14 h 65"/>
                <a:gd name="T6" fmla="*/ 3 w 65"/>
                <a:gd name="T7" fmla="*/ 3 h 65"/>
                <a:gd name="T8" fmla="*/ 14 w 65"/>
                <a:gd name="T9" fmla="*/ 3 h 65"/>
                <a:gd name="T10" fmla="*/ 62 w 65"/>
                <a:gd name="T11" fmla="*/ 51 h 65"/>
                <a:gd name="T12" fmla="*/ 62 w 65"/>
                <a:gd name="T13" fmla="*/ 63 h 65"/>
                <a:gd name="T14" fmla="*/ 57 w 65"/>
                <a:gd name="T15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5" h="65">
                  <a:moveTo>
                    <a:pt x="57" y="65"/>
                  </a:moveTo>
                  <a:cubicBezTo>
                    <a:pt x="55" y="65"/>
                    <a:pt x="53" y="64"/>
                    <a:pt x="51" y="6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0" y="11"/>
                    <a:pt x="0" y="6"/>
                    <a:pt x="3" y="3"/>
                  </a:cubicBezTo>
                  <a:cubicBezTo>
                    <a:pt x="6" y="0"/>
                    <a:pt x="11" y="0"/>
                    <a:pt x="14" y="3"/>
                  </a:cubicBezTo>
                  <a:cubicBezTo>
                    <a:pt x="62" y="51"/>
                    <a:pt x="62" y="51"/>
                    <a:pt x="62" y="51"/>
                  </a:cubicBezTo>
                  <a:cubicBezTo>
                    <a:pt x="65" y="55"/>
                    <a:pt x="65" y="60"/>
                    <a:pt x="62" y="63"/>
                  </a:cubicBezTo>
                  <a:cubicBezTo>
                    <a:pt x="61" y="64"/>
                    <a:pt x="59" y="65"/>
                    <a:pt x="57" y="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3200"/>
            </a:p>
          </p:txBody>
        </p:sp>
        <p:sp>
          <p:nvSpPr>
            <p:cNvPr id="101" name="Freeform 21">
              <a:extLst>
                <a:ext uri="{FF2B5EF4-FFF2-40B4-BE49-F238E27FC236}">
                  <a16:creationId xmlns:a16="http://schemas.microsoft.com/office/drawing/2014/main" id="{C066FD26-5A95-4695-692F-BF4A020BEF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8663" y="2095278"/>
              <a:ext cx="48" cy="48"/>
            </a:xfrm>
            <a:custGeom>
              <a:avLst/>
              <a:gdLst>
                <a:gd name="T0" fmla="*/ 8 w 81"/>
                <a:gd name="T1" fmla="*/ 81 h 81"/>
                <a:gd name="T2" fmla="*/ 3 w 81"/>
                <a:gd name="T3" fmla="*/ 79 h 81"/>
                <a:gd name="T4" fmla="*/ 1 w 81"/>
                <a:gd name="T5" fmla="*/ 71 h 81"/>
                <a:gd name="T6" fmla="*/ 16 w 81"/>
                <a:gd name="T7" fmla="*/ 7 h 81"/>
                <a:gd name="T8" fmla="*/ 26 w 81"/>
                <a:gd name="T9" fmla="*/ 1 h 81"/>
                <a:gd name="T10" fmla="*/ 32 w 81"/>
                <a:gd name="T11" fmla="*/ 11 h 81"/>
                <a:gd name="T12" fmla="*/ 19 w 81"/>
                <a:gd name="T13" fmla="*/ 62 h 81"/>
                <a:gd name="T14" fmla="*/ 71 w 81"/>
                <a:gd name="T15" fmla="*/ 49 h 81"/>
                <a:gd name="T16" fmla="*/ 80 w 81"/>
                <a:gd name="T17" fmla="*/ 55 h 81"/>
                <a:gd name="T18" fmla="*/ 74 w 81"/>
                <a:gd name="T19" fmla="*/ 65 h 81"/>
                <a:gd name="T20" fmla="*/ 10 w 81"/>
                <a:gd name="T21" fmla="*/ 81 h 81"/>
                <a:gd name="T22" fmla="*/ 8 w 81"/>
                <a:gd name="T23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1" h="81">
                  <a:moveTo>
                    <a:pt x="8" y="81"/>
                  </a:moveTo>
                  <a:cubicBezTo>
                    <a:pt x="6" y="81"/>
                    <a:pt x="4" y="80"/>
                    <a:pt x="3" y="79"/>
                  </a:cubicBezTo>
                  <a:cubicBezTo>
                    <a:pt x="1" y="77"/>
                    <a:pt x="0" y="74"/>
                    <a:pt x="1" y="71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7" y="3"/>
                    <a:pt x="22" y="0"/>
                    <a:pt x="26" y="1"/>
                  </a:cubicBezTo>
                  <a:cubicBezTo>
                    <a:pt x="30" y="2"/>
                    <a:pt x="33" y="6"/>
                    <a:pt x="32" y="11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5" y="48"/>
                    <a:pt x="79" y="51"/>
                    <a:pt x="80" y="55"/>
                  </a:cubicBezTo>
                  <a:cubicBezTo>
                    <a:pt x="81" y="60"/>
                    <a:pt x="79" y="64"/>
                    <a:pt x="74" y="65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0" y="81"/>
                    <a:pt x="9" y="81"/>
                    <a:pt x="8" y="8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3200"/>
            </a:p>
          </p:txBody>
        </p:sp>
        <p:sp>
          <p:nvSpPr>
            <p:cNvPr id="102" name="Freeform 22">
              <a:extLst>
                <a:ext uri="{FF2B5EF4-FFF2-40B4-BE49-F238E27FC236}">
                  <a16:creationId xmlns:a16="http://schemas.microsoft.com/office/drawing/2014/main" id="{351990D9-5250-5345-0B26-6C7E1F917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8653" y="2095316"/>
              <a:ext cx="20" cy="20"/>
            </a:xfrm>
            <a:custGeom>
              <a:avLst/>
              <a:gdLst>
                <a:gd name="T0" fmla="*/ 9 w 34"/>
                <a:gd name="T1" fmla="*/ 33 h 33"/>
                <a:gd name="T2" fmla="*/ 3 w 34"/>
                <a:gd name="T3" fmla="*/ 31 h 33"/>
                <a:gd name="T4" fmla="*/ 3 w 34"/>
                <a:gd name="T5" fmla="*/ 20 h 33"/>
                <a:gd name="T6" fmla="*/ 20 w 34"/>
                <a:gd name="T7" fmla="*/ 3 h 33"/>
                <a:gd name="T8" fmla="*/ 31 w 34"/>
                <a:gd name="T9" fmla="*/ 3 h 33"/>
                <a:gd name="T10" fmla="*/ 31 w 34"/>
                <a:gd name="T11" fmla="*/ 15 h 33"/>
                <a:gd name="T12" fmla="*/ 15 w 34"/>
                <a:gd name="T13" fmla="*/ 31 h 33"/>
                <a:gd name="T14" fmla="*/ 9 w 34"/>
                <a:gd name="T1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" h="33">
                  <a:moveTo>
                    <a:pt x="9" y="33"/>
                  </a:moveTo>
                  <a:cubicBezTo>
                    <a:pt x="7" y="33"/>
                    <a:pt x="5" y="33"/>
                    <a:pt x="3" y="31"/>
                  </a:cubicBezTo>
                  <a:cubicBezTo>
                    <a:pt x="0" y="28"/>
                    <a:pt x="0" y="23"/>
                    <a:pt x="3" y="20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3" y="0"/>
                    <a:pt x="28" y="0"/>
                    <a:pt x="31" y="3"/>
                  </a:cubicBezTo>
                  <a:cubicBezTo>
                    <a:pt x="34" y="6"/>
                    <a:pt x="34" y="11"/>
                    <a:pt x="31" y="15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3" y="33"/>
                    <a:pt x="11" y="33"/>
                    <a:pt x="9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3200"/>
            </a:p>
          </p:txBody>
        </p:sp>
      </p:grpSp>
      <p:sp>
        <p:nvSpPr>
          <p:cNvPr id="105" name="Freeform 5">
            <a:extLst>
              <a:ext uri="{FF2B5EF4-FFF2-40B4-BE49-F238E27FC236}">
                <a16:creationId xmlns:a16="http://schemas.microsoft.com/office/drawing/2014/main" id="{7C99728A-A669-0FA5-AD89-F36B29E76044}"/>
              </a:ext>
            </a:extLst>
          </p:cNvPr>
          <p:cNvSpPr>
            <a:spLocks noEditPoints="1"/>
          </p:cNvSpPr>
          <p:nvPr/>
        </p:nvSpPr>
        <p:spPr bwMode="auto">
          <a:xfrm>
            <a:off x="9103549" y="2455067"/>
            <a:ext cx="739088" cy="484364"/>
          </a:xfrm>
          <a:custGeom>
            <a:avLst/>
            <a:gdLst>
              <a:gd name="T0" fmla="*/ 678 w 733"/>
              <a:gd name="T1" fmla="*/ 0 h 479"/>
              <a:gd name="T2" fmla="*/ 55 w 733"/>
              <a:gd name="T3" fmla="*/ 0 h 479"/>
              <a:gd name="T4" fmla="*/ 0 w 733"/>
              <a:gd name="T5" fmla="*/ 55 h 479"/>
              <a:gd name="T6" fmla="*/ 0 w 733"/>
              <a:gd name="T7" fmla="*/ 424 h 479"/>
              <a:gd name="T8" fmla="*/ 55 w 733"/>
              <a:gd name="T9" fmla="*/ 479 h 479"/>
              <a:gd name="T10" fmla="*/ 678 w 733"/>
              <a:gd name="T11" fmla="*/ 479 h 479"/>
              <a:gd name="T12" fmla="*/ 733 w 733"/>
              <a:gd name="T13" fmla="*/ 424 h 479"/>
              <a:gd name="T14" fmla="*/ 733 w 733"/>
              <a:gd name="T15" fmla="*/ 55 h 479"/>
              <a:gd name="T16" fmla="*/ 678 w 733"/>
              <a:gd name="T17" fmla="*/ 0 h 479"/>
              <a:gd name="T18" fmla="*/ 14 w 733"/>
              <a:gd name="T19" fmla="*/ 330 h 479"/>
              <a:gd name="T20" fmla="*/ 719 w 733"/>
              <a:gd name="T21" fmla="*/ 330 h 479"/>
              <a:gd name="T22" fmla="*/ 719 w 733"/>
              <a:gd name="T23" fmla="*/ 393 h 479"/>
              <a:gd name="T24" fmla="*/ 14 w 733"/>
              <a:gd name="T25" fmla="*/ 393 h 479"/>
              <a:gd name="T26" fmla="*/ 14 w 733"/>
              <a:gd name="T27" fmla="*/ 330 h 479"/>
              <a:gd name="T28" fmla="*/ 55 w 733"/>
              <a:gd name="T29" fmla="*/ 14 h 479"/>
              <a:gd name="T30" fmla="*/ 678 w 733"/>
              <a:gd name="T31" fmla="*/ 14 h 479"/>
              <a:gd name="T32" fmla="*/ 719 w 733"/>
              <a:gd name="T33" fmla="*/ 55 h 479"/>
              <a:gd name="T34" fmla="*/ 719 w 733"/>
              <a:gd name="T35" fmla="*/ 316 h 479"/>
              <a:gd name="T36" fmla="*/ 14 w 733"/>
              <a:gd name="T37" fmla="*/ 316 h 479"/>
              <a:gd name="T38" fmla="*/ 14 w 733"/>
              <a:gd name="T39" fmla="*/ 55 h 479"/>
              <a:gd name="T40" fmla="*/ 55 w 733"/>
              <a:gd name="T41" fmla="*/ 14 h 479"/>
              <a:gd name="T42" fmla="*/ 678 w 733"/>
              <a:gd name="T43" fmla="*/ 465 h 479"/>
              <a:gd name="T44" fmla="*/ 55 w 733"/>
              <a:gd name="T45" fmla="*/ 465 h 479"/>
              <a:gd name="T46" fmla="*/ 14 w 733"/>
              <a:gd name="T47" fmla="*/ 424 h 479"/>
              <a:gd name="T48" fmla="*/ 14 w 733"/>
              <a:gd name="T49" fmla="*/ 407 h 479"/>
              <a:gd name="T50" fmla="*/ 719 w 733"/>
              <a:gd name="T51" fmla="*/ 407 h 479"/>
              <a:gd name="T52" fmla="*/ 719 w 733"/>
              <a:gd name="T53" fmla="*/ 424 h 479"/>
              <a:gd name="T54" fmla="*/ 678 w 733"/>
              <a:gd name="T55" fmla="*/ 465 h 4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733" h="479">
                <a:moveTo>
                  <a:pt x="678" y="0"/>
                </a:moveTo>
                <a:cubicBezTo>
                  <a:pt x="55" y="0"/>
                  <a:pt x="55" y="0"/>
                  <a:pt x="55" y="0"/>
                </a:cubicBezTo>
                <a:cubicBezTo>
                  <a:pt x="25" y="0"/>
                  <a:pt x="0" y="24"/>
                  <a:pt x="0" y="55"/>
                </a:cubicBezTo>
                <a:cubicBezTo>
                  <a:pt x="0" y="424"/>
                  <a:pt x="0" y="424"/>
                  <a:pt x="0" y="424"/>
                </a:cubicBezTo>
                <a:cubicBezTo>
                  <a:pt x="0" y="455"/>
                  <a:pt x="25" y="479"/>
                  <a:pt x="55" y="479"/>
                </a:cubicBezTo>
                <a:cubicBezTo>
                  <a:pt x="678" y="479"/>
                  <a:pt x="678" y="479"/>
                  <a:pt x="678" y="479"/>
                </a:cubicBezTo>
                <a:cubicBezTo>
                  <a:pt x="708" y="479"/>
                  <a:pt x="733" y="455"/>
                  <a:pt x="733" y="424"/>
                </a:cubicBezTo>
                <a:cubicBezTo>
                  <a:pt x="733" y="55"/>
                  <a:pt x="733" y="55"/>
                  <a:pt x="733" y="55"/>
                </a:cubicBezTo>
                <a:cubicBezTo>
                  <a:pt x="733" y="24"/>
                  <a:pt x="708" y="0"/>
                  <a:pt x="678" y="0"/>
                </a:cubicBezTo>
                <a:close/>
                <a:moveTo>
                  <a:pt x="14" y="330"/>
                </a:moveTo>
                <a:cubicBezTo>
                  <a:pt x="719" y="330"/>
                  <a:pt x="719" y="330"/>
                  <a:pt x="719" y="330"/>
                </a:cubicBezTo>
                <a:cubicBezTo>
                  <a:pt x="719" y="393"/>
                  <a:pt x="719" y="393"/>
                  <a:pt x="719" y="393"/>
                </a:cubicBezTo>
                <a:cubicBezTo>
                  <a:pt x="14" y="393"/>
                  <a:pt x="14" y="393"/>
                  <a:pt x="14" y="393"/>
                </a:cubicBezTo>
                <a:lnTo>
                  <a:pt x="14" y="330"/>
                </a:lnTo>
                <a:close/>
                <a:moveTo>
                  <a:pt x="55" y="14"/>
                </a:moveTo>
                <a:cubicBezTo>
                  <a:pt x="678" y="14"/>
                  <a:pt x="678" y="14"/>
                  <a:pt x="678" y="14"/>
                </a:cubicBezTo>
                <a:cubicBezTo>
                  <a:pt x="701" y="14"/>
                  <a:pt x="719" y="32"/>
                  <a:pt x="719" y="55"/>
                </a:cubicBezTo>
                <a:cubicBezTo>
                  <a:pt x="719" y="316"/>
                  <a:pt x="719" y="316"/>
                  <a:pt x="719" y="316"/>
                </a:cubicBezTo>
                <a:cubicBezTo>
                  <a:pt x="14" y="316"/>
                  <a:pt x="14" y="316"/>
                  <a:pt x="14" y="316"/>
                </a:cubicBezTo>
                <a:cubicBezTo>
                  <a:pt x="14" y="55"/>
                  <a:pt x="14" y="55"/>
                  <a:pt x="14" y="55"/>
                </a:cubicBezTo>
                <a:cubicBezTo>
                  <a:pt x="14" y="32"/>
                  <a:pt x="32" y="14"/>
                  <a:pt x="55" y="14"/>
                </a:cubicBezTo>
                <a:close/>
                <a:moveTo>
                  <a:pt x="678" y="465"/>
                </a:moveTo>
                <a:cubicBezTo>
                  <a:pt x="55" y="465"/>
                  <a:pt x="55" y="465"/>
                  <a:pt x="55" y="465"/>
                </a:cubicBezTo>
                <a:cubicBezTo>
                  <a:pt x="32" y="465"/>
                  <a:pt x="14" y="447"/>
                  <a:pt x="14" y="424"/>
                </a:cubicBezTo>
                <a:cubicBezTo>
                  <a:pt x="14" y="407"/>
                  <a:pt x="14" y="407"/>
                  <a:pt x="14" y="407"/>
                </a:cubicBezTo>
                <a:cubicBezTo>
                  <a:pt x="719" y="407"/>
                  <a:pt x="719" y="407"/>
                  <a:pt x="719" y="407"/>
                </a:cubicBezTo>
                <a:cubicBezTo>
                  <a:pt x="719" y="424"/>
                  <a:pt x="719" y="424"/>
                  <a:pt x="719" y="424"/>
                </a:cubicBezTo>
                <a:cubicBezTo>
                  <a:pt x="719" y="447"/>
                  <a:pt x="701" y="465"/>
                  <a:pt x="678" y="46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6BE2C89F-9819-F9C0-57E2-D2D8EFB2940E}"/>
              </a:ext>
            </a:extLst>
          </p:cNvPr>
          <p:cNvCxnSpPr/>
          <p:nvPr/>
        </p:nvCxnSpPr>
        <p:spPr>
          <a:xfrm>
            <a:off x="10969825" y="4604845"/>
            <a:ext cx="5044" cy="6841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49791839-1D77-B121-0572-3DF6F03DBB51}"/>
              </a:ext>
            </a:extLst>
          </p:cNvPr>
          <p:cNvSpPr txBox="1"/>
          <p:nvPr/>
        </p:nvSpPr>
        <p:spPr>
          <a:xfrm>
            <a:off x="9880852" y="5449879"/>
            <a:ext cx="2178708" cy="9694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900">
                <a:solidFill>
                  <a:schemeClr val="bg1">
                    <a:lumMod val="50000"/>
                  </a:schemeClr>
                </a:solidFill>
              </a:rPr>
              <a:t>Interaction: </a:t>
            </a:r>
            <a:endParaRPr lang="en-US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sz="1900">
                <a:solidFill>
                  <a:schemeClr val="bg1">
                    <a:lumMod val="50000"/>
                  </a:schemeClr>
                </a:solidFill>
              </a:rPr>
              <a:t>Skill amplifies the </a:t>
            </a:r>
            <a:endParaRPr lang="en-GB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sz="1900">
                <a:solidFill>
                  <a:schemeClr val="bg1">
                    <a:lumMod val="50000"/>
                  </a:schemeClr>
                </a:solidFill>
              </a:rPr>
              <a:t>near-miss effect</a:t>
            </a:r>
            <a:endParaRPr lang="en-GB">
              <a:solidFill>
                <a:schemeClr val="bg1">
                  <a:lumMod val="50000"/>
                </a:schemeClr>
              </a:solidFill>
              <a:ea typeface="Open Sans Light"/>
              <a:cs typeface="Open Sans Ligh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2E9C72-2B04-8406-3287-797D49A63600}"/>
              </a:ext>
            </a:extLst>
          </p:cNvPr>
          <p:cNvSpPr/>
          <p:nvPr/>
        </p:nvSpPr>
        <p:spPr>
          <a:xfrm>
            <a:off x="1332689" y="1752621"/>
            <a:ext cx="4264023" cy="780598"/>
          </a:xfrm>
          <a:prstGeom prst="rect">
            <a:avLst/>
          </a:prstGeom>
        </p:spPr>
        <p:txBody>
          <a:bodyPr wrap="square" lIns="243840" tIns="45720" rIns="243840" bIns="97536" anchor="t">
            <a:spAutoFit/>
          </a:bodyPr>
          <a:lstStyle/>
          <a:p>
            <a:pPr>
              <a:lnSpc>
                <a:spcPct val="95000"/>
              </a:lnSpc>
            </a:pPr>
            <a:r>
              <a:rPr lang="en-US" sz="1450">
                <a:ea typeface="+mn-lt"/>
                <a:cs typeface="+mn-lt"/>
              </a:rPr>
              <a:t>If the </a:t>
            </a:r>
            <a:r>
              <a:rPr lang="en-US" sz="1450" b="1">
                <a:ea typeface="+mn-lt"/>
                <a:cs typeface="+mn-lt"/>
              </a:rPr>
              <a:t>interaction </a:t>
            </a:r>
            <a:r>
              <a:rPr lang="en-US" sz="1450">
                <a:ea typeface="+mn-lt"/>
                <a:cs typeface="+mn-lt"/>
              </a:rPr>
              <a:t>is driven by </a:t>
            </a:r>
            <a:r>
              <a:rPr lang="en-US" sz="1450" b="1">
                <a:ea typeface="+mn-lt"/>
                <a:cs typeface="+mn-lt"/>
              </a:rPr>
              <a:t>rational updating</a:t>
            </a:r>
            <a:r>
              <a:rPr lang="en-US" sz="1450">
                <a:ea typeface="+mn-lt"/>
                <a:cs typeface="+mn-lt"/>
              </a:rPr>
              <a:t>, perceived </a:t>
            </a:r>
            <a:r>
              <a:rPr lang="en-US" sz="1450" b="1">
                <a:ea typeface="+mn-lt"/>
                <a:cs typeface="+mn-lt"/>
              </a:rPr>
              <a:t>learning potential </a:t>
            </a:r>
            <a:r>
              <a:rPr lang="en-US" sz="1450">
                <a:ea typeface="+mn-lt"/>
                <a:cs typeface="+mn-lt"/>
              </a:rPr>
              <a:t>will mediate the </a:t>
            </a:r>
            <a:r>
              <a:rPr lang="en-US" sz="1450" b="1">
                <a:ea typeface="+mn-lt"/>
                <a:cs typeface="+mn-lt"/>
              </a:rPr>
              <a:t>Skill × Near-Miss </a:t>
            </a:r>
            <a:r>
              <a:rPr lang="en-US" sz="1450">
                <a:ea typeface="+mn-lt"/>
                <a:cs typeface="+mn-lt"/>
              </a:rPr>
              <a:t>interaction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0F58EF-D886-FD21-785E-CB56440FC740}"/>
              </a:ext>
            </a:extLst>
          </p:cNvPr>
          <p:cNvSpPr/>
          <p:nvPr/>
        </p:nvSpPr>
        <p:spPr>
          <a:xfrm>
            <a:off x="1332689" y="2789521"/>
            <a:ext cx="4256625" cy="780598"/>
          </a:xfrm>
          <a:prstGeom prst="rect">
            <a:avLst/>
          </a:prstGeom>
        </p:spPr>
        <p:txBody>
          <a:bodyPr wrap="square" lIns="243840" tIns="45720" rIns="243840" bIns="97536" anchor="t">
            <a:spAutoFit/>
          </a:bodyPr>
          <a:lstStyle/>
          <a:p>
            <a:pPr>
              <a:lnSpc>
                <a:spcPct val="95000"/>
              </a:lnSpc>
            </a:pPr>
            <a:r>
              <a:rPr lang="en-US" sz="1450">
                <a:ea typeface="+mn-lt"/>
                <a:cs typeface="+mn-lt"/>
              </a:rPr>
              <a:t>In the </a:t>
            </a:r>
            <a:r>
              <a:rPr lang="en-US" sz="1450" b="1">
                <a:ea typeface="+mn-lt"/>
                <a:cs typeface="+mn-lt"/>
              </a:rPr>
              <a:t>skill-framed </a:t>
            </a:r>
            <a:r>
              <a:rPr lang="en-US" sz="1450">
                <a:ea typeface="+mn-lt"/>
                <a:cs typeface="+mn-lt"/>
              </a:rPr>
              <a:t>condition, </a:t>
            </a:r>
            <a:r>
              <a:rPr lang="en-US" sz="1450" b="1">
                <a:ea typeface="+mn-lt"/>
                <a:cs typeface="+mn-lt"/>
              </a:rPr>
              <a:t>near-miss </a:t>
            </a:r>
            <a:r>
              <a:rPr lang="en-US" sz="1450">
                <a:ea typeface="+mn-lt"/>
                <a:cs typeface="+mn-lt"/>
              </a:rPr>
              <a:t>feedback will produce significantly </a:t>
            </a:r>
            <a:r>
              <a:rPr lang="en-US" sz="1450" b="1">
                <a:ea typeface="+mn-lt"/>
                <a:cs typeface="+mn-lt"/>
              </a:rPr>
              <a:t>higher persistence </a:t>
            </a:r>
            <a:r>
              <a:rPr lang="en-US" sz="1450">
                <a:ea typeface="+mn-lt"/>
                <a:cs typeface="+mn-lt"/>
              </a:rPr>
              <a:t>than </a:t>
            </a:r>
            <a:r>
              <a:rPr lang="en-US" sz="1450" b="1">
                <a:ea typeface="+mn-lt"/>
                <a:cs typeface="+mn-lt"/>
              </a:rPr>
              <a:t>clear-loss </a:t>
            </a:r>
            <a:r>
              <a:rPr lang="en-US" sz="1450">
                <a:ea typeface="+mn-lt"/>
                <a:cs typeface="+mn-lt"/>
              </a:rPr>
              <a:t>feedback</a:t>
            </a:r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BFB396-D049-24A4-D733-D377E853B4E4}"/>
              </a:ext>
            </a:extLst>
          </p:cNvPr>
          <p:cNvSpPr/>
          <p:nvPr/>
        </p:nvSpPr>
        <p:spPr>
          <a:xfrm>
            <a:off x="1332689" y="3878532"/>
            <a:ext cx="4264023" cy="1204561"/>
          </a:xfrm>
          <a:prstGeom prst="rect">
            <a:avLst/>
          </a:prstGeom>
        </p:spPr>
        <p:txBody>
          <a:bodyPr wrap="square" lIns="243840" tIns="45720" rIns="243840" bIns="97536" anchor="t">
            <a:spAutoFit/>
          </a:bodyPr>
          <a:lstStyle/>
          <a:p>
            <a:pPr>
              <a:lnSpc>
                <a:spcPct val="95000"/>
              </a:lnSpc>
            </a:pPr>
            <a:r>
              <a:rPr lang="en-US" sz="1450">
                <a:ea typeface="+mn-lt"/>
                <a:cs typeface="+mn-lt"/>
              </a:rPr>
              <a:t>In the </a:t>
            </a:r>
            <a:r>
              <a:rPr lang="en-US" sz="1450" b="1">
                <a:ea typeface="+mn-lt"/>
                <a:cs typeface="+mn-lt"/>
              </a:rPr>
              <a:t>luck-framed </a:t>
            </a:r>
            <a:r>
              <a:rPr lang="en-US" sz="1450">
                <a:ea typeface="+mn-lt"/>
                <a:cs typeface="+mn-lt"/>
              </a:rPr>
              <a:t>condition, </a:t>
            </a:r>
            <a:r>
              <a:rPr lang="en-US" sz="1450" b="1">
                <a:ea typeface="+mn-lt"/>
                <a:cs typeface="+mn-lt"/>
              </a:rPr>
              <a:t>near-miss </a:t>
            </a:r>
            <a:r>
              <a:rPr lang="en-US" sz="1450">
                <a:ea typeface="+mn-lt"/>
                <a:cs typeface="+mn-lt"/>
              </a:rPr>
              <a:t>feedback will produce </a:t>
            </a:r>
            <a:r>
              <a:rPr lang="en-US" sz="1450" b="1">
                <a:ea typeface="+mn-lt"/>
                <a:cs typeface="+mn-lt"/>
              </a:rPr>
              <a:t>higher persistence </a:t>
            </a:r>
            <a:r>
              <a:rPr lang="en-US" sz="1450">
                <a:ea typeface="+mn-lt"/>
                <a:cs typeface="+mn-lt"/>
              </a:rPr>
              <a:t>than </a:t>
            </a:r>
            <a:r>
              <a:rPr lang="en-US" sz="1450" b="1">
                <a:ea typeface="+mn-lt"/>
                <a:cs typeface="+mn-lt"/>
              </a:rPr>
              <a:t>clear-loss </a:t>
            </a:r>
            <a:r>
              <a:rPr lang="en-US" sz="1450">
                <a:ea typeface="+mn-lt"/>
                <a:cs typeface="+mn-lt"/>
              </a:rPr>
              <a:t>feedback, but this difference will be </a:t>
            </a:r>
            <a:r>
              <a:rPr lang="en-US" sz="1450" b="1">
                <a:ea typeface="+mn-lt"/>
                <a:cs typeface="+mn-lt"/>
              </a:rPr>
              <a:t>smaller than in H2 </a:t>
            </a:r>
            <a:r>
              <a:rPr lang="en-US" sz="1450">
                <a:ea typeface="+mn-lt"/>
                <a:cs typeface="+mn-lt"/>
              </a:rPr>
              <a:t>(or potentially </a:t>
            </a:r>
            <a:endParaRPr lang="en-US">
              <a:ea typeface="+mn-lt"/>
              <a:cs typeface="+mn-lt"/>
            </a:endParaRPr>
          </a:p>
          <a:p>
            <a:pPr>
              <a:lnSpc>
                <a:spcPct val="95000"/>
              </a:lnSpc>
            </a:pPr>
            <a:r>
              <a:rPr lang="en-US" sz="1450">
                <a:ea typeface="+mn-lt"/>
                <a:cs typeface="+mn-lt"/>
              </a:rPr>
              <a:t>non-significant)</a:t>
            </a:r>
            <a:endParaRPr lang="en-US">
              <a:ea typeface="Open Sans Light"/>
              <a:cs typeface="Open Sans Light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4CB9877-9DEB-3733-8753-6908C1602E98}"/>
              </a:ext>
            </a:extLst>
          </p:cNvPr>
          <p:cNvGrpSpPr/>
          <p:nvPr/>
        </p:nvGrpSpPr>
        <p:grpSpPr>
          <a:xfrm>
            <a:off x="711201" y="2724865"/>
            <a:ext cx="753095" cy="753088"/>
            <a:chOff x="711201" y="2532515"/>
            <a:chExt cx="753095" cy="753088"/>
          </a:xfrm>
        </p:grpSpPr>
        <p:sp>
          <p:nvSpPr>
            <p:cNvPr id="19" name="Oval 12">
              <a:extLst>
                <a:ext uri="{FF2B5EF4-FFF2-40B4-BE49-F238E27FC236}">
                  <a16:creationId xmlns:a16="http://schemas.microsoft.com/office/drawing/2014/main" id="{ABE11A90-4C9E-3C2A-AA5B-9D44869764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201" y="2532515"/>
              <a:ext cx="753095" cy="75308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EED7A031-641A-8DDF-AB56-D25A4790F0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6464" y="2763940"/>
              <a:ext cx="502565" cy="290241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80E987A-FEDF-18C7-44A9-F7B6EFCD683A}"/>
              </a:ext>
            </a:extLst>
          </p:cNvPr>
          <p:cNvGrpSpPr/>
          <p:nvPr/>
        </p:nvGrpSpPr>
        <p:grpSpPr>
          <a:xfrm>
            <a:off x="711201" y="3780739"/>
            <a:ext cx="753095" cy="753088"/>
            <a:chOff x="711201" y="3381244"/>
            <a:chExt cx="753095" cy="753088"/>
          </a:xfrm>
        </p:grpSpPr>
        <p:sp>
          <p:nvSpPr>
            <p:cNvPr id="24" name="Oval 12">
              <a:extLst>
                <a:ext uri="{FF2B5EF4-FFF2-40B4-BE49-F238E27FC236}">
                  <a16:creationId xmlns:a16="http://schemas.microsoft.com/office/drawing/2014/main" id="{99C21336-2A29-568B-4CDA-B1CA12C6BF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201" y="3381244"/>
              <a:ext cx="753095" cy="753088"/>
            </a:xfrm>
            <a:prstGeom prst="ellipse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9BC23435-DC2C-67E8-126A-005CF03DE5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8649" y="3534720"/>
              <a:ext cx="298195" cy="446136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6CEA866-2C74-3527-3F53-57023C197FB7}"/>
              </a:ext>
            </a:extLst>
          </p:cNvPr>
          <p:cNvGrpSpPr/>
          <p:nvPr/>
        </p:nvGrpSpPr>
        <p:grpSpPr>
          <a:xfrm>
            <a:off x="711201" y="5077586"/>
            <a:ext cx="753095" cy="753088"/>
            <a:chOff x="711201" y="4219411"/>
            <a:chExt cx="753095" cy="753088"/>
          </a:xfrm>
        </p:grpSpPr>
        <p:sp>
          <p:nvSpPr>
            <p:cNvPr id="28" name="Oval 12">
              <a:extLst>
                <a:ext uri="{FF2B5EF4-FFF2-40B4-BE49-F238E27FC236}">
                  <a16:creationId xmlns:a16="http://schemas.microsoft.com/office/drawing/2014/main" id="{CD23222A-8F61-6DD0-9E62-91CB00654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201" y="4219411"/>
              <a:ext cx="753095" cy="75308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/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6521CA19-2A7C-7C09-7BA6-EB82B374FD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7444" y="4461175"/>
              <a:ext cx="500609" cy="269560"/>
            </a:xfrm>
            <a:prstGeom prst="rect">
              <a:avLst/>
            </a:prstGeom>
          </p:spPr>
        </p:pic>
      </p:grpSp>
      <p:sp>
        <p:nvSpPr>
          <p:cNvPr id="32" name="Oval 12">
            <a:extLst>
              <a:ext uri="{FF2B5EF4-FFF2-40B4-BE49-F238E27FC236}">
                <a16:creationId xmlns:a16="http://schemas.microsoft.com/office/drawing/2014/main" id="{EBE67F88-ADDA-C743-EE86-B50A49169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1" y="1701801"/>
            <a:ext cx="753095" cy="753087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6AC35AE-7988-0895-2316-018D5F88CC68}"/>
              </a:ext>
            </a:extLst>
          </p:cNvPr>
          <p:cNvSpPr/>
          <p:nvPr/>
        </p:nvSpPr>
        <p:spPr>
          <a:xfrm>
            <a:off x="1332689" y="5197342"/>
            <a:ext cx="4264022" cy="992579"/>
          </a:xfrm>
          <a:prstGeom prst="rect">
            <a:avLst/>
          </a:prstGeom>
        </p:spPr>
        <p:txBody>
          <a:bodyPr wrap="square" lIns="243840" tIns="45720" rIns="243840" bIns="97536" anchor="t">
            <a:spAutoFit/>
          </a:bodyPr>
          <a:lstStyle/>
          <a:p>
            <a:pPr>
              <a:lnSpc>
                <a:spcPct val="95000"/>
              </a:lnSpc>
            </a:pPr>
            <a:r>
              <a:rPr lang="en-US" sz="1450">
                <a:ea typeface="+mn-lt"/>
                <a:cs typeface="+mn-lt"/>
              </a:rPr>
              <a:t>The </a:t>
            </a:r>
            <a:r>
              <a:rPr lang="en-US" sz="1450" b="1">
                <a:ea typeface="+mn-lt"/>
                <a:cs typeface="+mn-lt"/>
              </a:rPr>
              <a:t>difference in persistence </a:t>
            </a:r>
            <a:r>
              <a:rPr lang="en-US" sz="1450">
                <a:ea typeface="+mn-lt"/>
                <a:cs typeface="+mn-lt"/>
              </a:rPr>
              <a:t>between near-miss and clear-loss feedback will be significantly </a:t>
            </a:r>
            <a:r>
              <a:rPr lang="en-US" sz="1450" b="1">
                <a:ea typeface="+mn-lt"/>
                <a:cs typeface="+mn-lt"/>
              </a:rPr>
              <a:t>larger </a:t>
            </a:r>
            <a:r>
              <a:rPr lang="en-US" sz="1450">
                <a:ea typeface="+mn-lt"/>
                <a:cs typeface="+mn-lt"/>
              </a:rPr>
              <a:t>in the </a:t>
            </a:r>
            <a:r>
              <a:rPr lang="en-US" sz="1450" b="1">
                <a:ea typeface="+mn-lt"/>
                <a:cs typeface="+mn-lt"/>
              </a:rPr>
              <a:t>skill-framed condition </a:t>
            </a:r>
            <a:r>
              <a:rPr lang="en-US" sz="1450">
                <a:ea typeface="+mn-lt"/>
                <a:cs typeface="+mn-lt"/>
              </a:rPr>
              <a:t>than in the luck-framed condition</a:t>
            </a:r>
            <a:endParaRPr lang="en-US"/>
          </a:p>
        </p:txBody>
      </p:sp>
      <p:sp>
        <p:nvSpPr>
          <p:cNvPr id="36" name="Freeform 109">
            <a:extLst>
              <a:ext uri="{FF2B5EF4-FFF2-40B4-BE49-F238E27FC236}">
                <a16:creationId xmlns:a16="http://schemas.microsoft.com/office/drawing/2014/main" id="{83F1AEA5-1970-6E03-3691-C1151BE46E91}"/>
              </a:ext>
            </a:extLst>
          </p:cNvPr>
          <p:cNvSpPr>
            <a:spLocks noEditPoints="1"/>
          </p:cNvSpPr>
          <p:nvPr/>
        </p:nvSpPr>
        <p:spPr bwMode="auto">
          <a:xfrm>
            <a:off x="799770" y="1783240"/>
            <a:ext cx="572834" cy="594011"/>
          </a:xfrm>
          <a:custGeom>
            <a:avLst/>
            <a:gdLst>
              <a:gd name="T0" fmla="*/ 431 w 692"/>
              <a:gd name="T1" fmla="*/ 165 h 693"/>
              <a:gd name="T2" fmla="*/ 350 w 692"/>
              <a:gd name="T3" fmla="*/ 245 h 693"/>
              <a:gd name="T4" fmla="*/ 349 w 692"/>
              <a:gd name="T5" fmla="*/ 246 h 693"/>
              <a:gd name="T6" fmla="*/ 348 w 692"/>
              <a:gd name="T7" fmla="*/ 246 h 693"/>
              <a:gd name="T8" fmla="*/ 345 w 692"/>
              <a:gd name="T9" fmla="*/ 246 h 693"/>
              <a:gd name="T10" fmla="*/ 343 w 692"/>
              <a:gd name="T11" fmla="*/ 246 h 693"/>
              <a:gd name="T12" fmla="*/ 342 w 692"/>
              <a:gd name="T13" fmla="*/ 245 h 693"/>
              <a:gd name="T14" fmla="*/ 262 w 692"/>
              <a:gd name="T15" fmla="*/ 165 h 693"/>
              <a:gd name="T16" fmla="*/ 272 w 692"/>
              <a:gd name="T17" fmla="*/ 155 h 693"/>
              <a:gd name="T18" fmla="*/ 339 w 692"/>
              <a:gd name="T19" fmla="*/ 7 h 693"/>
              <a:gd name="T20" fmla="*/ 353 w 692"/>
              <a:gd name="T21" fmla="*/ 7 h 693"/>
              <a:gd name="T22" fmla="*/ 421 w 692"/>
              <a:gd name="T23" fmla="*/ 155 h 693"/>
              <a:gd name="T24" fmla="*/ 351 w 692"/>
              <a:gd name="T25" fmla="*/ 449 h 693"/>
              <a:gd name="T26" fmla="*/ 341 w 692"/>
              <a:gd name="T27" fmla="*/ 449 h 693"/>
              <a:gd name="T28" fmla="*/ 262 w 692"/>
              <a:gd name="T29" fmla="*/ 539 h 693"/>
              <a:gd name="T30" fmla="*/ 339 w 692"/>
              <a:gd name="T31" fmla="*/ 471 h 693"/>
              <a:gd name="T32" fmla="*/ 346 w 692"/>
              <a:gd name="T33" fmla="*/ 693 h 693"/>
              <a:gd name="T34" fmla="*/ 353 w 692"/>
              <a:gd name="T35" fmla="*/ 471 h 693"/>
              <a:gd name="T36" fmla="*/ 426 w 692"/>
              <a:gd name="T37" fmla="*/ 541 h 693"/>
              <a:gd name="T38" fmla="*/ 431 w 692"/>
              <a:gd name="T39" fmla="*/ 529 h 693"/>
              <a:gd name="T40" fmla="*/ 685 w 692"/>
              <a:gd name="T41" fmla="*/ 340 h 693"/>
              <a:gd name="T42" fmla="*/ 538 w 692"/>
              <a:gd name="T43" fmla="*/ 272 h 693"/>
              <a:gd name="T44" fmla="*/ 528 w 692"/>
              <a:gd name="T45" fmla="*/ 262 h 693"/>
              <a:gd name="T46" fmla="*/ 448 w 692"/>
              <a:gd name="T47" fmla="*/ 343 h 693"/>
              <a:gd name="T48" fmla="*/ 447 w 692"/>
              <a:gd name="T49" fmla="*/ 344 h 693"/>
              <a:gd name="T50" fmla="*/ 447 w 692"/>
              <a:gd name="T51" fmla="*/ 345 h 693"/>
              <a:gd name="T52" fmla="*/ 447 w 692"/>
              <a:gd name="T53" fmla="*/ 348 h 693"/>
              <a:gd name="T54" fmla="*/ 447 w 692"/>
              <a:gd name="T55" fmla="*/ 349 h 693"/>
              <a:gd name="T56" fmla="*/ 448 w 692"/>
              <a:gd name="T57" fmla="*/ 351 h 693"/>
              <a:gd name="T58" fmla="*/ 528 w 692"/>
              <a:gd name="T59" fmla="*/ 431 h 693"/>
              <a:gd name="T60" fmla="*/ 538 w 692"/>
              <a:gd name="T61" fmla="*/ 431 h 693"/>
              <a:gd name="T62" fmla="*/ 471 w 692"/>
              <a:gd name="T63" fmla="*/ 354 h 693"/>
              <a:gd name="T64" fmla="*/ 692 w 692"/>
              <a:gd name="T65" fmla="*/ 347 h 693"/>
              <a:gd name="T66" fmla="*/ 245 w 692"/>
              <a:gd name="T67" fmla="*/ 349 h 693"/>
              <a:gd name="T68" fmla="*/ 246 w 692"/>
              <a:gd name="T69" fmla="*/ 348 h 693"/>
              <a:gd name="T70" fmla="*/ 246 w 692"/>
              <a:gd name="T71" fmla="*/ 345 h 693"/>
              <a:gd name="T72" fmla="*/ 245 w 692"/>
              <a:gd name="T73" fmla="*/ 344 h 693"/>
              <a:gd name="T74" fmla="*/ 244 w 692"/>
              <a:gd name="T75" fmla="*/ 343 h 693"/>
              <a:gd name="T76" fmla="*/ 164 w 692"/>
              <a:gd name="T77" fmla="*/ 262 h 693"/>
              <a:gd name="T78" fmla="*/ 154 w 692"/>
              <a:gd name="T79" fmla="*/ 272 h 693"/>
              <a:gd name="T80" fmla="*/ 7 w 692"/>
              <a:gd name="T81" fmla="*/ 340 h 693"/>
              <a:gd name="T82" fmla="*/ 7 w 692"/>
              <a:gd name="T83" fmla="*/ 354 h 693"/>
              <a:gd name="T84" fmla="*/ 154 w 692"/>
              <a:gd name="T85" fmla="*/ 421 h 693"/>
              <a:gd name="T86" fmla="*/ 159 w 692"/>
              <a:gd name="T87" fmla="*/ 433 h 693"/>
              <a:gd name="T88" fmla="*/ 244 w 692"/>
              <a:gd name="T89" fmla="*/ 352 h 693"/>
              <a:gd name="T90" fmla="*/ 245 w 692"/>
              <a:gd name="T91" fmla="*/ 350 h 693"/>
              <a:gd name="T92" fmla="*/ 346 w 692"/>
              <a:gd name="T93" fmla="*/ 371 h 693"/>
              <a:gd name="T94" fmla="*/ 346 w 692"/>
              <a:gd name="T95" fmla="*/ 323 h 693"/>
              <a:gd name="T96" fmla="*/ 346 w 692"/>
              <a:gd name="T97" fmla="*/ 371 h 693"/>
              <a:gd name="T98" fmla="*/ 356 w 692"/>
              <a:gd name="T99" fmla="*/ 347 h 693"/>
              <a:gd name="T100" fmla="*/ 336 w 692"/>
              <a:gd name="T101" fmla="*/ 347 h 6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692" h="693">
                <a:moveTo>
                  <a:pt x="431" y="155"/>
                </a:moveTo>
                <a:cubicBezTo>
                  <a:pt x="433" y="158"/>
                  <a:pt x="433" y="162"/>
                  <a:pt x="431" y="165"/>
                </a:cubicBezTo>
                <a:cubicBezTo>
                  <a:pt x="351" y="244"/>
                  <a:pt x="351" y="244"/>
                  <a:pt x="351" y="244"/>
                </a:cubicBezTo>
                <a:cubicBezTo>
                  <a:pt x="351" y="245"/>
                  <a:pt x="350" y="245"/>
                  <a:pt x="350" y="245"/>
                </a:cubicBezTo>
                <a:cubicBezTo>
                  <a:pt x="350" y="245"/>
                  <a:pt x="350" y="245"/>
                  <a:pt x="350" y="245"/>
                </a:cubicBezTo>
                <a:cubicBezTo>
                  <a:pt x="349" y="246"/>
                  <a:pt x="349" y="246"/>
                  <a:pt x="349" y="246"/>
                </a:cubicBezTo>
                <a:cubicBezTo>
                  <a:pt x="349" y="246"/>
                  <a:pt x="348" y="246"/>
                  <a:pt x="348" y="246"/>
                </a:cubicBezTo>
                <a:cubicBezTo>
                  <a:pt x="348" y="246"/>
                  <a:pt x="348" y="246"/>
                  <a:pt x="348" y="246"/>
                </a:cubicBezTo>
                <a:cubicBezTo>
                  <a:pt x="347" y="246"/>
                  <a:pt x="347" y="246"/>
                  <a:pt x="346" y="246"/>
                </a:cubicBezTo>
                <a:cubicBezTo>
                  <a:pt x="346" y="246"/>
                  <a:pt x="345" y="246"/>
                  <a:pt x="345" y="246"/>
                </a:cubicBezTo>
                <a:cubicBezTo>
                  <a:pt x="345" y="246"/>
                  <a:pt x="344" y="246"/>
                  <a:pt x="344" y="246"/>
                </a:cubicBezTo>
                <a:cubicBezTo>
                  <a:pt x="344" y="246"/>
                  <a:pt x="344" y="246"/>
                  <a:pt x="343" y="246"/>
                </a:cubicBezTo>
                <a:cubicBezTo>
                  <a:pt x="343" y="246"/>
                  <a:pt x="343" y="246"/>
                  <a:pt x="343" y="245"/>
                </a:cubicBezTo>
                <a:cubicBezTo>
                  <a:pt x="343" y="245"/>
                  <a:pt x="342" y="245"/>
                  <a:pt x="342" y="245"/>
                </a:cubicBezTo>
                <a:cubicBezTo>
                  <a:pt x="342" y="245"/>
                  <a:pt x="342" y="245"/>
                  <a:pt x="341" y="244"/>
                </a:cubicBezTo>
                <a:cubicBezTo>
                  <a:pt x="262" y="165"/>
                  <a:pt x="262" y="165"/>
                  <a:pt x="262" y="165"/>
                </a:cubicBezTo>
                <a:cubicBezTo>
                  <a:pt x="259" y="162"/>
                  <a:pt x="259" y="158"/>
                  <a:pt x="262" y="155"/>
                </a:cubicBezTo>
                <a:cubicBezTo>
                  <a:pt x="264" y="152"/>
                  <a:pt x="269" y="152"/>
                  <a:pt x="272" y="155"/>
                </a:cubicBezTo>
                <a:cubicBezTo>
                  <a:pt x="339" y="222"/>
                  <a:pt x="339" y="222"/>
                  <a:pt x="339" y="222"/>
                </a:cubicBezTo>
                <a:cubicBezTo>
                  <a:pt x="339" y="7"/>
                  <a:pt x="339" y="7"/>
                  <a:pt x="339" y="7"/>
                </a:cubicBezTo>
                <a:cubicBezTo>
                  <a:pt x="339" y="4"/>
                  <a:pt x="342" y="0"/>
                  <a:pt x="346" y="0"/>
                </a:cubicBezTo>
                <a:cubicBezTo>
                  <a:pt x="350" y="0"/>
                  <a:pt x="353" y="4"/>
                  <a:pt x="353" y="7"/>
                </a:cubicBezTo>
                <a:cubicBezTo>
                  <a:pt x="353" y="222"/>
                  <a:pt x="353" y="222"/>
                  <a:pt x="353" y="222"/>
                </a:cubicBezTo>
                <a:cubicBezTo>
                  <a:pt x="421" y="155"/>
                  <a:pt x="421" y="155"/>
                  <a:pt x="421" y="155"/>
                </a:cubicBezTo>
                <a:cubicBezTo>
                  <a:pt x="423" y="152"/>
                  <a:pt x="428" y="152"/>
                  <a:pt x="431" y="155"/>
                </a:cubicBezTo>
                <a:close/>
                <a:moveTo>
                  <a:pt x="351" y="449"/>
                </a:moveTo>
                <a:cubicBezTo>
                  <a:pt x="350" y="448"/>
                  <a:pt x="348" y="447"/>
                  <a:pt x="346" y="447"/>
                </a:cubicBezTo>
                <a:cubicBezTo>
                  <a:pt x="344" y="447"/>
                  <a:pt x="342" y="448"/>
                  <a:pt x="341" y="449"/>
                </a:cubicBezTo>
                <a:cubicBezTo>
                  <a:pt x="262" y="529"/>
                  <a:pt x="262" y="529"/>
                  <a:pt x="262" y="529"/>
                </a:cubicBezTo>
                <a:cubicBezTo>
                  <a:pt x="259" y="532"/>
                  <a:pt x="259" y="536"/>
                  <a:pt x="262" y="539"/>
                </a:cubicBezTo>
                <a:cubicBezTo>
                  <a:pt x="264" y="542"/>
                  <a:pt x="269" y="542"/>
                  <a:pt x="272" y="539"/>
                </a:cubicBezTo>
                <a:cubicBezTo>
                  <a:pt x="339" y="471"/>
                  <a:pt x="339" y="471"/>
                  <a:pt x="339" y="471"/>
                </a:cubicBezTo>
                <a:cubicBezTo>
                  <a:pt x="339" y="686"/>
                  <a:pt x="339" y="686"/>
                  <a:pt x="339" y="686"/>
                </a:cubicBezTo>
                <a:cubicBezTo>
                  <a:pt x="339" y="690"/>
                  <a:pt x="342" y="693"/>
                  <a:pt x="346" y="693"/>
                </a:cubicBezTo>
                <a:cubicBezTo>
                  <a:pt x="350" y="693"/>
                  <a:pt x="353" y="690"/>
                  <a:pt x="353" y="686"/>
                </a:cubicBezTo>
                <a:cubicBezTo>
                  <a:pt x="353" y="471"/>
                  <a:pt x="353" y="471"/>
                  <a:pt x="353" y="471"/>
                </a:cubicBezTo>
                <a:cubicBezTo>
                  <a:pt x="421" y="539"/>
                  <a:pt x="421" y="539"/>
                  <a:pt x="421" y="539"/>
                </a:cubicBezTo>
                <a:cubicBezTo>
                  <a:pt x="422" y="540"/>
                  <a:pt x="424" y="541"/>
                  <a:pt x="426" y="541"/>
                </a:cubicBezTo>
                <a:cubicBezTo>
                  <a:pt x="427" y="541"/>
                  <a:pt x="429" y="540"/>
                  <a:pt x="431" y="539"/>
                </a:cubicBezTo>
                <a:cubicBezTo>
                  <a:pt x="433" y="536"/>
                  <a:pt x="433" y="532"/>
                  <a:pt x="431" y="529"/>
                </a:cubicBezTo>
                <a:lnTo>
                  <a:pt x="351" y="449"/>
                </a:lnTo>
                <a:close/>
                <a:moveTo>
                  <a:pt x="685" y="340"/>
                </a:moveTo>
                <a:cubicBezTo>
                  <a:pt x="471" y="340"/>
                  <a:pt x="471" y="340"/>
                  <a:pt x="471" y="340"/>
                </a:cubicBezTo>
                <a:cubicBezTo>
                  <a:pt x="538" y="272"/>
                  <a:pt x="538" y="272"/>
                  <a:pt x="538" y="272"/>
                </a:cubicBezTo>
                <a:cubicBezTo>
                  <a:pt x="541" y="269"/>
                  <a:pt x="541" y="265"/>
                  <a:pt x="538" y="262"/>
                </a:cubicBezTo>
                <a:cubicBezTo>
                  <a:pt x="535" y="260"/>
                  <a:pt x="531" y="260"/>
                  <a:pt x="528" y="262"/>
                </a:cubicBezTo>
                <a:cubicBezTo>
                  <a:pt x="449" y="342"/>
                  <a:pt x="449" y="342"/>
                  <a:pt x="449" y="342"/>
                </a:cubicBezTo>
                <a:cubicBezTo>
                  <a:pt x="448" y="342"/>
                  <a:pt x="448" y="343"/>
                  <a:pt x="448" y="343"/>
                </a:cubicBezTo>
                <a:cubicBezTo>
                  <a:pt x="448" y="343"/>
                  <a:pt x="448" y="343"/>
                  <a:pt x="448" y="343"/>
                </a:cubicBezTo>
                <a:cubicBezTo>
                  <a:pt x="448" y="343"/>
                  <a:pt x="447" y="344"/>
                  <a:pt x="447" y="344"/>
                </a:cubicBezTo>
                <a:cubicBezTo>
                  <a:pt x="447" y="344"/>
                  <a:pt x="447" y="344"/>
                  <a:pt x="447" y="344"/>
                </a:cubicBezTo>
                <a:cubicBezTo>
                  <a:pt x="447" y="345"/>
                  <a:pt x="447" y="345"/>
                  <a:pt x="447" y="345"/>
                </a:cubicBezTo>
                <a:cubicBezTo>
                  <a:pt x="447" y="346"/>
                  <a:pt x="447" y="346"/>
                  <a:pt x="447" y="347"/>
                </a:cubicBezTo>
                <a:cubicBezTo>
                  <a:pt x="447" y="347"/>
                  <a:pt x="447" y="348"/>
                  <a:pt x="447" y="348"/>
                </a:cubicBezTo>
                <a:cubicBezTo>
                  <a:pt x="447" y="349"/>
                  <a:pt x="447" y="349"/>
                  <a:pt x="447" y="349"/>
                </a:cubicBezTo>
                <a:cubicBezTo>
                  <a:pt x="447" y="349"/>
                  <a:pt x="447" y="349"/>
                  <a:pt x="447" y="349"/>
                </a:cubicBezTo>
                <a:cubicBezTo>
                  <a:pt x="447" y="350"/>
                  <a:pt x="448" y="350"/>
                  <a:pt x="448" y="351"/>
                </a:cubicBezTo>
                <a:cubicBezTo>
                  <a:pt x="448" y="351"/>
                  <a:pt x="448" y="351"/>
                  <a:pt x="448" y="351"/>
                </a:cubicBezTo>
                <a:cubicBezTo>
                  <a:pt x="448" y="351"/>
                  <a:pt x="448" y="351"/>
                  <a:pt x="449" y="352"/>
                </a:cubicBezTo>
                <a:cubicBezTo>
                  <a:pt x="528" y="431"/>
                  <a:pt x="528" y="431"/>
                  <a:pt x="528" y="431"/>
                </a:cubicBezTo>
                <a:cubicBezTo>
                  <a:pt x="530" y="433"/>
                  <a:pt x="531" y="433"/>
                  <a:pt x="533" y="433"/>
                </a:cubicBezTo>
                <a:cubicBezTo>
                  <a:pt x="535" y="433"/>
                  <a:pt x="537" y="433"/>
                  <a:pt x="538" y="431"/>
                </a:cubicBezTo>
                <a:cubicBezTo>
                  <a:pt x="541" y="429"/>
                  <a:pt x="541" y="424"/>
                  <a:pt x="538" y="421"/>
                </a:cubicBezTo>
                <a:cubicBezTo>
                  <a:pt x="471" y="354"/>
                  <a:pt x="471" y="354"/>
                  <a:pt x="471" y="354"/>
                </a:cubicBezTo>
                <a:cubicBezTo>
                  <a:pt x="685" y="354"/>
                  <a:pt x="685" y="354"/>
                  <a:pt x="685" y="354"/>
                </a:cubicBezTo>
                <a:cubicBezTo>
                  <a:pt x="689" y="354"/>
                  <a:pt x="692" y="351"/>
                  <a:pt x="692" y="347"/>
                </a:cubicBezTo>
                <a:cubicBezTo>
                  <a:pt x="692" y="343"/>
                  <a:pt x="689" y="340"/>
                  <a:pt x="685" y="340"/>
                </a:cubicBezTo>
                <a:close/>
                <a:moveTo>
                  <a:pt x="245" y="349"/>
                </a:moveTo>
                <a:cubicBezTo>
                  <a:pt x="245" y="349"/>
                  <a:pt x="245" y="349"/>
                  <a:pt x="245" y="349"/>
                </a:cubicBezTo>
                <a:cubicBezTo>
                  <a:pt x="245" y="349"/>
                  <a:pt x="245" y="349"/>
                  <a:pt x="246" y="348"/>
                </a:cubicBezTo>
                <a:cubicBezTo>
                  <a:pt x="246" y="348"/>
                  <a:pt x="246" y="347"/>
                  <a:pt x="246" y="347"/>
                </a:cubicBezTo>
                <a:cubicBezTo>
                  <a:pt x="246" y="346"/>
                  <a:pt x="246" y="346"/>
                  <a:pt x="246" y="345"/>
                </a:cubicBezTo>
                <a:cubicBezTo>
                  <a:pt x="245" y="345"/>
                  <a:pt x="245" y="345"/>
                  <a:pt x="245" y="344"/>
                </a:cubicBezTo>
                <a:cubicBezTo>
                  <a:pt x="245" y="344"/>
                  <a:pt x="245" y="344"/>
                  <a:pt x="245" y="344"/>
                </a:cubicBezTo>
                <a:cubicBezTo>
                  <a:pt x="245" y="344"/>
                  <a:pt x="245" y="343"/>
                  <a:pt x="245" y="343"/>
                </a:cubicBezTo>
                <a:cubicBezTo>
                  <a:pt x="245" y="343"/>
                  <a:pt x="245" y="343"/>
                  <a:pt x="244" y="343"/>
                </a:cubicBezTo>
                <a:cubicBezTo>
                  <a:pt x="244" y="343"/>
                  <a:pt x="244" y="342"/>
                  <a:pt x="244" y="342"/>
                </a:cubicBezTo>
                <a:cubicBezTo>
                  <a:pt x="164" y="262"/>
                  <a:pt x="164" y="262"/>
                  <a:pt x="164" y="262"/>
                </a:cubicBezTo>
                <a:cubicBezTo>
                  <a:pt x="161" y="260"/>
                  <a:pt x="157" y="260"/>
                  <a:pt x="154" y="262"/>
                </a:cubicBezTo>
                <a:cubicBezTo>
                  <a:pt x="151" y="265"/>
                  <a:pt x="151" y="269"/>
                  <a:pt x="154" y="272"/>
                </a:cubicBezTo>
                <a:cubicBezTo>
                  <a:pt x="222" y="340"/>
                  <a:pt x="222" y="340"/>
                  <a:pt x="222" y="340"/>
                </a:cubicBezTo>
                <a:cubicBezTo>
                  <a:pt x="7" y="340"/>
                  <a:pt x="7" y="340"/>
                  <a:pt x="7" y="340"/>
                </a:cubicBezTo>
                <a:cubicBezTo>
                  <a:pt x="3" y="340"/>
                  <a:pt x="0" y="343"/>
                  <a:pt x="0" y="347"/>
                </a:cubicBezTo>
                <a:cubicBezTo>
                  <a:pt x="0" y="351"/>
                  <a:pt x="3" y="354"/>
                  <a:pt x="7" y="354"/>
                </a:cubicBezTo>
                <a:cubicBezTo>
                  <a:pt x="222" y="354"/>
                  <a:pt x="222" y="354"/>
                  <a:pt x="222" y="354"/>
                </a:cubicBezTo>
                <a:cubicBezTo>
                  <a:pt x="154" y="421"/>
                  <a:pt x="154" y="421"/>
                  <a:pt x="154" y="421"/>
                </a:cubicBezTo>
                <a:cubicBezTo>
                  <a:pt x="151" y="424"/>
                  <a:pt x="151" y="429"/>
                  <a:pt x="154" y="431"/>
                </a:cubicBezTo>
                <a:cubicBezTo>
                  <a:pt x="156" y="433"/>
                  <a:pt x="157" y="433"/>
                  <a:pt x="159" y="433"/>
                </a:cubicBezTo>
                <a:cubicBezTo>
                  <a:pt x="161" y="433"/>
                  <a:pt x="163" y="433"/>
                  <a:pt x="164" y="431"/>
                </a:cubicBezTo>
                <a:cubicBezTo>
                  <a:pt x="244" y="352"/>
                  <a:pt x="244" y="352"/>
                  <a:pt x="244" y="352"/>
                </a:cubicBezTo>
                <a:cubicBezTo>
                  <a:pt x="244" y="351"/>
                  <a:pt x="244" y="351"/>
                  <a:pt x="244" y="351"/>
                </a:cubicBezTo>
                <a:cubicBezTo>
                  <a:pt x="245" y="351"/>
                  <a:pt x="245" y="351"/>
                  <a:pt x="245" y="350"/>
                </a:cubicBezTo>
                <a:cubicBezTo>
                  <a:pt x="245" y="350"/>
                  <a:pt x="245" y="350"/>
                  <a:pt x="245" y="349"/>
                </a:cubicBezTo>
                <a:close/>
                <a:moveTo>
                  <a:pt x="346" y="371"/>
                </a:moveTo>
                <a:cubicBezTo>
                  <a:pt x="333" y="371"/>
                  <a:pt x="322" y="360"/>
                  <a:pt x="322" y="347"/>
                </a:cubicBezTo>
                <a:cubicBezTo>
                  <a:pt x="322" y="333"/>
                  <a:pt x="333" y="323"/>
                  <a:pt x="346" y="323"/>
                </a:cubicBezTo>
                <a:cubicBezTo>
                  <a:pt x="359" y="323"/>
                  <a:pt x="370" y="333"/>
                  <a:pt x="370" y="347"/>
                </a:cubicBezTo>
                <a:cubicBezTo>
                  <a:pt x="370" y="360"/>
                  <a:pt x="359" y="371"/>
                  <a:pt x="346" y="371"/>
                </a:cubicBezTo>
                <a:close/>
                <a:moveTo>
                  <a:pt x="346" y="357"/>
                </a:moveTo>
                <a:cubicBezTo>
                  <a:pt x="352" y="357"/>
                  <a:pt x="356" y="352"/>
                  <a:pt x="356" y="347"/>
                </a:cubicBezTo>
                <a:cubicBezTo>
                  <a:pt x="356" y="341"/>
                  <a:pt x="352" y="337"/>
                  <a:pt x="346" y="337"/>
                </a:cubicBezTo>
                <a:cubicBezTo>
                  <a:pt x="341" y="337"/>
                  <a:pt x="336" y="341"/>
                  <a:pt x="336" y="347"/>
                </a:cubicBezTo>
                <a:cubicBezTo>
                  <a:pt x="336" y="352"/>
                  <a:pt x="341" y="357"/>
                  <a:pt x="346" y="35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553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Dependent variables</a:t>
            </a:r>
            <a:endParaRPr lang="en-US">
              <a:ea typeface="Open Sans Light"/>
              <a:cs typeface="Open Sans Light"/>
            </a:endParaRPr>
          </a:p>
        </p:txBody>
      </p:sp>
      <p:sp>
        <p:nvSpPr>
          <p:cNvPr id="54" name="Text Placeholder 53"/>
          <p:cNvSpPr>
            <a:spLocks noGrp="1"/>
          </p:cNvSpPr>
          <p:nvPr>
            <p:ph type="body" sz="quarter" idx="10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/>
              <a:t>Basic Version</a:t>
            </a:r>
            <a:endParaRPr lang="en-US">
              <a:ea typeface="Open Sans Light"/>
              <a:cs typeface="Open Sans Light"/>
            </a:endParaRPr>
          </a:p>
        </p:txBody>
      </p:sp>
      <p:sp>
        <p:nvSpPr>
          <p:cNvPr id="3" name="Oval 2"/>
          <p:cNvSpPr/>
          <p:nvPr/>
        </p:nvSpPr>
        <p:spPr>
          <a:xfrm>
            <a:off x="3799934" y="1988840"/>
            <a:ext cx="2580253" cy="2580251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solidFill>
              <a:schemeClr val="accent1">
                <a:alpha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tx1"/>
              </a:solidFill>
            </a:endParaRPr>
          </a:p>
        </p:txBody>
      </p:sp>
      <p:sp>
        <p:nvSpPr>
          <p:cNvPr id="4" name="Oval 3"/>
          <p:cNvSpPr/>
          <p:nvPr/>
        </p:nvSpPr>
        <p:spPr>
          <a:xfrm>
            <a:off x="5638358" y="1988840"/>
            <a:ext cx="2580253" cy="2580251"/>
          </a:xfrm>
          <a:prstGeom prst="ellipse">
            <a:avLst/>
          </a:prstGeom>
          <a:solidFill>
            <a:schemeClr val="accent5">
              <a:alpha val="85000"/>
            </a:schemeClr>
          </a:solidFill>
          <a:ln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983765" y="2276181"/>
            <a:ext cx="1980312" cy="40415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2100">
                <a:solidFill>
                  <a:srgbClr val="FFFFFF"/>
                </a:solidFill>
              </a:rPr>
              <a:t>Primary DV</a:t>
            </a:r>
          </a:p>
        </p:txBody>
      </p:sp>
      <p:sp>
        <p:nvSpPr>
          <p:cNvPr id="7" name="Rectangle 6"/>
          <p:cNvSpPr/>
          <p:nvPr/>
        </p:nvSpPr>
        <p:spPr>
          <a:xfrm>
            <a:off x="6012032" y="2276181"/>
            <a:ext cx="1994616" cy="39934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2100">
                <a:solidFill>
                  <a:srgbClr val="FFFFFF"/>
                </a:solidFill>
              </a:rPr>
              <a:t>Secondary DV</a:t>
            </a:r>
            <a:endParaRPr lang="en-US" sz="2133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9651" y="2867314"/>
            <a:ext cx="3048000" cy="823302"/>
          </a:xfrm>
          <a:prstGeom prst="rect">
            <a:avLst/>
          </a:prstGeom>
        </p:spPr>
        <p:txBody>
          <a:bodyPr wrap="square" lIns="91440" tIns="45720" rIns="91440" bIns="45720" anchor="ctr" anchorCtr="0">
            <a:spAutoFit/>
          </a:bodyPr>
          <a:lstStyle/>
          <a:p>
            <a:pPr algn="r">
              <a:lnSpc>
                <a:spcPct val="95000"/>
              </a:lnSpc>
            </a:pPr>
            <a:r>
              <a:rPr lang="en-US" sz="2100"/>
              <a:t>Willingness to persist</a:t>
            </a:r>
            <a:endParaRPr lang="en-US"/>
          </a:p>
          <a:p>
            <a:pPr algn="r">
              <a:lnSpc>
                <a:spcPct val="95000"/>
              </a:lnSpc>
            </a:pPr>
            <a:endParaRPr lang="fr-FR" sz="1450" b="1">
              <a:ea typeface="+mn-lt"/>
              <a:cs typeface="+mn-lt"/>
            </a:endParaRPr>
          </a:p>
          <a:p>
            <a:pPr algn="r">
              <a:lnSpc>
                <a:spcPct val="95000"/>
              </a:lnSpc>
            </a:pPr>
            <a:r>
              <a:rPr lang="fr-FR" sz="1450" err="1">
                <a:ea typeface="+mn-lt"/>
                <a:cs typeface="+mn-lt"/>
              </a:rPr>
              <a:t>behavioral</a:t>
            </a:r>
            <a:r>
              <a:rPr lang="fr-FR" sz="1450">
                <a:ea typeface="+mn-lt"/>
                <a:cs typeface="+mn-lt"/>
              </a:rPr>
              <a:t> </a:t>
            </a:r>
            <a:r>
              <a:rPr lang="fr-FR" sz="1450" err="1">
                <a:ea typeface="+mn-lt"/>
                <a:cs typeface="+mn-lt"/>
              </a:rPr>
              <a:t>choice</a:t>
            </a:r>
            <a:r>
              <a:rPr lang="fr-FR" sz="1450">
                <a:ea typeface="+mn-lt"/>
                <a:cs typeface="+mn-lt"/>
              </a:rPr>
              <a:t> of rounds 0-10</a:t>
            </a:r>
            <a:endParaRPr lang="en-US" sz="1450">
              <a:ea typeface="Open Sans Light"/>
              <a:cs typeface="Open Sans Ligh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624691" y="2861833"/>
            <a:ext cx="3048000" cy="823302"/>
          </a:xfrm>
          <a:prstGeom prst="rect">
            <a:avLst/>
          </a:prstGeom>
        </p:spPr>
        <p:txBody>
          <a:bodyPr wrap="square" lIns="91440" tIns="45720" rIns="91440" bIns="45720" anchor="ctr" anchorCtr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100">
                <a:ea typeface="Open Sans Light"/>
                <a:cs typeface="Open Sans Light"/>
              </a:rPr>
              <a:t>Likert scale measure </a:t>
            </a:r>
            <a:r>
              <a:rPr lang="en-US" sz="1450">
                <a:ea typeface="+mn-lt"/>
                <a:cs typeface="+mn-lt"/>
              </a:rPr>
              <a:t> </a:t>
            </a:r>
            <a:endParaRPr lang="en-US" sz="2100">
              <a:ea typeface="+mn-lt"/>
              <a:cs typeface="+mn-lt"/>
            </a:endParaRPr>
          </a:p>
          <a:p>
            <a:pPr>
              <a:lnSpc>
                <a:spcPct val="95000"/>
              </a:lnSpc>
            </a:pPr>
            <a:endParaRPr lang="en-US" sz="1450">
              <a:ea typeface="+mn-lt"/>
              <a:cs typeface="+mn-lt"/>
            </a:endParaRPr>
          </a:p>
          <a:p>
            <a:pPr>
              <a:lnSpc>
                <a:spcPct val="95000"/>
              </a:lnSpc>
            </a:pPr>
            <a:r>
              <a:rPr lang="en-US" sz="1450">
                <a:ea typeface="+mn-lt"/>
                <a:cs typeface="+mn-lt"/>
              </a:rPr>
              <a:t>self-reported willingness 1-7</a:t>
            </a:r>
            <a:endParaRPr lang="en-US" sz="1450">
              <a:ea typeface="Open Sans Light"/>
              <a:cs typeface="Open Sans Ligh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426584" y="4938380"/>
            <a:ext cx="3165376" cy="1013354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2100">
                <a:solidFill>
                  <a:schemeClr val="bg1"/>
                </a:solidFill>
                <a:ea typeface="+mn-lt"/>
                <a:cs typeface="+mn-lt"/>
              </a:rPr>
              <a:t>This way we are getting both </a:t>
            </a:r>
            <a:r>
              <a:rPr lang="en-US" sz="2100" b="1">
                <a:solidFill>
                  <a:schemeClr val="bg1"/>
                </a:solidFill>
                <a:ea typeface="+mn-lt"/>
                <a:cs typeface="+mn-lt"/>
              </a:rPr>
              <a:t>behavioral </a:t>
            </a:r>
            <a:r>
              <a:rPr lang="en-US" sz="2100">
                <a:solidFill>
                  <a:schemeClr val="bg1"/>
                </a:solidFill>
                <a:ea typeface="+mn-lt"/>
                <a:cs typeface="+mn-lt"/>
              </a:rPr>
              <a:t>and </a:t>
            </a:r>
            <a:r>
              <a:rPr lang="en-US" sz="2100" b="1">
                <a:solidFill>
                  <a:schemeClr val="bg1"/>
                </a:solidFill>
                <a:ea typeface="+mn-lt"/>
                <a:cs typeface="+mn-lt"/>
              </a:rPr>
              <a:t>attitudinal </a:t>
            </a:r>
            <a:r>
              <a:rPr lang="en-US" sz="2100">
                <a:solidFill>
                  <a:schemeClr val="bg1"/>
                </a:solidFill>
                <a:ea typeface="+mn-lt"/>
                <a:cs typeface="+mn-lt"/>
              </a:rPr>
              <a:t>measures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5879030" y="3182955"/>
            <a:ext cx="192021" cy="192021"/>
          </a:xfrm>
          <a:prstGeom prst="ellipse">
            <a:avLst/>
          </a:prstGeom>
          <a:solidFill>
            <a:schemeClr val="tx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cxnSp>
        <p:nvCxnSpPr>
          <p:cNvPr id="14" name="Straight Connector 13"/>
          <p:cNvCxnSpPr>
            <a:stCxn id="13" idx="4"/>
            <a:endCxn id="12" idx="0"/>
          </p:cNvCxnSpPr>
          <p:nvPr/>
        </p:nvCxnSpPr>
        <p:spPr>
          <a:xfrm>
            <a:off x="5975041" y="3374976"/>
            <a:ext cx="34231" cy="1563404"/>
          </a:xfrm>
          <a:prstGeom prst="line">
            <a:avLst/>
          </a:prstGeom>
          <a:ln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/>
          <p:cNvGrpSpPr/>
          <p:nvPr/>
        </p:nvGrpSpPr>
        <p:grpSpPr>
          <a:xfrm>
            <a:off x="6700141" y="2861052"/>
            <a:ext cx="1042097" cy="872985"/>
            <a:chOff x="119063" y="2792413"/>
            <a:chExt cx="361950" cy="303213"/>
          </a:xfrm>
        </p:grpSpPr>
        <p:sp>
          <p:nvSpPr>
            <p:cNvPr id="32" name="Freeform 31"/>
            <p:cNvSpPr>
              <a:spLocks noEditPoints="1"/>
            </p:cNvSpPr>
            <p:nvPr/>
          </p:nvSpPr>
          <p:spPr bwMode="auto">
            <a:xfrm>
              <a:off x="119063" y="2792413"/>
              <a:ext cx="361950" cy="303213"/>
            </a:xfrm>
            <a:custGeom>
              <a:avLst/>
              <a:gdLst>
                <a:gd name="T0" fmla="*/ 212 w 214"/>
                <a:gd name="T1" fmla="*/ 51 h 179"/>
                <a:gd name="T2" fmla="*/ 162 w 214"/>
                <a:gd name="T3" fmla="*/ 38 h 179"/>
                <a:gd name="T4" fmla="*/ 163 w 214"/>
                <a:gd name="T5" fmla="*/ 30 h 179"/>
                <a:gd name="T6" fmla="*/ 133 w 214"/>
                <a:gd name="T7" fmla="*/ 0 h 179"/>
                <a:gd name="T8" fmla="*/ 103 w 214"/>
                <a:gd name="T9" fmla="*/ 30 h 179"/>
                <a:gd name="T10" fmla="*/ 105 w 214"/>
                <a:gd name="T11" fmla="*/ 42 h 179"/>
                <a:gd name="T12" fmla="*/ 72 w 214"/>
                <a:gd name="T13" fmla="*/ 51 h 179"/>
                <a:gd name="T14" fmla="*/ 3 w 214"/>
                <a:gd name="T15" fmla="*/ 33 h 179"/>
                <a:gd name="T16" fmla="*/ 1 w 214"/>
                <a:gd name="T17" fmla="*/ 33 h 179"/>
                <a:gd name="T18" fmla="*/ 0 w 214"/>
                <a:gd name="T19" fmla="*/ 35 h 179"/>
                <a:gd name="T20" fmla="*/ 0 w 214"/>
                <a:gd name="T21" fmla="*/ 159 h 179"/>
                <a:gd name="T22" fmla="*/ 2 w 214"/>
                <a:gd name="T23" fmla="*/ 161 h 179"/>
                <a:gd name="T24" fmla="*/ 72 w 214"/>
                <a:gd name="T25" fmla="*/ 179 h 179"/>
                <a:gd name="T26" fmla="*/ 72 w 214"/>
                <a:gd name="T27" fmla="*/ 179 h 179"/>
                <a:gd name="T28" fmla="*/ 72 w 214"/>
                <a:gd name="T29" fmla="*/ 179 h 179"/>
                <a:gd name="T30" fmla="*/ 72 w 214"/>
                <a:gd name="T31" fmla="*/ 179 h 179"/>
                <a:gd name="T32" fmla="*/ 73 w 214"/>
                <a:gd name="T33" fmla="*/ 179 h 179"/>
                <a:gd name="T34" fmla="*/ 142 w 214"/>
                <a:gd name="T35" fmla="*/ 161 h 179"/>
                <a:gd name="T36" fmla="*/ 211 w 214"/>
                <a:gd name="T37" fmla="*/ 179 h 179"/>
                <a:gd name="T38" fmla="*/ 212 w 214"/>
                <a:gd name="T39" fmla="*/ 179 h 179"/>
                <a:gd name="T40" fmla="*/ 213 w 214"/>
                <a:gd name="T41" fmla="*/ 178 h 179"/>
                <a:gd name="T42" fmla="*/ 214 w 214"/>
                <a:gd name="T43" fmla="*/ 176 h 179"/>
                <a:gd name="T44" fmla="*/ 214 w 214"/>
                <a:gd name="T45" fmla="*/ 53 h 179"/>
                <a:gd name="T46" fmla="*/ 212 w 214"/>
                <a:gd name="T47" fmla="*/ 51 h 179"/>
                <a:gd name="T48" fmla="*/ 133 w 214"/>
                <a:gd name="T49" fmla="*/ 5 h 179"/>
                <a:gd name="T50" fmla="*/ 159 w 214"/>
                <a:gd name="T51" fmla="*/ 30 h 179"/>
                <a:gd name="T52" fmla="*/ 157 w 214"/>
                <a:gd name="T53" fmla="*/ 39 h 179"/>
                <a:gd name="T54" fmla="*/ 157 w 214"/>
                <a:gd name="T55" fmla="*/ 39 h 179"/>
                <a:gd name="T56" fmla="*/ 157 w 214"/>
                <a:gd name="T57" fmla="*/ 39 h 179"/>
                <a:gd name="T58" fmla="*/ 133 w 214"/>
                <a:gd name="T59" fmla="*/ 75 h 179"/>
                <a:gd name="T60" fmla="*/ 108 w 214"/>
                <a:gd name="T61" fmla="*/ 30 h 179"/>
                <a:gd name="T62" fmla="*/ 133 w 214"/>
                <a:gd name="T63" fmla="*/ 5 h 179"/>
                <a:gd name="T64" fmla="*/ 5 w 214"/>
                <a:gd name="T65" fmla="*/ 38 h 179"/>
                <a:gd name="T66" fmla="*/ 70 w 214"/>
                <a:gd name="T67" fmla="*/ 55 h 179"/>
                <a:gd name="T68" fmla="*/ 70 w 214"/>
                <a:gd name="T69" fmla="*/ 173 h 179"/>
                <a:gd name="T70" fmla="*/ 5 w 214"/>
                <a:gd name="T71" fmla="*/ 157 h 179"/>
                <a:gd name="T72" fmla="*/ 5 w 214"/>
                <a:gd name="T73" fmla="*/ 38 h 179"/>
                <a:gd name="T74" fmla="*/ 75 w 214"/>
                <a:gd name="T75" fmla="*/ 55 h 179"/>
                <a:gd name="T76" fmla="*/ 107 w 214"/>
                <a:gd name="T77" fmla="*/ 47 h 179"/>
                <a:gd name="T78" fmla="*/ 133 w 214"/>
                <a:gd name="T79" fmla="*/ 79 h 179"/>
                <a:gd name="T80" fmla="*/ 140 w 214"/>
                <a:gd name="T81" fmla="*/ 77 h 179"/>
                <a:gd name="T82" fmla="*/ 140 w 214"/>
                <a:gd name="T83" fmla="*/ 157 h 179"/>
                <a:gd name="T84" fmla="*/ 75 w 214"/>
                <a:gd name="T85" fmla="*/ 173 h 179"/>
                <a:gd name="T86" fmla="*/ 75 w 214"/>
                <a:gd name="T87" fmla="*/ 55 h 179"/>
                <a:gd name="T88" fmla="*/ 209 w 214"/>
                <a:gd name="T89" fmla="*/ 173 h 179"/>
                <a:gd name="T90" fmla="*/ 144 w 214"/>
                <a:gd name="T91" fmla="*/ 157 h 179"/>
                <a:gd name="T92" fmla="*/ 144 w 214"/>
                <a:gd name="T93" fmla="*/ 73 h 179"/>
                <a:gd name="T94" fmla="*/ 161 w 214"/>
                <a:gd name="T95" fmla="*/ 43 h 179"/>
                <a:gd name="T96" fmla="*/ 209 w 214"/>
                <a:gd name="T97" fmla="*/ 55 h 179"/>
                <a:gd name="T98" fmla="*/ 209 w 214"/>
                <a:gd name="T99" fmla="*/ 173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14" h="179">
                  <a:moveTo>
                    <a:pt x="212" y="51"/>
                  </a:moveTo>
                  <a:cubicBezTo>
                    <a:pt x="162" y="38"/>
                    <a:pt x="162" y="38"/>
                    <a:pt x="162" y="38"/>
                  </a:cubicBezTo>
                  <a:cubicBezTo>
                    <a:pt x="163" y="35"/>
                    <a:pt x="163" y="33"/>
                    <a:pt x="163" y="30"/>
                  </a:cubicBezTo>
                  <a:cubicBezTo>
                    <a:pt x="163" y="14"/>
                    <a:pt x="150" y="0"/>
                    <a:pt x="133" y="0"/>
                  </a:cubicBezTo>
                  <a:cubicBezTo>
                    <a:pt x="117" y="0"/>
                    <a:pt x="103" y="14"/>
                    <a:pt x="103" y="30"/>
                  </a:cubicBezTo>
                  <a:cubicBezTo>
                    <a:pt x="103" y="34"/>
                    <a:pt x="104" y="38"/>
                    <a:pt x="105" y="42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2" y="33"/>
                    <a:pt x="2" y="33"/>
                    <a:pt x="1" y="33"/>
                  </a:cubicBezTo>
                  <a:cubicBezTo>
                    <a:pt x="0" y="34"/>
                    <a:pt x="0" y="35"/>
                    <a:pt x="0" y="35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0" y="160"/>
                    <a:pt x="1" y="161"/>
                    <a:pt x="2" y="161"/>
                  </a:cubicBezTo>
                  <a:cubicBezTo>
                    <a:pt x="72" y="179"/>
                    <a:pt x="72" y="179"/>
                    <a:pt x="72" y="179"/>
                  </a:cubicBezTo>
                  <a:cubicBezTo>
                    <a:pt x="72" y="179"/>
                    <a:pt x="72" y="179"/>
                    <a:pt x="72" y="179"/>
                  </a:cubicBezTo>
                  <a:cubicBezTo>
                    <a:pt x="72" y="179"/>
                    <a:pt x="72" y="179"/>
                    <a:pt x="72" y="179"/>
                  </a:cubicBezTo>
                  <a:cubicBezTo>
                    <a:pt x="72" y="179"/>
                    <a:pt x="72" y="179"/>
                    <a:pt x="72" y="179"/>
                  </a:cubicBezTo>
                  <a:cubicBezTo>
                    <a:pt x="72" y="179"/>
                    <a:pt x="73" y="179"/>
                    <a:pt x="73" y="179"/>
                  </a:cubicBezTo>
                  <a:cubicBezTo>
                    <a:pt x="142" y="161"/>
                    <a:pt x="142" y="161"/>
                    <a:pt x="142" y="161"/>
                  </a:cubicBezTo>
                  <a:cubicBezTo>
                    <a:pt x="211" y="179"/>
                    <a:pt x="211" y="179"/>
                    <a:pt x="211" y="179"/>
                  </a:cubicBezTo>
                  <a:cubicBezTo>
                    <a:pt x="211" y="179"/>
                    <a:pt x="211" y="179"/>
                    <a:pt x="212" y="179"/>
                  </a:cubicBezTo>
                  <a:cubicBezTo>
                    <a:pt x="212" y="179"/>
                    <a:pt x="213" y="179"/>
                    <a:pt x="213" y="178"/>
                  </a:cubicBezTo>
                  <a:cubicBezTo>
                    <a:pt x="214" y="178"/>
                    <a:pt x="214" y="177"/>
                    <a:pt x="214" y="176"/>
                  </a:cubicBezTo>
                  <a:cubicBezTo>
                    <a:pt x="214" y="53"/>
                    <a:pt x="214" y="53"/>
                    <a:pt x="214" y="53"/>
                  </a:cubicBezTo>
                  <a:cubicBezTo>
                    <a:pt x="214" y="52"/>
                    <a:pt x="213" y="51"/>
                    <a:pt x="212" y="51"/>
                  </a:cubicBezTo>
                  <a:close/>
                  <a:moveTo>
                    <a:pt x="133" y="5"/>
                  </a:moveTo>
                  <a:cubicBezTo>
                    <a:pt x="147" y="5"/>
                    <a:pt x="159" y="16"/>
                    <a:pt x="159" y="30"/>
                  </a:cubicBezTo>
                  <a:cubicBezTo>
                    <a:pt x="159" y="33"/>
                    <a:pt x="158" y="36"/>
                    <a:pt x="157" y="39"/>
                  </a:cubicBezTo>
                  <a:cubicBezTo>
                    <a:pt x="157" y="39"/>
                    <a:pt x="157" y="39"/>
                    <a:pt x="157" y="39"/>
                  </a:cubicBezTo>
                  <a:cubicBezTo>
                    <a:pt x="157" y="39"/>
                    <a:pt x="157" y="39"/>
                    <a:pt x="157" y="39"/>
                  </a:cubicBezTo>
                  <a:cubicBezTo>
                    <a:pt x="153" y="55"/>
                    <a:pt x="140" y="75"/>
                    <a:pt x="133" y="75"/>
                  </a:cubicBezTo>
                  <a:cubicBezTo>
                    <a:pt x="125" y="75"/>
                    <a:pt x="108" y="45"/>
                    <a:pt x="108" y="30"/>
                  </a:cubicBezTo>
                  <a:cubicBezTo>
                    <a:pt x="108" y="16"/>
                    <a:pt x="119" y="5"/>
                    <a:pt x="133" y="5"/>
                  </a:cubicBezTo>
                  <a:close/>
                  <a:moveTo>
                    <a:pt x="5" y="38"/>
                  </a:moveTo>
                  <a:cubicBezTo>
                    <a:pt x="70" y="55"/>
                    <a:pt x="70" y="55"/>
                    <a:pt x="70" y="55"/>
                  </a:cubicBezTo>
                  <a:cubicBezTo>
                    <a:pt x="70" y="173"/>
                    <a:pt x="70" y="173"/>
                    <a:pt x="70" y="173"/>
                  </a:cubicBezTo>
                  <a:cubicBezTo>
                    <a:pt x="5" y="157"/>
                    <a:pt x="5" y="157"/>
                    <a:pt x="5" y="157"/>
                  </a:cubicBezTo>
                  <a:lnTo>
                    <a:pt x="5" y="38"/>
                  </a:lnTo>
                  <a:close/>
                  <a:moveTo>
                    <a:pt x="75" y="55"/>
                  </a:moveTo>
                  <a:cubicBezTo>
                    <a:pt x="107" y="47"/>
                    <a:pt x="107" y="47"/>
                    <a:pt x="107" y="47"/>
                  </a:cubicBezTo>
                  <a:cubicBezTo>
                    <a:pt x="112" y="62"/>
                    <a:pt x="124" y="79"/>
                    <a:pt x="133" y="79"/>
                  </a:cubicBezTo>
                  <a:cubicBezTo>
                    <a:pt x="135" y="79"/>
                    <a:pt x="137" y="79"/>
                    <a:pt x="140" y="77"/>
                  </a:cubicBezTo>
                  <a:cubicBezTo>
                    <a:pt x="140" y="157"/>
                    <a:pt x="140" y="157"/>
                    <a:pt x="140" y="157"/>
                  </a:cubicBezTo>
                  <a:cubicBezTo>
                    <a:pt x="75" y="173"/>
                    <a:pt x="75" y="173"/>
                    <a:pt x="75" y="173"/>
                  </a:cubicBezTo>
                  <a:lnTo>
                    <a:pt x="75" y="55"/>
                  </a:lnTo>
                  <a:close/>
                  <a:moveTo>
                    <a:pt x="209" y="173"/>
                  </a:moveTo>
                  <a:cubicBezTo>
                    <a:pt x="144" y="157"/>
                    <a:pt x="144" y="157"/>
                    <a:pt x="144" y="157"/>
                  </a:cubicBezTo>
                  <a:cubicBezTo>
                    <a:pt x="144" y="73"/>
                    <a:pt x="144" y="73"/>
                    <a:pt x="144" y="73"/>
                  </a:cubicBezTo>
                  <a:cubicBezTo>
                    <a:pt x="151" y="66"/>
                    <a:pt x="158" y="53"/>
                    <a:pt x="161" y="43"/>
                  </a:cubicBezTo>
                  <a:cubicBezTo>
                    <a:pt x="209" y="55"/>
                    <a:pt x="209" y="55"/>
                    <a:pt x="209" y="55"/>
                  </a:cubicBezTo>
                  <a:lnTo>
                    <a:pt x="209" y="17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/>
            </a:p>
          </p:txBody>
        </p:sp>
        <p:sp>
          <p:nvSpPr>
            <p:cNvPr id="33" name="Freeform 32"/>
            <p:cNvSpPr>
              <a:spLocks noEditPoints="1"/>
            </p:cNvSpPr>
            <p:nvPr/>
          </p:nvSpPr>
          <p:spPr bwMode="auto">
            <a:xfrm>
              <a:off x="317500" y="2817813"/>
              <a:ext cx="53975" cy="52388"/>
            </a:xfrm>
            <a:custGeom>
              <a:avLst/>
              <a:gdLst>
                <a:gd name="T0" fmla="*/ 32 w 32"/>
                <a:gd name="T1" fmla="*/ 15 h 31"/>
                <a:gd name="T2" fmla="*/ 16 w 32"/>
                <a:gd name="T3" fmla="*/ 0 h 31"/>
                <a:gd name="T4" fmla="*/ 0 w 32"/>
                <a:gd name="T5" fmla="*/ 15 h 31"/>
                <a:gd name="T6" fmla="*/ 16 w 32"/>
                <a:gd name="T7" fmla="*/ 31 h 31"/>
                <a:gd name="T8" fmla="*/ 32 w 32"/>
                <a:gd name="T9" fmla="*/ 15 h 31"/>
                <a:gd name="T10" fmla="*/ 5 w 32"/>
                <a:gd name="T11" fmla="*/ 15 h 31"/>
                <a:gd name="T12" fmla="*/ 16 w 32"/>
                <a:gd name="T13" fmla="*/ 4 h 31"/>
                <a:gd name="T14" fmla="*/ 27 w 32"/>
                <a:gd name="T15" fmla="*/ 15 h 31"/>
                <a:gd name="T16" fmla="*/ 16 w 32"/>
                <a:gd name="T17" fmla="*/ 27 h 31"/>
                <a:gd name="T18" fmla="*/ 5 w 32"/>
                <a:gd name="T1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" h="31">
                  <a:moveTo>
                    <a:pt x="32" y="15"/>
                  </a:moveTo>
                  <a:cubicBezTo>
                    <a:pt x="32" y="7"/>
                    <a:pt x="25" y="0"/>
                    <a:pt x="16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24"/>
                    <a:pt x="7" y="31"/>
                    <a:pt x="16" y="31"/>
                  </a:cubicBezTo>
                  <a:cubicBezTo>
                    <a:pt x="25" y="31"/>
                    <a:pt x="32" y="24"/>
                    <a:pt x="32" y="15"/>
                  </a:cubicBezTo>
                  <a:close/>
                  <a:moveTo>
                    <a:pt x="5" y="15"/>
                  </a:moveTo>
                  <a:cubicBezTo>
                    <a:pt x="5" y="9"/>
                    <a:pt x="10" y="4"/>
                    <a:pt x="16" y="4"/>
                  </a:cubicBezTo>
                  <a:cubicBezTo>
                    <a:pt x="22" y="4"/>
                    <a:pt x="27" y="9"/>
                    <a:pt x="27" y="15"/>
                  </a:cubicBezTo>
                  <a:cubicBezTo>
                    <a:pt x="27" y="22"/>
                    <a:pt x="22" y="27"/>
                    <a:pt x="16" y="27"/>
                  </a:cubicBezTo>
                  <a:cubicBezTo>
                    <a:pt x="10" y="27"/>
                    <a:pt x="5" y="22"/>
                    <a:pt x="5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4664224" y="2799891"/>
            <a:ext cx="654019" cy="1064773"/>
            <a:chOff x="2832100" y="2760663"/>
            <a:chExt cx="260350" cy="423863"/>
          </a:xfrm>
        </p:grpSpPr>
        <p:sp>
          <p:nvSpPr>
            <p:cNvPr id="37" name="Freeform 36"/>
            <p:cNvSpPr>
              <a:spLocks noEditPoints="1"/>
            </p:cNvSpPr>
            <p:nvPr/>
          </p:nvSpPr>
          <p:spPr bwMode="auto">
            <a:xfrm>
              <a:off x="2898775" y="3095625"/>
              <a:ext cx="123825" cy="38100"/>
            </a:xfrm>
            <a:custGeom>
              <a:avLst/>
              <a:gdLst>
                <a:gd name="T0" fmla="*/ 62 w 73"/>
                <a:gd name="T1" fmla="*/ 22 h 22"/>
                <a:gd name="T2" fmla="*/ 12 w 73"/>
                <a:gd name="T3" fmla="*/ 22 h 22"/>
                <a:gd name="T4" fmla="*/ 0 w 73"/>
                <a:gd name="T5" fmla="*/ 11 h 22"/>
                <a:gd name="T6" fmla="*/ 12 w 73"/>
                <a:gd name="T7" fmla="*/ 0 h 22"/>
                <a:gd name="T8" fmla="*/ 62 w 73"/>
                <a:gd name="T9" fmla="*/ 0 h 22"/>
                <a:gd name="T10" fmla="*/ 73 w 73"/>
                <a:gd name="T11" fmla="*/ 11 h 22"/>
                <a:gd name="T12" fmla="*/ 62 w 73"/>
                <a:gd name="T13" fmla="*/ 22 h 22"/>
                <a:gd name="T14" fmla="*/ 12 w 73"/>
                <a:gd name="T15" fmla="*/ 5 h 22"/>
                <a:gd name="T16" fmla="*/ 5 w 73"/>
                <a:gd name="T17" fmla="*/ 11 h 22"/>
                <a:gd name="T18" fmla="*/ 12 w 73"/>
                <a:gd name="T19" fmla="*/ 18 h 22"/>
                <a:gd name="T20" fmla="*/ 62 w 73"/>
                <a:gd name="T21" fmla="*/ 18 h 22"/>
                <a:gd name="T22" fmla="*/ 69 w 73"/>
                <a:gd name="T23" fmla="*/ 11 h 22"/>
                <a:gd name="T24" fmla="*/ 62 w 73"/>
                <a:gd name="T25" fmla="*/ 5 h 22"/>
                <a:gd name="T26" fmla="*/ 12 w 73"/>
                <a:gd name="T27" fmla="*/ 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3" h="22">
                  <a:moveTo>
                    <a:pt x="62" y="22"/>
                  </a:moveTo>
                  <a:cubicBezTo>
                    <a:pt x="12" y="22"/>
                    <a:pt x="12" y="22"/>
                    <a:pt x="12" y="22"/>
                  </a:cubicBezTo>
                  <a:cubicBezTo>
                    <a:pt x="6" y="22"/>
                    <a:pt x="0" y="17"/>
                    <a:pt x="0" y="11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8" y="0"/>
                    <a:pt x="73" y="5"/>
                    <a:pt x="73" y="11"/>
                  </a:cubicBezTo>
                  <a:cubicBezTo>
                    <a:pt x="73" y="17"/>
                    <a:pt x="68" y="22"/>
                    <a:pt x="62" y="22"/>
                  </a:cubicBezTo>
                  <a:close/>
                  <a:moveTo>
                    <a:pt x="12" y="5"/>
                  </a:moveTo>
                  <a:cubicBezTo>
                    <a:pt x="8" y="5"/>
                    <a:pt x="5" y="7"/>
                    <a:pt x="5" y="11"/>
                  </a:cubicBezTo>
                  <a:cubicBezTo>
                    <a:pt x="5" y="15"/>
                    <a:pt x="8" y="18"/>
                    <a:pt x="12" y="18"/>
                  </a:cubicBezTo>
                  <a:cubicBezTo>
                    <a:pt x="62" y="18"/>
                    <a:pt x="62" y="18"/>
                    <a:pt x="62" y="18"/>
                  </a:cubicBezTo>
                  <a:cubicBezTo>
                    <a:pt x="66" y="18"/>
                    <a:pt x="69" y="15"/>
                    <a:pt x="69" y="11"/>
                  </a:cubicBezTo>
                  <a:cubicBezTo>
                    <a:pt x="69" y="7"/>
                    <a:pt x="66" y="5"/>
                    <a:pt x="62" y="5"/>
                  </a:cubicBezTo>
                  <a:lnTo>
                    <a:pt x="12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/>
            </a:p>
          </p:txBody>
        </p:sp>
        <p:sp>
          <p:nvSpPr>
            <p:cNvPr id="38" name="Freeform 37"/>
            <p:cNvSpPr>
              <a:spLocks noEditPoints="1"/>
            </p:cNvSpPr>
            <p:nvPr/>
          </p:nvSpPr>
          <p:spPr bwMode="auto">
            <a:xfrm>
              <a:off x="2898775" y="3127375"/>
              <a:ext cx="123825" cy="36513"/>
            </a:xfrm>
            <a:custGeom>
              <a:avLst/>
              <a:gdLst>
                <a:gd name="T0" fmla="*/ 62 w 73"/>
                <a:gd name="T1" fmla="*/ 22 h 22"/>
                <a:gd name="T2" fmla="*/ 12 w 73"/>
                <a:gd name="T3" fmla="*/ 22 h 22"/>
                <a:gd name="T4" fmla="*/ 0 w 73"/>
                <a:gd name="T5" fmla="*/ 11 h 22"/>
                <a:gd name="T6" fmla="*/ 12 w 73"/>
                <a:gd name="T7" fmla="*/ 0 h 22"/>
                <a:gd name="T8" fmla="*/ 62 w 73"/>
                <a:gd name="T9" fmla="*/ 0 h 22"/>
                <a:gd name="T10" fmla="*/ 73 w 73"/>
                <a:gd name="T11" fmla="*/ 11 h 22"/>
                <a:gd name="T12" fmla="*/ 62 w 73"/>
                <a:gd name="T13" fmla="*/ 22 h 22"/>
                <a:gd name="T14" fmla="*/ 12 w 73"/>
                <a:gd name="T15" fmla="*/ 4 h 22"/>
                <a:gd name="T16" fmla="*/ 5 w 73"/>
                <a:gd name="T17" fmla="*/ 11 h 22"/>
                <a:gd name="T18" fmla="*/ 12 w 73"/>
                <a:gd name="T19" fmla="*/ 18 h 22"/>
                <a:gd name="T20" fmla="*/ 62 w 73"/>
                <a:gd name="T21" fmla="*/ 18 h 22"/>
                <a:gd name="T22" fmla="*/ 69 w 73"/>
                <a:gd name="T23" fmla="*/ 11 h 22"/>
                <a:gd name="T24" fmla="*/ 62 w 73"/>
                <a:gd name="T25" fmla="*/ 4 h 22"/>
                <a:gd name="T26" fmla="*/ 12 w 73"/>
                <a:gd name="T27" fmla="*/ 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3" h="22">
                  <a:moveTo>
                    <a:pt x="62" y="22"/>
                  </a:moveTo>
                  <a:cubicBezTo>
                    <a:pt x="12" y="22"/>
                    <a:pt x="12" y="22"/>
                    <a:pt x="12" y="22"/>
                  </a:cubicBezTo>
                  <a:cubicBezTo>
                    <a:pt x="6" y="22"/>
                    <a:pt x="0" y="17"/>
                    <a:pt x="0" y="11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8" y="0"/>
                    <a:pt x="73" y="5"/>
                    <a:pt x="73" y="11"/>
                  </a:cubicBezTo>
                  <a:cubicBezTo>
                    <a:pt x="73" y="17"/>
                    <a:pt x="68" y="22"/>
                    <a:pt x="62" y="22"/>
                  </a:cubicBezTo>
                  <a:close/>
                  <a:moveTo>
                    <a:pt x="12" y="4"/>
                  </a:moveTo>
                  <a:cubicBezTo>
                    <a:pt x="8" y="4"/>
                    <a:pt x="5" y="7"/>
                    <a:pt x="5" y="11"/>
                  </a:cubicBezTo>
                  <a:cubicBezTo>
                    <a:pt x="5" y="15"/>
                    <a:pt x="8" y="18"/>
                    <a:pt x="12" y="18"/>
                  </a:cubicBezTo>
                  <a:cubicBezTo>
                    <a:pt x="62" y="18"/>
                    <a:pt x="62" y="18"/>
                    <a:pt x="62" y="18"/>
                  </a:cubicBezTo>
                  <a:cubicBezTo>
                    <a:pt x="66" y="18"/>
                    <a:pt x="69" y="15"/>
                    <a:pt x="69" y="11"/>
                  </a:cubicBezTo>
                  <a:cubicBezTo>
                    <a:pt x="69" y="7"/>
                    <a:pt x="66" y="4"/>
                    <a:pt x="62" y="4"/>
                  </a:cubicBez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/>
            </a:p>
          </p:txBody>
        </p:sp>
        <p:sp>
          <p:nvSpPr>
            <p:cNvPr id="39" name="Freeform 38"/>
            <p:cNvSpPr>
              <a:spLocks/>
            </p:cNvSpPr>
            <p:nvPr/>
          </p:nvSpPr>
          <p:spPr bwMode="auto">
            <a:xfrm>
              <a:off x="2921000" y="3157538"/>
              <a:ext cx="80963" cy="26988"/>
            </a:xfrm>
            <a:custGeom>
              <a:avLst/>
              <a:gdLst>
                <a:gd name="T0" fmla="*/ 24 w 48"/>
                <a:gd name="T1" fmla="*/ 16 h 16"/>
                <a:gd name="T2" fmla="*/ 0 w 48"/>
                <a:gd name="T3" fmla="*/ 2 h 16"/>
                <a:gd name="T4" fmla="*/ 2 w 48"/>
                <a:gd name="T5" fmla="*/ 0 h 16"/>
                <a:gd name="T6" fmla="*/ 4 w 48"/>
                <a:gd name="T7" fmla="*/ 2 h 16"/>
                <a:gd name="T8" fmla="*/ 24 w 48"/>
                <a:gd name="T9" fmla="*/ 11 h 16"/>
                <a:gd name="T10" fmla="*/ 43 w 48"/>
                <a:gd name="T11" fmla="*/ 2 h 16"/>
                <a:gd name="T12" fmla="*/ 46 w 48"/>
                <a:gd name="T13" fmla="*/ 0 h 16"/>
                <a:gd name="T14" fmla="*/ 48 w 48"/>
                <a:gd name="T15" fmla="*/ 2 h 16"/>
                <a:gd name="T16" fmla="*/ 24 w 48"/>
                <a:gd name="T17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6">
                  <a:moveTo>
                    <a:pt x="24" y="16"/>
                  </a:moveTo>
                  <a:cubicBezTo>
                    <a:pt x="10" y="16"/>
                    <a:pt x="0" y="10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6"/>
                    <a:pt x="12" y="11"/>
                    <a:pt x="24" y="11"/>
                  </a:cubicBezTo>
                  <a:cubicBezTo>
                    <a:pt x="35" y="11"/>
                    <a:pt x="43" y="6"/>
                    <a:pt x="43" y="2"/>
                  </a:cubicBezTo>
                  <a:cubicBezTo>
                    <a:pt x="43" y="1"/>
                    <a:pt x="44" y="0"/>
                    <a:pt x="46" y="0"/>
                  </a:cubicBezTo>
                  <a:cubicBezTo>
                    <a:pt x="47" y="0"/>
                    <a:pt x="48" y="1"/>
                    <a:pt x="48" y="2"/>
                  </a:cubicBezTo>
                  <a:cubicBezTo>
                    <a:pt x="48" y="10"/>
                    <a:pt x="37" y="16"/>
                    <a:pt x="24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/>
            </a:p>
          </p:txBody>
        </p:sp>
        <p:sp>
          <p:nvSpPr>
            <p:cNvPr id="40" name="Freeform 39"/>
            <p:cNvSpPr>
              <a:spLocks noEditPoints="1"/>
            </p:cNvSpPr>
            <p:nvPr/>
          </p:nvSpPr>
          <p:spPr bwMode="auto">
            <a:xfrm>
              <a:off x="2832100" y="2760663"/>
              <a:ext cx="260350" cy="314325"/>
            </a:xfrm>
            <a:custGeom>
              <a:avLst/>
              <a:gdLst>
                <a:gd name="T0" fmla="*/ 101 w 154"/>
                <a:gd name="T1" fmla="*/ 185 h 185"/>
                <a:gd name="T2" fmla="*/ 53 w 154"/>
                <a:gd name="T3" fmla="*/ 185 h 185"/>
                <a:gd name="T4" fmla="*/ 32 w 154"/>
                <a:gd name="T5" fmla="*/ 164 h 185"/>
                <a:gd name="T6" fmla="*/ 32 w 154"/>
                <a:gd name="T7" fmla="*/ 149 h 185"/>
                <a:gd name="T8" fmla="*/ 22 w 154"/>
                <a:gd name="T9" fmla="*/ 130 h 185"/>
                <a:gd name="T10" fmla="*/ 0 w 154"/>
                <a:gd name="T11" fmla="*/ 77 h 185"/>
                <a:gd name="T12" fmla="*/ 77 w 154"/>
                <a:gd name="T13" fmla="*/ 0 h 185"/>
                <a:gd name="T14" fmla="*/ 154 w 154"/>
                <a:gd name="T15" fmla="*/ 77 h 185"/>
                <a:gd name="T16" fmla="*/ 132 w 154"/>
                <a:gd name="T17" fmla="*/ 130 h 185"/>
                <a:gd name="T18" fmla="*/ 122 w 154"/>
                <a:gd name="T19" fmla="*/ 149 h 185"/>
                <a:gd name="T20" fmla="*/ 122 w 154"/>
                <a:gd name="T21" fmla="*/ 164 h 185"/>
                <a:gd name="T22" fmla="*/ 101 w 154"/>
                <a:gd name="T23" fmla="*/ 185 h 185"/>
                <a:gd name="T24" fmla="*/ 77 w 154"/>
                <a:gd name="T25" fmla="*/ 5 h 185"/>
                <a:gd name="T26" fmla="*/ 5 w 154"/>
                <a:gd name="T27" fmla="*/ 77 h 185"/>
                <a:gd name="T28" fmla="*/ 25 w 154"/>
                <a:gd name="T29" fmla="*/ 127 h 185"/>
                <a:gd name="T30" fmla="*/ 36 w 154"/>
                <a:gd name="T31" fmla="*/ 149 h 185"/>
                <a:gd name="T32" fmla="*/ 36 w 154"/>
                <a:gd name="T33" fmla="*/ 164 h 185"/>
                <a:gd name="T34" fmla="*/ 53 w 154"/>
                <a:gd name="T35" fmla="*/ 180 h 185"/>
                <a:gd name="T36" fmla="*/ 101 w 154"/>
                <a:gd name="T37" fmla="*/ 180 h 185"/>
                <a:gd name="T38" fmla="*/ 117 w 154"/>
                <a:gd name="T39" fmla="*/ 164 h 185"/>
                <a:gd name="T40" fmla="*/ 117 w 154"/>
                <a:gd name="T41" fmla="*/ 149 h 185"/>
                <a:gd name="T42" fmla="*/ 129 w 154"/>
                <a:gd name="T43" fmla="*/ 127 h 185"/>
                <a:gd name="T44" fmla="*/ 149 w 154"/>
                <a:gd name="T45" fmla="*/ 77 h 185"/>
                <a:gd name="T46" fmla="*/ 77 w 154"/>
                <a:gd name="T47" fmla="*/ 5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54" h="185">
                  <a:moveTo>
                    <a:pt x="101" y="185"/>
                  </a:moveTo>
                  <a:cubicBezTo>
                    <a:pt x="53" y="185"/>
                    <a:pt x="53" y="185"/>
                    <a:pt x="53" y="185"/>
                  </a:cubicBezTo>
                  <a:cubicBezTo>
                    <a:pt x="41" y="185"/>
                    <a:pt x="32" y="175"/>
                    <a:pt x="32" y="164"/>
                  </a:cubicBezTo>
                  <a:cubicBezTo>
                    <a:pt x="32" y="149"/>
                    <a:pt x="32" y="149"/>
                    <a:pt x="32" y="149"/>
                  </a:cubicBezTo>
                  <a:cubicBezTo>
                    <a:pt x="32" y="141"/>
                    <a:pt x="28" y="137"/>
                    <a:pt x="22" y="130"/>
                  </a:cubicBezTo>
                  <a:cubicBezTo>
                    <a:pt x="8" y="117"/>
                    <a:pt x="0" y="97"/>
                    <a:pt x="0" y="77"/>
                  </a:cubicBezTo>
                  <a:cubicBezTo>
                    <a:pt x="0" y="34"/>
                    <a:pt x="34" y="0"/>
                    <a:pt x="77" y="0"/>
                  </a:cubicBezTo>
                  <a:cubicBezTo>
                    <a:pt x="119" y="0"/>
                    <a:pt x="154" y="34"/>
                    <a:pt x="154" y="77"/>
                  </a:cubicBezTo>
                  <a:cubicBezTo>
                    <a:pt x="154" y="97"/>
                    <a:pt x="146" y="117"/>
                    <a:pt x="132" y="130"/>
                  </a:cubicBezTo>
                  <a:cubicBezTo>
                    <a:pt x="125" y="137"/>
                    <a:pt x="122" y="141"/>
                    <a:pt x="122" y="149"/>
                  </a:cubicBezTo>
                  <a:cubicBezTo>
                    <a:pt x="122" y="164"/>
                    <a:pt x="122" y="164"/>
                    <a:pt x="122" y="164"/>
                  </a:cubicBezTo>
                  <a:cubicBezTo>
                    <a:pt x="122" y="175"/>
                    <a:pt x="113" y="185"/>
                    <a:pt x="101" y="185"/>
                  </a:cubicBezTo>
                  <a:close/>
                  <a:moveTo>
                    <a:pt x="77" y="5"/>
                  </a:moveTo>
                  <a:cubicBezTo>
                    <a:pt x="37" y="5"/>
                    <a:pt x="5" y="37"/>
                    <a:pt x="5" y="77"/>
                  </a:cubicBezTo>
                  <a:cubicBezTo>
                    <a:pt x="5" y="96"/>
                    <a:pt x="12" y="114"/>
                    <a:pt x="25" y="127"/>
                  </a:cubicBezTo>
                  <a:cubicBezTo>
                    <a:pt x="32" y="134"/>
                    <a:pt x="36" y="140"/>
                    <a:pt x="36" y="149"/>
                  </a:cubicBezTo>
                  <a:cubicBezTo>
                    <a:pt x="36" y="164"/>
                    <a:pt x="36" y="164"/>
                    <a:pt x="36" y="164"/>
                  </a:cubicBezTo>
                  <a:cubicBezTo>
                    <a:pt x="36" y="173"/>
                    <a:pt x="44" y="180"/>
                    <a:pt x="53" y="180"/>
                  </a:cubicBezTo>
                  <a:cubicBezTo>
                    <a:pt x="101" y="180"/>
                    <a:pt x="101" y="180"/>
                    <a:pt x="101" y="180"/>
                  </a:cubicBezTo>
                  <a:cubicBezTo>
                    <a:pt x="110" y="180"/>
                    <a:pt x="117" y="173"/>
                    <a:pt x="117" y="164"/>
                  </a:cubicBezTo>
                  <a:cubicBezTo>
                    <a:pt x="117" y="149"/>
                    <a:pt x="117" y="149"/>
                    <a:pt x="117" y="149"/>
                  </a:cubicBezTo>
                  <a:cubicBezTo>
                    <a:pt x="117" y="140"/>
                    <a:pt x="122" y="134"/>
                    <a:pt x="129" y="127"/>
                  </a:cubicBezTo>
                  <a:cubicBezTo>
                    <a:pt x="142" y="114"/>
                    <a:pt x="149" y="96"/>
                    <a:pt x="149" y="77"/>
                  </a:cubicBezTo>
                  <a:cubicBezTo>
                    <a:pt x="149" y="37"/>
                    <a:pt x="117" y="5"/>
                    <a:pt x="77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/>
            </a:p>
          </p:txBody>
        </p:sp>
        <p:sp>
          <p:nvSpPr>
            <p:cNvPr id="41" name="Freeform 40"/>
            <p:cNvSpPr>
              <a:spLocks noEditPoints="1"/>
            </p:cNvSpPr>
            <p:nvPr/>
          </p:nvSpPr>
          <p:spPr bwMode="auto">
            <a:xfrm>
              <a:off x="2898775" y="3065463"/>
              <a:ext cx="123825" cy="39688"/>
            </a:xfrm>
            <a:custGeom>
              <a:avLst/>
              <a:gdLst>
                <a:gd name="T0" fmla="*/ 62 w 73"/>
                <a:gd name="T1" fmla="*/ 23 h 23"/>
                <a:gd name="T2" fmla="*/ 12 w 73"/>
                <a:gd name="T3" fmla="*/ 23 h 23"/>
                <a:gd name="T4" fmla="*/ 0 w 73"/>
                <a:gd name="T5" fmla="*/ 11 h 23"/>
                <a:gd name="T6" fmla="*/ 12 w 73"/>
                <a:gd name="T7" fmla="*/ 0 h 23"/>
                <a:gd name="T8" fmla="*/ 62 w 73"/>
                <a:gd name="T9" fmla="*/ 0 h 23"/>
                <a:gd name="T10" fmla="*/ 73 w 73"/>
                <a:gd name="T11" fmla="*/ 11 h 23"/>
                <a:gd name="T12" fmla="*/ 62 w 73"/>
                <a:gd name="T13" fmla="*/ 23 h 23"/>
                <a:gd name="T14" fmla="*/ 12 w 73"/>
                <a:gd name="T15" fmla="*/ 5 h 23"/>
                <a:gd name="T16" fmla="*/ 5 w 73"/>
                <a:gd name="T17" fmla="*/ 11 h 23"/>
                <a:gd name="T18" fmla="*/ 12 w 73"/>
                <a:gd name="T19" fmla="*/ 18 h 23"/>
                <a:gd name="T20" fmla="*/ 62 w 73"/>
                <a:gd name="T21" fmla="*/ 18 h 23"/>
                <a:gd name="T22" fmla="*/ 69 w 73"/>
                <a:gd name="T23" fmla="*/ 11 h 23"/>
                <a:gd name="T24" fmla="*/ 62 w 73"/>
                <a:gd name="T25" fmla="*/ 5 h 23"/>
                <a:gd name="T26" fmla="*/ 12 w 73"/>
                <a:gd name="T27" fmla="*/ 5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3" h="23">
                  <a:moveTo>
                    <a:pt x="62" y="23"/>
                  </a:moveTo>
                  <a:cubicBezTo>
                    <a:pt x="12" y="23"/>
                    <a:pt x="12" y="23"/>
                    <a:pt x="12" y="23"/>
                  </a:cubicBezTo>
                  <a:cubicBezTo>
                    <a:pt x="6" y="23"/>
                    <a:pt x="0" y="17"/>
                    <a:pt x="0" y="11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8" y="0"/>
                    <a:pt x="73" y="5"/>
                    <a:pt x="73" y="11"/>
                  </a:cubicBezTo>
                  <a:cubicBezTo>
                    <a:pt x="73" y="17"/>
                    <a:pt x="68" y="23"/>
                    <a:pt x="62" y="23"/>
                  </a:cubicBezTo>
                  <a:close/>
                  <a:moveTo>
                    <a:pt x="12" y="5"/>
                  </a:moveTo>
                  <a:cubicBezTo>
                    <a:pt x="8" y="5"/>
                    <a:pt x="5" y="8"/>
                    <a:pt x="5" y="11"/>
                  </a:cubicBezTo>
                  <a:cubicBezTo>
                    <a:pt x="5" y="15"/>
                    <a:pt x="8" y="18"/>
                    <a:pt x="12" y="18"/>
                  </a:cubicBezTo>
                  <a:cubicBezTo>
                    <a:pt x="62" y="18"/>
                    <a:pt x="62" y="18"/>
                    <a:pt x="62" y="18"/>
                  </a:cubicBezTo>
                  <a:cubicBezTo>
                    <a:pt x="66" y="18"/>
                    <a:pt x="69" y="15"/>
                    <a:pt x="69" y="11"/>
                  </a:cubicBezTo>
                  <a:cubicBezTo>
                    <a:pt x="69" y="8"/>
                    <a:pt x="66" y="5"/>
                    <a:pt x="62" y="5"/>
                  </a:cubicBezTo>
                  <a:lnTo>
                    <a:pt x="12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/>
            </a:p>
          </p:txBody>
        </p:sp>
      </p:grpSp>
      <p:cxnSp>
        <p:nvCxnSpPr>
          <p:cNvPr id="44" name="Straight Connector 43"/>
          <p:cNvCxnSpPr>
            <a:stCxn id="9" idx="3"/>
            <a:endCxn id="3" idx="2"/>
          </p:cNvCxnSpPr>
          <p:nvPr/>
        </p:nvCxnSpPr>
        <p:spPr>
          <a:xfrm>
            <a:off x="3557651" y="3278965"/>
            <a:ext cx="242283" cy="1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10" idx="1"/>
            <a:endCxn id="4" idx="6"/>
          </p:cNvCxnSpPr>
          <p:nvPr/>
        </p:nvCxnSpPr>
        <p:spPr>
          <a:xfrm flipH="1">
            <a:off x="8218611" y="3273484"/>
            <a:ext cx="406080" cy="548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2075D9B-3575-A6C8-727A-5AD4B3640801}"/>
              </a:ext>
            </a:extLst>
          </p:cNvPr>
          <p:cNvSpPr txBox="1"/>
          <p:nvPr/>
        </p:nvSpPr>
        <p:spPr>
          <a:xfrm>
            <a:off x="103573" y="6288348"/>
            <a:ext cx="1893902" cy="369332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20101C-55BF-3F40-53FD-62438D22EC5E}"/>
              </a:ext>
            </a:extLst>
          </p:cNvPr>
          <p:cNvSpPr txBox="1"/>
          <p:nvPr/>
        </p:nvSpPr>
        <p:spPr>
          <a:xfrm>
            <a:off x="8360150" y="6211557"/>
            <a:ext cx="3580659" cy="524691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1835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p14:presetBounceEnd="61111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1111">
                                          <p:cBhvr additive="base">
                                            <p:cTn id="7" dur="9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1111">
                                          <p:cBhvr additive="base">
                                            <p:cTn id="8" dur="9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p14:presetBounceEnd="61111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1111">
                                          <p:cBhvr additive="base">
                                            <p:cTn id="11" dur="11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1111">
                                          <p:cBhvr additive="base">
                                            <p:cTn id="12" dur="11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10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10" presetClass="entr" presetSubtype="0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10" presetClass="entr" presetSubtype="0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10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0" presetClass="entr" presetSubtype="0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2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22" presetClass="entr" presetSubtype="4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6" dur="2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9" dur="2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10" presetClass="entr" presetSubtype="0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10" presetClass="entr" presetSubtype="0" fill="hold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5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  <p:bldP spid="4" grpId="0" animBg="1"/>
          <p:bldP spid="6" grpId="0"/>
          <p:bldP spid="7" grpId="0"/>
          <p:bldP spid="9" grpId="0"/>
          <p:bldP spid="10" grpId="0"/>
          <p:bldP spid="12" grpId="0" animBg="1"/>
          <p:bldP spid="13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9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9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1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1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10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10" presetClass="entr" presetSubtype="0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10" presetClass="entr" presetSubtype="0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10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0" presetClass="entr" presetSubtype="0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2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22" presetClass="entr" presetSubtype="4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6" dur="2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9" dur="2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10" presetClass="entr" presetSubtype="0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10" presetClass="entr" presetSubtype="0" fill="hold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5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  <p:bldP spid="4" grpId="0" animBg="1"/>
          <p:bldP spid="6" grpId="0"/>
          <p:bldP spid="7" grpId="0"/>
          <p:bldP spid="9" grpId="0"/>
          <p:bldP spid="10" grpId="0"/>
          <p:bldP spid="12" grpId="0" animBg="1"/>
          <p:bldP spid="13" grpId="0" animBg="1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FBB3A-5F27-D833-99A4-C6263C079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>
            <a:extLst>
              <a:ext uri="{FF2B5EF4-FFF2-40B4-BE49-F238E27FC236}">
                <a16:creationId xmlns:a16="http://schemas.microsoft.com/office/drawing/2014/main" id="{76D0A082-688D-B3BB-FD40-378A4209DEC4}"/>
              </a:ext>
            </a:extLst>
          </p:cNvPr>
          <p:cNvSpPr/>
          <p:nvPr/>
        </p:nvSpPr>
        <p:spPr>
          <a:xfrm>
            <a:off x="-7768027" y="2709586"/>
            <a:ext cx="7315200" cy="849309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6CEE048-4E7F-9A40-5DC5-6C1ACD1DDFC0}"/>
              </a:ext>
            </a:extLst>
          </p:cNvPr>
          <p:cNvSpPr/>
          <p:nvPr/>
        </p:nvSpPr>
        <p:spPr>
          <a:xfrm>
            <a:off x="-7768027" y="3541264"/>
            <a:ext cx="7315200" cy="84930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A6B2C28-7779-E1EF-0051-9C8405E37CE9}"/>
              </a:ext>
            </a:extLst>
          </p:cNvPr>
          <p:cNvSpPr/>
          <p:nvPr/>
        </p:nvSpPr>
        <p:spPr>
          <a:xfrm>
            <a:off x="-7768028" y="4372944"/>
            <a:ext cx="7315200" cy="849309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B3F5851-A833-715D-73AE-9F170B5703FC}"/>
              </a:ext>
            </a:extLst>
          </p:cNvPr>
          <p:cNvSpPr/>
          <p:nvPr/>
        </p:nvSpPr>
        <p:spPr>
          <a:xfrm>
            <a:off x="-7768027" y="1877907"/>
            <a:ext cx="7315200" cy="849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8" name="Pentagon 7">
            <a:extLst>
              <a:ext uri="{FF2B5EF4-FFF2-40B4-BE49-F238E27FC236}">
                <a16:creationId xmlns:a16="http://schemas.microsoft.com/office/drawing/2014/main" id="{1080260C-AD4C-7B44-46B4-770904CA096D}"/>
              </a:ext>
            </a:extLst>
          </p:cNvPr>
          <p:cNvSpPr/>
          <p:nvPr/>
        </p:nvSpPr>
        <p:spPr>
          <a:xfrm>
            <a:off x="1859037" y="2709586"/>
            <a:ext cx="7632096" cy="849309"/>
          </a:xfrm>
          <a:prstGeom prst="homePlat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9" name="Pentagon 8">
            <a:extLst>
              <a:ext uri="{FF2B5EF4-FFF2-40B4-BE49-F238E27FC236}">
                <a16:creationId xmlns:a16="http://schemas.microsoft.com/office/drawing/2014/main" id="{9400A126-AC23-A836-4FC0-20C193F708CC}"/>
              </a:ext>
            </a:extLst>
          </p:cNvPr>
          <p:cNvSpPr/>
          <p:nvPr/>
        </p:nvSpPr>
        <p:spPr>
          <a:xfrm>
            <a:off x="1859037" y="3541264"/>
            <a:ext cx="8241696" cy="849309"/>
          </a:xfrm>
          <a:prstGeom prst="homePlat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10" name="Pentagon 9">
            <a:extLst>
              <a:ext uri="{FF2B5EF4-FFF2-40B4-BE49-F238E27FC236}">
                <a16:creationId xmlns:a16="http://schemas.microsoft.com/office/drawing/2014/main" id="{5E0B6560-D4CC-5EE8-03AB-597A0CA6A6DA}"/>
              </a:ext>
            </a:extLst>
          </p:cNvPr>
          <p:cNvSpPr/>
          <p:nvPr/>
        </p:nvSpPr>
        <p:spPr>
          <a:xfrm>
            <a:off x="1859038" y="4372944"/>
            <a:ext cx="7124095" cy="849309"/>
          </a:xfrm>
          <a:prstGeom prst="homePlat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17" name="Pentagon 16">
            <a:extLst>
              <a:ext uri="{FF2B5EF4-FFF2-40B4-BE49-F238E27FC236}">
                <a16:creationId xmlns:a16="http://schemas.microsoft.com/office/drawing/2014/main" id="{8C4B6CC7-7EA0-DB35-055F-E0A1AD899E4B}"/>
              </a:ext>
            </a:extLst>
          </p:cNvPr>
          <p:cNvSpPr/>
          <p:nvPr/>
        </p:nvSpPr>
        <p:spPr>
          <a:xfrm>
            <a:off x="1859038" y="1877907"/>
            <a:ext cx="9359295" cy="849309"/>
          </a:xfrm>
          <a:prstGeom prst="homePlat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CC6D9AA-BDBE-0056-37B2-361806E90E29}"/>
              </a:ext>
            </a:extLst>
          </p:cNvPr>
          <p:cNvGrpSpPr/>
          <p:nvPr/>
        </p:nvGrpSpPr>
        <p:grpSpPr>
          <a:xfrm>
            <a:off x="2269672" y="1363142"/>
            <a:ext cx="2540000" cy="4494945"/>
            <a:chOff x="3429000" y="1428750"/>
            <a:chExt cx="1517831" cy="2686050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12752998-33FC-E23C-3295-D6E552D998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29000" y="1428750"/>
              <a:ext cx="1517831" cy="2686050"/>
            </a:xfrm>
            <a:prstGeom prst="rect">
              <a:avLst/>
            </a:prstGeom>
          </p:spPr>
        </p:pic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A2DB6F48-F231-198E-F708-A9EA903DE270}"/>
                </a:ext>
              </a:extLst>
            </p:cNvPr>
            <p:cNvSpPr/>
            <p:nvPr/>
          </p:nvSpPr>
          <p:spPr>
            <a:xfrm>
              <a:off x="4012395" y="1565910"/>
              <a:ext cx="351040" cy="4572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alpha val="50000"/>
              </a:schemeClr>
            </a:solidFill>
            <a:ln w="12700" cmpd="sng">
              <a:gradFill flip="none" rotWithShape="1">
                <a:gsLst>
                  <a:gs pos="0">
                    <a:schemeClr val="tx1">
                      <a:lumMod val="50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lin ang="5400000" scaled="0"/>
                <a:tileRect/>
              </a:gra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A171F2AD-4028-4478-2DC4-0246D8A153A4}"/>
                </a:ext>
              </a:extLst>
            </p:cNvPr>
            <p:cNvSpPr/>
            <p:nvPr/>
          </p:nvSpPr>
          <p:spPr>
            <a:xfrm>
              <a:off x="4080055" y="3811360"/>
              <a:ext cx="215720" cy="215720"/>
            </a:xfrm>
            <a:prstGeom prst="ellipse">
              <a:avLst/>
            </a:prstGeom>
            <a:solidFill>
              <a:schemeClr val="tx1">
                <a:lumMod val="50000"/>
                <a:alpha val="50000"/>
              </a:schemeClr>
            </a:solidFill>
            <a:ln w="3175" cmpd="sng">
              <a:gradFill flip="none" rotWithShape="1">
                <a:gsLst>
                  <a:gs pos="0">
                    <a:schemeClr val="tx1">
                      <a:lumMod val="50000"/>
                    </a:schemeClr>
                  </a:gs>
                  <a:gs pos="100000">
                    <a:schemeClr val="bg1">
                      <a:lumMod val="50000"/>
                      <a:alpha val="40000"/>
                    </a:schemeClr>
                  </a:gs>
                </a:gsLst>
                <a:lin ang="5400000" scaled="0"/>
                <a:tileRect/>
              </a:gra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9A7A13B-C5A2-F20E-642F-149137436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133" y="279961"/>
            <a:ext cx="10363200" cy="817561"/>
          </a:xfrm>
        </p:spPr>
        <p:txBody>
          <a:bodyPr/>
          <a:lstStyle/>
          <a:p>
            <a:pPr algn="r"/>
            <a:r>
              <a:rPr lang="en-US">
                <a:ea typeface="Open Sans Light"/>
                <a:cs typeface="Open Sans Light"/>
              </a:rPr>
              <a:t>Dependent 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E285C-2210-EAEB-C728-52B4504EEE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5133" y="990600"/>
            <a:ext cx="10363200" cy="406400"/>
          </a:xfrm>
        </p:spPr>
        <p:txBody>
          <a:bodyPr vert="horz" lIns="0" tIns="0" rIns="0" bIns="0" rtlCol="0" anchor="t">
            <a:normAutofit/>
          </a:bodyPr>
          <a:lstStyle/>
          <a:p>
            <a:pPr algn="r"/>
            <a:r>
              <a:rPr lang="en-US"/>
              <a:t>Elaborated version</a:t>
            </a:r>
          </a:p>
        </p:txBody>
      </p:sp>
      <p:sp>
        <p:nvSpPr>
          <p:cNvPr id="31" name="Freeform 41">
            <a:extLst>
              <a:ext uri="{FF2B5EF4-FFF2-40B4-BE49-F238E27FC236}">
                <a16:creationId xmlns:a16="http://schemas.microsoft.com/office/drawing/2014/main" id="{8EBF2895-8F5C-DB86-D50B-DC507417C1D9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369934" y="3760229"/>
            <a:ext cx="339477" cy="411379"/>
          </a:xfrm>
          <a:custGeom>
            <a:avLst/>
            <a:gdLst>
              <a:gd name="T0" fmla="*/ 487 w 800"/>
              <a:gd name="T1" fmla="*/ 761 h 969"/>
              <a:gd name="T2" fmla="*/ 487 w 800"/>
              <a:gd name="T3" fmla="*/ 605 h 969"/>
              <a:gd name="T4" fmla="*/ 136 w 800"/>
              <a:gd name="T5" fmla="*/ 254 h 969"/>
              <a:gd name="T6" fmla="*/ 275 w 800"/>
              <a:gd name="T7" fmla="*/ 254 h 969"/>
              <a:gd name="T8" fmla="*/ 275 w 800"/>
              <a:gd name="T9" fmla="*/ 211 h 969"/>
              <a:gd name="T10" fmla="*/ 64 w 800"/>
              <a:gd name="T11" fmla="*/ 211 h 969"/>
              <a:gd name="T12" fmla="*/ 64 w 800"/>
              <a:gd name="T13" fmla="*/ 423 h 969"/>
              <a:gd name="T14" fmla="*/ 106 w 800"/>
              <a:gd name="T15" fmla="*/ 423 h 969"/>
              <a:gd name="T16" fmla="*/ 106 w 800"/>
              <a:gd name="T17" fmla="*/ 283 h 969"/>
              <a:gd name="T18" fmla="*/ 445 w 800"/>
              <a:gd name="T19" fmla="*/ 622 h 969"/>
              <a:gd name="T20" fmla="*/ 445 w 800"/>
              <a:gd name="T21" fmla="*/ 761 h 969"/>
              <a:gd name="T22" fmla="*/ 360 w 800"/>
              <a:gd name="T23" fmla="*/ 863 h 969"/>
              <a:gd name="T24" fmla="*/ 466 w 800"/>
              <a:gd name="T25" fmla="*/ 969 h 969"/>
              <a:gd name="T26" fmla="*/ 572 w 800"/>
              <a:gd name="T27" fmla="*/ 863 h 969"/>
              <a:gd name="T28" fmla="*/ 487 w 800"/>
              <a:gd name="T29" fmla="*/ 761 h 969"/>
              <a:gd name="T30" fmla="*/ 466 w 800"/>
              <a:gd name="T31" fmla="*/ 931 h 969"/>
              <a:gd name="T32" fmla="*/ 403 w 800"/>
              <a:gd name="T33" fmla="*/ 867 h 969"/>
              <a:gd name="T34" fmla="*/ 466 w 800"/>
              <a:gd name="T35" fmla="*/ 804 h 969"/>
              <a:gd name="T36" fmla="*/ 529 w 800"/>
              <a:gd name="T37" fmla="*/ 867 h 969"/>
              <a:gd name="T38" fmla="*/ 466 w 800"/>
              <a:gd name="T39" fmla="*/ 931 h 969"/>
              <a:gd name="T40" fmla="*/ 178 w 800"/>
              <a:gd name="T41" fmla="*/ 592 h 969"/>
              <a:gd name="T42" fmla="*/ 106 w 800"/>
              <a:gd name="T43" fmla="*/ 668 h 969"/>
              <a:gd name="T44" fmla="*/ 30 w 800"/>
              <a:gd name="T45" fmla="*/ 592 h 969"/>
              <a:gd name="T46" fmla="*/ 0 w 800"/>
              <a:gd name="T47" fmla="*/ 622 h 969"/>
              <a:gd name="T48" fmla="*/ 77 w 800"/>
              <a:gd name="T49" fmla="*/ 698 h 969"/>
              <a:gd name="T50" fmla="*/ 0 w 800"/>
              <a:gd name="T51" fmla="*/ 770 h 969"/>
              <a:gd name="T52" fmla="*/ 30 w 800"/>
              <a:gd name="T53" fmla="*/ 800 h 969"/>
              <a:gd name="T54" fmla="*/ 106 w 800"/>
              <a:gd name="T55" fmla="*/ 728 h 969"/>
              <a:gd name="T56" fmla="*/ 178 w 800"/>
              <a:gd name="T57" fmla="*/ 800 h 969"/>
              <a:gd name="T58" fmla="*/ 208 w 800"/>
              <a:gd name="T59" fmla="*/ 770 h 969"/>
              <a:gd name="T60" fmla="*/ 136 w 800"/>
              <a:gd name="T61" fmla="*/ 698 h 969"/>
              <a:gd name="T62" fmla="*/ 208 w 800"/>
              <a:gd name="T63" fmla="*/ 622 h 969"/>
              <a:gd name="T64" fmla="*/ 178 w 800"/>
              <a:gd name="T65" fmla="*/ 592 h 969"/>
              <a:gd name="T66" fmla="*/ 800 w 800"/>
              <a:gd name="T67" fmla="*/ 325 h 969"/>
              <a:gd name="T68" fmla="*/ 771 w 800"/>
              <a:gd name="T69" fmla="*/ 296 h 969"/>
              <a:gd name="T70" fmla="*/ 699 w 800"/>
              <a:gd name="T71" fmla="*/ 372 h 969"/>
              <a:gd name="T72" fmla="*/ 623 w 800"/>
              <a:gd name="T73" fmla="*/ 296 h 969"/>
              <a:gd name="T74" fmla="*/ 593 w 800"/>
              <a:gd name="T75" fmla="*/ 325 h 969"/>
              <a:gd name="T76" fmla="*/ 669 w 800"/>
              <a:gd name="T77" fmla="*/ 402 h 969"/>
              <a:gd name="T78" fmla="*/ 593 w 800"/>
              <a:gd name="T79" fmla="*/ 474 h 969"/>
              <a:gd name="T80" fmla="*/ 623 w 800"/>
              <a:gd name="T81" fmla="*/ 503 h 969"/>
              <a:gd name="T82" fmla="*/ 699 w 800"/>
              <a:gd name="T83" fmla="*/ 431 h 969"/>
              <a:gd name="T84" fmla="*/ 771 w 800"/>
              <a:gd name="T85" fmla="*/ 503 h 969"/>
              <a:gd name="T86" fmla="*/ 800 w 800"/>
              <a:gd name="T87" fmla="*/ 474 h 969"/>
              <a:gd name="T88" fmla="*/ 729 w 800"/>
              <a:gd name="T89" fmla="*/ 402 h 969"/>
              <a:gd name="T90" fmla="*/ 800 w 800"/>
              <a:gd name="T91" fmla="*/ 325 h 969"/>
              <a:gd name="T92" fmla="*/ 559 w 800"/>
              <a:gd name="T93" fmla="*/ 0 h 969"/>
              <a:gd name="T94" fmla="*/ 487 w 800"/>
              <a:gd name="T95" fmla="*/ 76 h 969"/>
              <a:gd name="T96" fmla="*/ 411 w 800"/>
              <a:gd name="T97" fmla="*/ 0 h 969"/>
              <a:gd name="T98" fmla="*/ 381 w 800"/>
              <a:gd name="T99" fmla="*/ 29 h 969"/>
              <a:gd name="T100" fmla="*/ 458 w 800"/>
              <a:gd name="T101" fmla="*/ 105 h 969"/>
              <a:gd name="T102" fmla="*/ 381 w 800"/>
              <a:gd name="T103" fmla="*/ 177 h 969"/>
              <a:gd name="T104" fmla="*/ 411 w 800"/>
              <a:gd name="T105" fmla="*/ 207 h 969"/>
              <a:gd name="T106" fmla="*/ 487 w 800"/>
              <a:gd name="T107" fmla="*/ 135 h 969"/>
              <a:gd name="T108" fmla="*/ 559 w 800"/>
              <a:gd name="T109" fmla="*/ 207 h 969"/>
              <a:gd name="T110" fmla="*/ 589 w 800"/>
              <a:gd name="T111" fmla="*/ 177 h 969"/>
              <a:gd name="T112" fmla="*/ 517 w 800"/>
              <a:gd name="T113" fmla="*/ 105 h 969"/>
              <a:gd name="T114" fmla="*/ 589 w 800"/>
              <a:gd name="T115" fmla="*/ 29 h 969"/>
              <a:gd name="T116" fmla="*/ 559 w 800"/>
              <a:gd name="T117" fmla="*/ 0 h 9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800" h="969">
                <a:moveTo>
                  <a:pt x="487" y="761"/>
                </a:moveTo>
                <a:cubicBezTo>
                  <a:pt x="487" y="605"/>
                  <a:pt x="487" y="605"/>
                  <a:pt x="487" y="605"/>
                </a:cubicBezTo>
                <a:cubicBezTo>
                  <a:pt x="136" y="254"/>
                  <a:pt x="136" y="254"/>
                  <a:pt x="136" y="254"/>
                </a:cubicBezTo>
                <a:cubicBezTo>
                  <a:pt x="275" y="254"/>
                  <a:pt x="275" y="254"/>
                  <a:pt x="275" y="254"/>
                </a:cubicBezTo>
                <a:cubicBezTo>
                  <a:pt x="275" y="211"/>
                  <a:pt x="275" y="211"/>
                  <a:pt x="275" y="211"/>
                </a:cubicBezTo>
                <a:cubicBezTo>
                  <a:pt x="64" y="211"/>
                  <a:pt x="64" y="211"/>
                  <a:pt x="64" y="211"/>
                </a:cubicBezTo>
                <a:cubicBezTo>
                  <a:pt x="64" y="423"/>
                  <a:pt x="64" y="423"/>
                  <a:pt x="64" y="423"/>
                </a:cubicBezTo>
                <a:cubicBezTo>
                  <a:pt x="106" y="423"/>
                  <a:pt x="106" y="423"/>
                  <a:pt x="106" y="423"/>
                </a:cubicBezTo>
                <a:cubicBezTo>
                  <a:pt x="106" y="283"/>
                  <a:pt x="106" y="283"/>
                  <a:pt x="106" y="283"/>
                </a:cubicBezTo>
                <a:cubicBezTo>
                  <a:pt x="445" y="622"/>
                  <a:pt x="445" y="622"/>
                  <a:pt x="445" y="622"/>
                </a:cubicBezTo>
                <a:cubicBezTo>
                  <a:pt x="445" y="761"/>
                  <a:pt x="445" y="761"/>
                  <a:pt x="445" y="761"/>
                </a:cubicBezTo>
                <a:cubicBezTo>
                  <a:pt x="398" y="770"/>
                  <a:pt x="360" y="812"/>
                  <a:pt x="360" y="863"/>
                </a:cubicBezTo>
                <a:cubicBezTo>
                  <a:pt x="360" y="922"/>
                  <a:pt x="407" y="969"/>
                  <a:pt x="466" y="969"/>
                </a:cubicBezTo>
                <a:cubicBezTo>
                  <a:pt x="525" y="969"/>
                  <a:pt x="572" y="922"/>
                  <a:pt x="572" y="863"/>
                </a:cubicBezTo>
                <a:cubicBezTo>
                  <a:pt x="572" y="817"/>
                  <a:pt x="534" y="774"/>
                  <a:pt x="487" y="761"/>
                </a:cubicBezTo>
                <a:close/>
                <a:moveTo>
                  <a:pt x="466" y="931"/>
                </a:moveTo>
                <a:cubicBezTo>
                  <a:pt x="432" y="931"/>
                  <a:pt x="403" y="901"/>
                  <a:pt x="403" y="867"/>
                </a:cubicBezTo>
                <a:cubicBezTo>
                  <a:pt x="403" y="834"/>
                  <a:pt x="428" y="804"/>
                  <a:pt x="466" y="804"/>
                </a:cubicBezTo>
                <a:cubicBezTo>
                  <a:pt x="504" y="804"/>
                  <a:pt x="529" y="834"/>
                  <a:pt x="529" y="867"/>
                </a:cubicBezTo>
                <a:cubicBezTo>
                  <a:pt x="529" y="901"/>
                  <a:pt x="500" y="931"/>
                  <a:pt x="466" y="931"/>
                </a:cubicBezTo>
                <a:close/>
                <a:moveTo>
                  <a:pt x="178" y="592"/>
                </a:moveTo>
                <a:cubicBezTo>
                  <a:pt x="106" y="668"/>
                  <a:pt x="106" y="668"/>
                  <a:pt x="106" y="668"/>
                </a:cubicBezTo>
                <a:cubicBezTo>
                  <a:pt x="30" y="592"/>
                  <a:pt x="30" y="592"/>
                  <a:pt x="30" y="592"/>
                </a:cubicBezTo>
                <a:cubicBezTo>
                  <a:pt x="0" y="622"/>
                  <a:pt x="0" y="622"/>
                  <a:pt x="0" y="622"/>
                </a:cubicBezTo>
                <a:cubicBezTo>
                  <a:pt x="77" y="698"/>
                  <a:pt x="77" y="698"/>
                  <a:pt x="77" y="698"/>
                </a:cubicBezTo>
                <a:cubicBezTo>
                  <a:pt x="0" y="770"/>
                  <a:pt x="0" y="770"/>
                  <a:pt x="0" y="770"/>
                </a:cubicBezTo>
                <a:cubicBezTo>
                  <a:pt x="30" y="800"/>
                  <a:pt x="30" y="800"/>
                  <a:pt x="30" y="800"/>
                </a:cubicBezTo>
                <a:cubicBezTo>
                  <a:pt x="106" y="728"/>
                  <a:pt x="106" y="728"/>
                  <a:pt x="106" y="728"/>
                </a:cubicBezTo>
                <a:cubicBezTo>
                  <a:pt x="178" y="800"/>
                  <a:pt x="178" y="800"/>
                  <a:pt x="178" y="800"/>
                </a:cubicBezTo>
                <a:cubicBezTo>
                  <a:pt x="208" y="770"/>
                  <a:pt x="208" y="770"/>
                  <a:pt x="208" y="770"/>
                </a:cubicBezTo>
                <a:cubicBezTo>
                  <a:pt x="136" y="698"/>
                  <a:pt x="136" y="698"/>
                  <a:pt x="136" y="698"/>
                </a:cubicBezTo>
                <a:cubicBezTo>
                  <a:pt x="208" y="622"/>
                  <a:pt x="208" y="622"/>
                  <a:pt x="208" y="622"/>
                </a:cubicBezTo>
                <a:lnTo>
                  <a:pt x="178" y="592"/>
                </a:lnTo>
                <a:close/>
                <a:moveTo>
                  <a:pt x="800" y="325"/>
                </a:moveTo>
                <a:cubicBezTo>
                  <a:pt x="771" y="296"/>
                  <a:pt x="771" y="296"/>
                  <a:pt x="771" y="296"/>
                </a:cubicBezTo>
                <a:cubicBezTo>
                  <a:pt x="699" y="372"/>
                  <a:pt x="699" y="372"/>
                  <a:pt x="699" y="372"/>
                </a:cubicBezTo>
                <a:cubicBezTo>
                  <a:pt x="623" y="296"/>
                  <a:pt x="623" y="296"/>
                  <a:pt x="623" y="296"/>
                </a:cubicBezTo>
                <a:cubicBezTo>
                  <a:pt x="593" y="325"/>
                  <a:pt x="593" y="325"/>
                  <a:pt x="593" y="325"/>
                </a:cubicBezTo>
                <a:cubicBezTo>
                  <a:pt x="669" y="402"/>
                  <a:pt x="669" y="402"/>
                  <a:pt x="669" y="402"/>
                </a:cubicBezTo>
                <a:cubicBezTo>
                  <a:pt x="593" y="474"/>
                  <a:pt x="593" y="474"/>
                  <a:pt x="593" y="474"/>
                </a:cubicBezTo>
                <a:cubicBezTo>
                  <a:pt x="623" y="503"/>
                  <a:pt x="623" y="503"/>
                  <a:pt x="623" y="503"/>
                </a:cubicBezTo>
                <a:cubicBezTo>
                  <a:pt x="699" y="431"/>
                  <a:pt x="699" y="431"/>
                  <a:pt x="699" y="431"/>
                </a:cubicBezTo>
                <a:cubicBezTo>
                  <a:pt x="771" y="503"/>
                  <a:pt x="771" y="503"/>
                  <a:pt x="771" y="503"/>
                </a:cubicBezTo>
                <a:cubicBezTo>
                  <a:pt x="800" y="474"/>
                  <a:pt x="800" y="474"/>
                  <a:pt x="800" y="474"/>
                </a:cubicBezTo>
                <a:cubicBezTo>
                  <a:pt x="729" y="402"/>
                  <a:pt x="729" y="402"/>
                  <a:pt x="729" y="402"/>
                </a:cubicBezTo>
                <a:lnTo>
                  <a:pt x="800" y="325"/>
                </a:lnTo>
                <a:close/>
                <a:moveTo>
                  <a:pt x="559" y="0"/>
                </a:moveTo>
                <a:cubicBezTo>
                  <a:pt x="487" y="76"/>
                  <a:pt x="487" y="76"/>
                  <a:pt x="487" y="76"/>
                </a:cubicBezTo>
                <a:cubicBezTo>
                  <a:pt x="411" y="0"/>
                  <a:pt x="411" y="0"/>
                  <a:pt x="411" y="0"/>
                </a:cubicBezTo>
                <a:cubicBezTo>
                  <a:pt x="381" y="29"/>
                  <a:pt x="381" y="29"/>
                  <a:pt x="381" y="29"/>
                </a:cubicBezTo>
                <a:cubicBezTo>
                  <a:pt x="458" y="105"/>
                  <a:pt x="458" y="105"/>
                  <a:pt x="458" y="105"/>
                </a:cubicBezTo>
                <a:cubicBezTo>
                  <a:pt x="381" y="177"/>
                  <a:pt x="381" y="177"/>
                  <a:pt x="381" y="177"/>
                </a:cubicBezTo>
                <a:cubicBezTo>
                  <a:pt x="411" y="207"/>
                  <a:pt x="411" y="207"/>
                  <a:pt x="411" y="207"/>
                </a:cubicBezTo>
                <a:cubicBezTo>
                  <a:pt x="487" y="135"/>
                  <a:pt x="487" y="135"/>
                  <a:pt x="487" y="135"/>
                </a:cubicBezTo>
                <a:cubicBezTo>
                  <a:pt x="559" y="207"/>
                  <a:pt x="559" y="207"/>
                  <a:pt x="559" y="207"/>
                </a:cubicBezTo>
                <a:cubicBezTo>
                  <a:pt x="589" y="177"/>
                  <a:pt x="589" y="177"/>
                  <a:pt x="589" y="177"/>
                </a:cubicBezTo>
                <a:cubicBezTo>
                  <a:pt x="517" y="105"/>
                  <a:pt x="517" y="105"/>
                  <a:pt x="517" y="105"/>
                </a:cubicBezTo>
                <a:cubicBezTo>
                  <a:pt x="589" y="29"/>
                  <a:pt x="589" y="29"/>
                  <a:pt x="589" y="29"/>
                </a:cubicBezTo>
                <a:lnTo>
                  <a:pt x="55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35" name="Freeform 33">
            <a:extLst>
              <a:ext uri="{FF2B5EF4-FFF2-40B4-BE49-F238E27FC236}">
                <a16:creationId xmlns:a16="http://schemas.microsoft.com/office/drawing/2014/main" id="{0A3E808A-052C-61CE-BC07-6CBC6E05A337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327923" y="2928551"/>
            <a:ext cx="423499" cy="411379"/>
          </a:xfrm>
          <a:custGeom>
            <a:avLst/>
            <a:gdLst>
              <a:gd name="T0" fmla="*/ 637 w 826"/>
              <a:gd name="T1" fmla="*/ 523 h 802"/>
              <a:gd name="T2" fmla="*/ 663 w 826"/>
              <a:gd name="T3" fmla="*/ 472 h 802"/>
              <a:gd name="T4" fmla="*/ 573 w 826"/>
              <a:gd name="T5" fmla="*/ 536 h 802"/>
              <a:gd name="T6" fmla="*/ 597 w 826"/>
              <a:gd name="T7" fmla="*/ 320 h 802"/>
              <a:gd name="T8" fmla="*/ 765 w 826"/>
              <a:gd name="T9" fmla="*/ 281 h 802"/>
              <a:gd name="T10" fmla="*/ 786 w 826"/>
              <a:gd name="T11" fmla="*/ 91 h 802"/>
              <a:gd name="T12" fmla="*/ 706 w 826"/>
              <a:gd name="T13" fmla="*/ 160 h 802"/>
              <a:gd name="T14" fmla="*/ 654 w 826"/>
              <a:gd name="T15" fmla="*/ 109 h 802"/>
              <a:gd name="T16" fmla="*/ 724 w 826"/>
              <a:gd name="T17" fmla="*/ 28 h 802"/>
              <a:gd name="T18" fmla="*/ 649 w 826"/>
              <a:gd name="T19" fmla="*/ 2 h 802"/>
              <a:gd name="T20" fmla="*/ 494 w 826"/>
              <a:gd name="T21" fmla="*/ 218 h 802"/>
              <a:gd name="T22" fmla="*/ 185 w 826"/>
              <a:gd name="T23" fmla="*/ 148 h 802"/>
              <a:gd name="T24" fmla="*/ 203 w 826"/>
              <a:gd name="T25" fmla="*/ 123 h 802"/>
              <a:gd name="T26" fmla="*/ 95 w 826"/>
              <a:gd name="T27" fmla="*/ 7 h 802"/>
              <a:gd name="T28" fmla="*/ 18 w 826"/>
              <a:gd name="T29" fmla="*/ 58 h 802"/>
              <a:gd name="T30" fmla="*/ 18 w 826"/>
              <a:gd name="T31" fmla="*/ 84 h 802"/>
              <a:gd name="T32" fmla="*/ 134 w 826"/>
              <a:gd name="T33" fmla="*/ 192 h 802"/>
              <a:gd name="T34" fmla="*/ 160 w 826"/>
              <a:gd name="T35" fmla="*/ 174 h 802"/>
              <a:gd name="T36" fmla="*/ 228 w 826"/>
              <a:gd name="T37" fmla="*/ 483 h 802"/>
              <a:gd name="T38" fmla="*/ 61 w 826"/>
              <a:gd name="T39" fmla="*/ 522 h 802"/>
              <a:gd name="T40" fmla="*/ 39 w 826"/>
              <a:gd name="T41" fmla="*/ 713 h 802"/>
              <a:gd name="T42" fmla="*/ 120 w 826"/>
              <a:gd name="T43" fmla="*/ 643 h 802"/>
              <a:gd name="T44" fmla="*/ 171 w 826"/>
              <a:gd name="T45" fmla="*/ 695 h 802"/>
              <a:gd name="T46" fmla="*/ 102 w 826"/>
              <a:gd name="T47" fmla="*/ 775 h 802"/>
              <a:gd name="T48" fmla="*/ 176 w 826"/>
              <a:gd name="T49" fmla="*/ 802 h 802"/>
              <a:gd name="T50" fmla="*/ 331 w 826"/>
              <a:gd name="T51" fmla="*/ 586 h 802"/>
              <a:gd name="T52" fmla="*/ 547 w 826"/>
              <a:gd name="T53" fmla="*/ 562 h 802"/>
              <a:gd name="T54" fmla="*/ 483 w 826"/>
              <a:gd name="T55" fmla="*/ 652 h 802"/>
              <a:gd name="T56" fmla="*/ 509 w 826"/>
              <a:gd name="T57" fmla="*/ 652 h 802"/>
              <a:gd name="T58" fmla="*/ 689 w 826"/>
              <a:gd name="T59" fmla="*/ 780 h 802"/>
              <a:gd name="T60" fmla="*/ 791 w 826"/>
              <a:gd name="T61" fmla="*/ 780 h 802"/>
              <a:gd name="T62" fmla="*/ 791 w 826"/>
              <a:gd name="T63" fmla="*/ 677 h 802"/>
              <a:gd name="T64" fmla="*/ 57 w 826"/>
              <a:gd name="T65" fmla="*/ 71 h 802"/>
              <a:gd name="T66" fmla="*/ 160 w 826"/>
              <a:gd name="T67" fmla="*/ 123 h 802"/>
              <a:gd name="T68" fmla="*/ 297 w 826"/>
              <a:gd name="T69" fmla="*/ 568 h 802"/>
              <a:gd name="T70" fmla="*/ 266 w 826"/>
              <a:gd name="T71" fmla="*/ 728 h 802"/>
              <a:gd name="T72" fmla="*/ 154 w 826"/>
              <a:gd name="T73" fmla="*/ 763 h 802"/>
              <a:gd name="T74" fmla="*/ 207 w 826"/>
              <a:gd name="T75" fmla="*/ 702 h 802"/>
              <a:gd name="T76" fmla="*/ 189 w 826"/>
              <a:gd name="T77" fmla="*/ 607 h 802"/>
              <a:gd name="T78" fmla="*/ 99 w 826"/>
              <a:gd name="T79" fmla="*/ 612 h 802"/>
              <a:gd name="T80" fmla="*/ 86 w 826"/>
              <a:gd name="T81" fmla="*/ 548 h 802"/>
              <a:gd name="T82" fmla="*/ 226 w 826"/>
              <a:gd name="T83" fmla="*/ 521 h 802"/>
              <a:gd name="T84" fmla="*/ 528 w 826"/>
              <a:gd name="T85" fmla="*/ 235 h 802"/>
              <a:gd name="T86" fmla="*/ 559 w 826"/>
              <a:gd name="T87" fmla="*/ 75 h 802"/>
              <a:gd name="T88" fmla="*/ 671 w 826"/>
              <a:gd name="T89" fmla="*/ 40 h 802"/>
              <a:gd name="T90" fmla="*/ 618 w 826"/>
              <a:gd name="T91" fmla="*/ 101 h 802"/>
              <a:gd name="T92" fmla="*/ 636 w 826"/>
              <a:gd name="T93" fmla="*/ 196 h 802"/>
              <a:gd name="T94" fmla="*/ 726 w 826"/>
              <a:gd name="T95" fmla="*/ 191 h 802"/>
              <a:gd name="T96" fmla="*/ 739 w 826"/>
              <a:gd name="T97" fmla="*/ 255 h 802"/>
              <a:gd name="T98" fmla="*/ 599 w 826"/>
              <a:gd name="T99" fmla="*/ 283 h 802"/>
              <a:gd name="T100" fmla="*/ 297 w 826"/>
              <a:gd name="T101" fmla="*/ 568 h 802"/>
              <a:gd name="T102" fmla="*/ 714 w 826"/>
              <a:gd name="T103" fmla="*/ 755 h 802"/>
              <a:gd name="T104" fmla="*/ 611 w 826"/>
              <a:gd name="T105" fmla="*/ 549 h 802"/>
              <a:gd name="T106" fmla="*/ 776 w 826"/>
              <a:gd name="T107" fmla="*/ 729 h 8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826" h="802">
                <a:moveTo>
                  <a:pt x="791" y="677"/>
                </a:moveTo>
                <a:cubicBezTo>
                  <a:pt x="637" y="523"/>
                  <a:pt x="637" y="523"/>
                  <a:pt x="637" y="523"/>
                </a:cubicBezTo>
                <a:cubicBezTo>
                  <a:pt x="663" y="498"/>
                  <a:pt x="663" y="498"/>
                  <a:pt x="663" y="498"/>
                </a:cubicBezTo>
                <a:cubicBezTo>
                  <a:pt x="670" y="490"/>
                  <a:pt x="670" y="479"/>
                  <a:pt x="663" y="472"/>
                </a:cubicBezTo>
                <a:cubicBezTo>
                  <a:pt x="656" y="465"/>
                  <a:pt x="644" y="465"/>
                  <a:pt x="637" y="472"/>
                </a:cubicBezTo>
                <a:cubicBezTo>
                  <a:pt x="573" y="536"/>
                  <a:pt x="573" y="536"/>
                  <a:pt x="573" y="536"/>
                </a:cubicBezTo>
                <a:cubicBezTo>
                  <a:pt x="477" y="440"/>
                  <a:pt x="477" y="440"/>
                  <a:pt x="477" y="440"/>
                </a:cubicBezTo>
                <a:cubicBezTo>
                  <a:pt x="597" y="320"/>
                  <a:pt x="597" y="320"/>
                  <a:pt x="597" y="320"/>
                </a:cubicBezTo>
                <a:cubicBezTo>
                  <a:pt x="614" y="326"/>
                  <a:pt x="631" y="329"/>
                  <a:pt x="649" y="329"/>
                </a:cubicBezTo>
                <a:cubicBezTo>
                  <a:pt x="693" y="329"/>
                  <a:pt x="734" y="312"/>
                  <a:pt x="765" y="281"/>
                </a:cubicBezTo>
                <a:cubicBezTo>
                  <a:pt x="812" y="234"/>
                  <a:pt x="826" y="163"/>
                  <a:pt x="800" y="102"/>
                </a:cubicBezTo>
                <a:cubicBezTo>
                  <a:pt x="797" y="96"/>
                  <a:pt x="792" y="92"/>
                  <a:pt x="786" y="91"/>
                </a:cubicBezTo>
                <a:cubicBezTo>
                  <a:pt x="780" y="90"/>
                  <a:pt x="774" y="92"/>
                  <a:pt x="770" y="96"/>
                </a:cubicBezTo>
                <a:cubicBezTo>
                  <a:pt x="706" y="160"/>
                  <a:pt x="706" y="160"/>
                  <a:pt x="706" y="160"/>
                </a:cubicBezTo>
                <a:cubicBezTo>
                  <a:pt x="654" y="160"/>
                  <a:pt x="654" y="160"/>
                  <a:pt x="654" y="160"/>
                </a:cubicBezTo>
                <a:cubicBezTo>
                  <a:pt x="654" y="109"/>
                  <a:pt x="654" y="109"/>
                  <a:pt x="654" y="109"/>
                </a:cubicBezTo>
                <a:cubicBezTo>
                  <a:pt x="719" y="44"/>
                  <a:pt x="719" y="44"/>
                  <a:pt x="719" y="44"/>
                </a:cubicBezTo>
                <a:cubicBezTo>
                  <a:pt x="723" y="40"/>
                  <a:pt x="725" y="34"/>
                  <a:pt x="724" y="28"/>
                </a:cubicBezTo>
                <a:cubicBezTo>
                  <a:pt x="722" y="22"/>
                  <a:pt x="718" y="17"/>
                  <a:pt x="713" y="15"/>
                </a:cubicBezTo>
                <a:cubicBezTo>
                  <a:pt x="692" y="6"/>
                  <a:pt x="671" y="2"/>
                  <a:pt x="649" y="2"/>
                </a:cubicBezTo>
                <a:cubicBezTo>
                  <a:pt x="605" y="2"/>
                  <a:pt x="564" y="19"/>
                  <a:pt x="533" y="50"/>
                </a:cubicBezTo>
                <a:cubicBezTo>
                  <a:pt x="489" y="94"/>
                  <a:pt x="474" y="159"/>
                  <a:pt x="494" y="218"/>
                </a:cubicBezTo>
                <a:cubicBezTo>
                  <a:pt x="374" y="337"/>
                  <a:pt x="374" y="337"/>
                  <a:pt x="374" y="337"/>
                </a:cubicBezTo>
                <a:cubicBezTo>
                  <a:pt x="185" y="148"/>
                  <a:pt x="185" y="148"/>
                  <a:pt x="185" y="148"/>
                </a:cubicBezTo>
                <a:cubicBezTo>
                  <a:pt x="198" y="136"/>
                  <a:pt x="198" y="136"/>
                  <a:pt x="198" y="136"/>
                </a:cubicBezTo>
                <a:cubicBezTo>
                  <a:pt x="201" y="132"/>
                  <a:pt x="203" y="128"/>
                  <a:pt x="203" y="123"/>
                </a:cubicBezTo>
                <a:cubicBezTo>
                  <a:pt x="203" y="118"/>
                  <a:pt x="201" y="113"/>
                  <a:pt x="198" y="110"/>
                </a:cubicBezTo>
                <a:cubicBezTo>
                  <a:pt x="95" y="7"/>
                  <a:pt x="95" y="7"/>
                  <a:pt x="95" y="7"/>
                </a:cubicBezTo>
                <a:cubicBezTo>
                  <a:pt x="88" y="0"/>
                  <a:pt x="77" y="0"/>
                  <a:pt x="70" y="7"/>
                </a:cubicBezTo>
                <a:cubicBezTo>
                  <a:pt x="18" y="58"/>
                  <a:pt x="18" y="58"/>
                  <a:pt x="18" y="58"/>
                </a:cubicBezTo>
                <a:cubicBezTo>
                  <a:pt x="15" y="62"/>
                  <a:pt x="13" y="66"/>
                  <a:pt x="13" y="71"/>
                </a:cubicBezTo>
                <a:cubicBezTo>
                  <a:pt x="13" y="76"/>
                  <a:pt x="15" y="81"/>
                  <a:pt x="18" y="84"/>
                </a:cubicBezTo>
                <a:cubicBezTo>
                  <a:pt x="121" y="187"/>
                  <a:pt x="121" y="187"/>
                  <a:pt x="121" y="187"/>
                </a:cubicBezTo>
                <a:cubicBezTo>
                  <a:pt x="124" y="191"/>
                  <a:pt x="129" y="192"/>
                  <a:pt x="134" y="192"/>
                </a:cubicBezTo>
                <a:cubicBezTo>
                  <a:pt x="138" y="192"/>
                  <a:pt x="143" y="191"/>
                  <a:pt x="147" y="187"/>
                </a:cubicBezTo>
                <a:cubicBezTo>
                  <a:pt x="160" y="174"/>
                  <a:pt x="160" y="174"/>
                  <a:pt x="160" y="174"/>
                </a:cubicBezTo>
                <a:cubicBezTo>
                  <a:pt x="348" y="363"/>
                  <a:pt x="348" y="363"/>
                  <a:pt x="348" y="363"/>
                </a:cubicBezTo>
                <a:cubicBezTo>
                  <a:pt x="228" y="483"/>
                  <a:pt x="228" y="483"/>
                  <a:pt x="228" y="483"/>
                </a:cubicBezTo>
                <a:cubicBezTo>
                  <a:pt x="212" y="477"/>
                  <a:pt x="194" y="475"/>
                  <a:pt x="176" y="475"/>
                </a:cubicBezTo>
                <a:cubicBezTo>
                  <a:pt x="133" y="475"/>
                  <a:pt x="91" y="492"/>
                  <a:pt x="61" y="522"/>
                </a:cubicBezTo>
                <a:cubicBezTo>
                  <a:pt x="13" y="570"/>
                  <a:pt x="0" y="640"/>
                  <a:pt x="26" y="702"/>
                </a:cubicBezTo>
                <a:cubicBezTo>
                  <a:pt x="28" y="707"/>
                  <a:pt x="33" y="711"/>
                  <a:pt x="39" y="713"/>
                </a:cubicBezTo>
                <a:cubicBezTo>
                  <a:pt x="45" y="714"/>
                  <a:pt x="51" y="712"/>
                  <a:pt x="55" y="708"/>
                </a:cubicBezTo>
                <a:cubicBezTo>
                  <a:pt x="120" y="643"/>
                  <a:pt x="120" y="643"/>
                  <a:pt x="120" y="643"/>
                </a:cubicBezTo>
                <a:cubicBezTo>
                  <a:pt x="171" y="643"/>
                  <a:pt x="171" y="643"/>
                  <a:pt x="171" y="643"/>
                </a:cubicBezTo>
                <a:cubicBezTo>
                  <a:pt x="171" y="695"/>
                  <a:pt x="171" y="695"/>
                  <a:pt x="171" y="695"/>
                </a:cubicBezTo>
                <a:cubicBezTo>
                  <a:pt x="107" y="759"/>
                  <a:pt x="107" y="759"/>
                  <a:pt x="107" y="759"/>
                </a:cubicBezTo>
                <a:cubicBezTo>
                  <a:pt x="102" y="763"/>
                  <a:pt x="101" y="769"/>
                  <a:pt x="102" y="775"/>
                </a:cubicBezTo>
                <a:cubicBezTo>
                  <a:pt x="103" y="781"/>
                  <a:pt x="107" y="786"/>
                  <a:pt x="113" y="789"/>
                </a:cubicBezTo>
                <a:cubicBezTo>
                  <a:pt x="133" y="797"/>
                  <a:pt x="154" y="802"/>
                  <a:pt x="176" y="802"/>
                </a:cubicBezTo>
                <a:cubicBezTo>
                  <a:pt x="220" y="802"/>
                  <a:pt x="261" y="785"/>
                  <a:pt x="292" y="754"/>
                </a:cubicBezTo>
                <a:cubicBezTo>
                  <a:pt x="336" y="709"/>
                  <a:pt x="351" y="645"/>
                  <a:pt x="331" y="586"/>
                </a:cubicBezTo>
                <a:cubicBezTo>
                  <a:pt x="451" y="466"/>
                  <a:pt x="451" y="466"/>
                  <a:pt x="451" y="466"/>
                </a:cubicBezTo>
                <a:cubicBezTo>
                  <a:pt x="547" y="562"/>
                  <a:pt x="547" y="562"/>
                  <a:pt x="547" y="562"/>
                </a:cubicBezTo>
                <a:cubicBezTo>
                  <a:pt x="483" y="626"/>
                  <a:pt x="483" y="626"/>
                  <a:pt x="483" y="626"/>
                </a:cubicBezTo>
                <a:cubicBezTo>
                  <a:pt x="476" y="633"/>
                  <a:pt x="476" y="645"/>
                  <a:pt x="483" y="652"/>
                </a:cubicBezTo>
                <a:cubicBezTo>
                  <a:pt x="486" y="655"/>
                  <a:pt x="491" y="657"/>
                  <a:pt x="496" y="657"/>
                </a:cubicBezTo>
                <a:cubicBezTo>
                  <a:pt x="500" y="657"/>
                  <a:pt x="505" y="655"/>
                  <a:pt x="509" y="652"/>
                </a:cubicBezTo>
                <a:cubicBezTo>
                  <a:pt x="534" y="626"/>
                  <a:pt x="534" y="626"/>
                  <a:pt x="534" y="626"/>
                </a:cubicBezTo>
                <a:cubicBezTo>
                  <a:pt x="689" y="780"/>
                  <a:pt x="689" y="780"/>
                  <a:pt x="689" y="780"/>
                </a:cubicBezTo>
                <a:cubicBezTo>
                  <a:pt x="702" y="794"/>
                  <a:pt x="721" y="802"/>
                  <a:pt x="740" y="802"/>
                </a:cubicBezTo>
                <a:cubicBezTo>
                  <a:pt x="759" y="802"/>
                  <a:pt x="778" y="794"/>
                  <a:pt x="791" y="780"/>
                </a:cubicBezTo>
                <a:cubicBezTo>
                  <a:pt x="805" y="767"/>
                  <a:pt x="813" y="748"/>
                  <a:pt x="813" y="729"/>
                </a:cubicBezTo>
                <a:cubicBezTo>
                  <a:pt x="813" y="709"/>
                  <a:pt x="805" y="691"/>
                  <a:pt x="791" y="677"/>
                </a:cubicBezTo>
                <a:close/>
                <a:moveTo>
                  <a:pt x="134" y="148"/>
                </a:moveTo>
                <a:cubicBezTo>
                  <a:pt x="57" y="71"/>
                  <a:pt x="57" y="71"/>
                  <a:pt x="57" y="71"/>
                </a:cubicBezTo>
                <a:cubicBezTo>
                  <a:pt x="82" y="46"/>
                  <a:pt x="82" y="46"/>
                  <a:pt x="82" y="46"/>
                </a:cubicBezTo>
                <a:cubicBezTo>
                  <a:pt x="160" y="123"/>
                  <a:pt x="160" y="123"/>
                  <a:pt x="160" y="123"/>
                </a:cubicBezTo>
                <a:lnTo>
                  <a:pt x="134" y="148"/>
                </a:lnTo>
                <a:close/>
                <a:moveTo>
                  <a:pt x="297" y="568"/>
                </a:moveTo>
                <a:cubicBezTo>
                  <a:pt x="292" y="574"/>
                  <a:pt x="291" y="582"/>
                  <a:pt x="293" y="588"/>
                </a:cubicBezTo>
                <a:cubicBezTo>
                  <a:pt x="314" y="636"/>
                  <a:pt x="303" y="691"/>
                  <a:pt x="266" y="728"/>
                </a:cubicBezTo>
                <a:cubicBezTo>
                  <a:pt x="242" y="752"/>
                  <a:pt x="210" y="765"/>
                  <a:pt x="176" y="765"/>
                </a:cubicBezTo>
                <a:cubicBezTo>
                  <a:pt x="169" y="765"/>
                  <a:pt x="161" y="765"/>
                  <a:pt x="154" y="763"/>
                </a:cubicBezTo>
                <a:cubicBezTo>
                  <a:pt x="202" y="715"/>
                  <a:pt x="202" y="715"/>
                  <a:pt x="202" y="715"/>
                </a:cubicBezTo>
                <a:cubicBezTo>
                  <a:pt x="205" y="712"/>
                  <a:pt x="207" y="707"/>
                  <a:pt x="207" y="702"/>
                </a:cubicBezTo>
                <a:cubicBezTo>
                  <a:pt x="207" y="625"/>
                  <a:pt x="207" y="625"/>
                  <a:pt x="207" y="625"/>
                </a:cubicBezTo>
                <a:cubicBezTo>
                  <a:pt x="207" y="615"/>
                  <a:pt x="199" y="607"/>
                  <a:pt x="189" y="607"/>
                </a:cubicBezTo>
                <a:cubicBezTo>
                  <a:pt x="112" y="607"/>
                  <a:pt x="112" y="607"/>
                  <a:pt x="112" y="607"/>
                </a:cubicBezTo>
                <a:cubicBezTo>
                  <a:pt x="107" y="607"/>
                  <a:pt x="103" y="609"/>
                  <a:pt x="99" y="612"/>
                </a:cubicBezTo>
                <a:cubicBezTo>
                  <a:pt x="51" y="661"/>
                  <a:pt x="51" y="661"/>
                  <a:pt x="51" y="661"/>
                </a:cubicBezTo>
                <a:cubicBezTo>
                  <a:pt x="44" y="620"/>
                  <a:pt x="56" y="578"/>
                  <a:pt x="86" y="548"/>
                </a:cubicBezTo>
                <a:cubicBezTo>
                  <a:pt x="110" y="524"/>
                  <a:pt x="142" y="511"/>
                  <a:pt x="176" y="511"/>
                </a:cubicBezTo>
                <a:cubicBezTo>
                  <a:pt x="193" y="511"/>
                  <a:pt x="210" y="514"/>
                  <a:pt x="226" y="521"/>
                </a:cubicBezTo>
                <a:cubicBezTo>
                  <a:pt x="233" y="524"/>
                  <a:pt x="241" y="522"/>
                  <a:pt x="246" y="517"/>
                </a:cubicBezTo>
                <a:cubicBezTo>
                  <a:pt x="528" y="235"/>
                  <a:pt x="528" y="235"/>
                  <a:pt x="528" y="235"/>
                </a:cubicBezTo>
                <a:cubicBezTo>
                  <a:pt x="533" y="230"/>
                  <a:pt x="535" y="222"/>
                  <a:pt x="532" y="215"/>
                </a:cubicBezTo>
                <a:cubicBezTo>
                  <a:pt x="512" y="167"/>
                  <a:pt x="522" y="112"/>
                  <a:pt x="559" y="75"/>
                </a:cubicBezTo>
                <a:cubicBezTo>
                  <a:pt x="583" y="51"/>
                  <a:pt x="615" y="38"/>
                  <a:pt x="649" y="38"/>
                </a:cubicBezTo>
                <a:cubicBezTo>
                  <a:pt x="657" y="38"/>
                  <a:pt x="664" y="39"/>
                  <a:pt x="671" y="40"/>
                </a:cubicBezTo>
                <a:cubicBezTo>
                  <a:pt x="623" y="88"/>
                  <a:pt x="623" y="88"/>
                  <a:pt x="623" y="88"/>
                </a:cubicBezTo>
                <a:cubicBezTo>
                  <a:pt x="620" y="92"/>
                  <a:pt x="618" y="96"/>
                  <a:pt x="618" y="101"/>
                </a:cubicBezTo>
                <a:cubicBezTo>
                  <a:pt x="618" y="178"/>
                  <a:pt x="618" y="178"/>
                  <a:pt x="618" y="178"/>
                </a:cubicBezTo>
                <a:cubicBezTo>
                  <a:pt x="618" y="188"/>
                  <a:pt x="626" y="196"/>
                  <a:pt x="636" y="196"/>
                </a:cubicBezTo>
                <a:cubicBezTo>
                  <a:pt x="713" y="196"/>
                  <a:pt x="713" y="196"/>
                  <a:pt x="713" y="196"/>
                </a:cubicBezTo>
                <a:cubicBezTo>
                  <a:pt x="718" y="196"/>
                  <a:pt x="723" y="195"/>
                  <a:pt x="726" y="191"/>
                </a:cubicBezTo>
                <a:cubicBezTo>
                  <a:pt x="774" y="143"/>
                  <a:pt x="774" y="143"/>
                  <a:pt x="774" y="143"/>
                </a:cubicBezTo>
                <a:cubicBezTo>
                  <a:pt x="782" y="183"/>
                  <a:pt x="769" y="225"/>
                  <a:pt x="739" y="255"/>
                </a:cubicBezTo>
                <a:cubicBezTo>
                  <a:pt x="715" y="279"/>
                  <a:pt x="683" y="293"/>
                  <a:pt x="649" y="293"/>
                </a:cubicBezTo>
                <a:cubicBezTo>
                  <a:pt x="632" y="293"/>
                  <a:pt x="615" y="289"/>
                  <a:pt x="599" y="283"/>
                </a:cubicBezTo>
                <a:cubicBezTo>
                  <a:pt x="593" y="280"/>
                  <a:pt x="585" y="281"/>
                  <a:pt x="579" y="286"/>
                </a:cubicBezTo>
                <a:lnTo>
                  <a:pt x="297" y="568"/>
                </a:lnTo>
                <a:close/>
                <a:moveTo>
                  <a:pt x="766" y="755"/>
                </a:moveTo>
                <a:cubicBezTo>
                  <a:pt x="752" y="768"/>
                  <a:pt x="728" y="768"/>
                  <a:pt x="714" y="755"/>
                </a:cubicBezTo>
                <a:cubicBezTo>
                  <a:pt x="560" y="600"/>
                  <a:pt x="560" y="600"/>
                  <a:pt x="560" y="600"/>
                </a:cubicBezTo>
                <a:cubicBezTo>
                  <a:pt x="611" y="549"/>
                  <a:pt x="611" y="549"/>
                  <a:pt x="611" y="549"/>
                </a:cubicBezTo>
                <a:cubicBezTo>
                  <a:pt x="766" y="703"/>
                  <a:pt x="766" y="703"/>
                  <a:pt x="766" y="703"/>
                </a:cubicBezTo>
                <a:cubicBezTo>
                  <a:pt x="773" y="710"/>
                  <a:pt x="776" y="719"/>
                  <a:pt x="776" y="729"/>
                </a:cubicBezTo>
                <a:cubicBezTo>
                  <a:pt x="776" y="739"/>
                  <a:pt x="773" y="748"/>
                  <a:pt x="766" y="7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8067008-A3D8-50A9-9BCD-BC45B62C96BA}"/>
              </a:ext>
            </a:extLst>
          </p:cNvPr>
          <p:cNvSpPr/>
          <p:nvPr/>
        </p:nvSpPr>
        <p:spPr>
          <a:xfrm>
            <a:off x="7496995" y="2841853"/>
            <a:ext cx="1994139" cy="5847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365760" bIns="45720" rtlCol="0" anchor="ctr">
            <a:spAutoFit/>
          </a:bodyPr>
          <a:lstStyle/>
          <a:p>
            <a:pPr algn="r"/>
            <a:r>
              <a:rPr lang="en-US" sz="3200">
                <a:ea typeface="Open Sans Light"/>
                <a:cs typeface="Open Sans Light"/>
              </a:rPr>
              <a:t>1-7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DEAC688-C6E2-4BFD-FDB0-E97230F19CB9}"/>
              </a:ext>
            </a:extLst>
          </p:cNvPr>
          <p:cNvSpPr/>
          <p:nvPr/>
        </p:nvSpPr>
        <p:spPr>
          <a:xfrm>
            <a:off x="8106595" y="3673532"/>
            <a:ext cx="1994139" cy="5847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365760" bIns="45720" rtlCol="0" anchor="ctr">
            <a:spAutoFit/>
          </a:bodyPr>
          <a:lstStyle/>
          <a:p>
            <a:pPr algn="r"/>
            <a:r>
              <a:rPr lang="en-US" sz="3200"/>
              <a:t>Yes/No</a:t>
            </a:r>
            <a:endParaRPr lang="en-US" sz="3200">
              <a:ea typeface="Open Sans Light"/>
              <a:cs typeface="Open Sans Light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033D2E3-8D18-AF20-C41D-175B7E0BE28E}"/>
              </a:ext>
            </a:extLst>
          </p:cNvPr>
          <p:cNvSpPr/>
          <p:nvPr/>
        </p:nvSpPr>
        <p:spPr>
          <a:xfrm>
            <a:off x="6988995" y="4505212"/>
            <a:ext cx="1994139" cy="5847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365760" bIns="45720" rtlCol="0" anchor="ctr">
            <a:spAutoFit/>
          </a:bodyPr>
          <a:lstStyle/>
          <a:p>
            <a:pPr algn="r"/>
            <a:r>
              <a:rPr lang="en-US" sz="3200">
                <a:ea typeface="Open Sans Light"/>
                <a:cs typeface="Open Sans Light"/>
              </a:rPr>
              <a:t>0-10</a:t>
            </a:r>
            <a:endParaRPr lang="en-US" sz="32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19327E4-F636-A676-E097-2FD8C47DC9D1}"/>
              </a:ext>
            </a:extLst>
          </p:cNvPr>
          <p:cNvSpPr/>
          <p:nvPr/>
        </p:nvSpPr>
        <p:spPr>
          <a:xfrm>
            <a:off x="9224193" y="2021989"/>
            <a:ext cx="1994139" cy="5847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365760" bIns="45720" rtlCol="0" anchor="ctr">
            <a:spAutoFit/>
          </a:bodyPr>
          <a:lstStyle/>
          <a:p>
            <a:pPr algn="r"/>
            <a:r>
              <a:rPr lang="en-US" sz="3200">
                <a:ea typeface="Open Sans Light"/>
                <a:cs typeface="Open Sans Light"/>
              </a:rPr>
              <a:t>0-5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F5776A4-29BA-8D16-2D3A-FEC2E707F798}"/>
              </a:ext>
            </a:extLst>
          </p:cNvPr>
          <p:cNvSpPr/>
          <p:nvPr/>
        </p:nvSpPr>
        <p:spPr>
          <a:xfrm>
            <a:off x="5020733" y="1993759"/>
            <a:ext cx="3454400" cy="557332"/>
          </a:xfrm>
          <a:prstGeom prst="rect">
            <a:avLst/>
          </a:prstGeom>
        </p:spPr>
        <p:txBody>
          <a:bodyPr wrap="square" lIns="0" tIns="45720" rIns="0" bIns="45720" anchor="t">
            <a:spAutoFit/>
          </a:bodyPr>
          <a:lstStyle/>
          <a:p>
            <a:pPr>
              <a:lnSpc>
                <a:spcPct val="85000"/>
              </a:lnSpc>
            </a:pPr>
            <a:r>
              <a:rPr lang="en-US" sz="2100">
                <a:solidFill>
                  <a:srgbClr val="FFFFFF"/>
                </a:solidFill>
              </a:rPr>
              <a:t>PRIMARY DV:</a:t>
            </a:r>
            <a:endParaRPr lang="en-US">
              <a:solidFill>
                <a:srgbClr val="57565A"/>
              </a:solidFill>
              <a:ea typeface="+mn-lt"/>
              <a:cs typeface="+mn-lt"/>
            </a:endParaRPr>
          </a:p>
          <a:p>
            <a:pPr>
              <a:lnSpc>
                <a:spcPct val="85000"/>
              </a:lnSpc>
            </a:pPr>
            <a:r>
              <a:rPr lang="en-US" sz="1450">
                <a:solidFill>
                  <a:srgbClr val="FFFFFF"/>
                </a:solidFill>
                <a:ea typeface="+mn-lt"/>
                <a:cs typeface="+mn-lt"/>
              </a:rPr>
              <a:t>Incentive-Compatible Round Choice</a:t>
            </a:r>
            <a:endParaRPr lang="en-US">
              <a:ea typeface="Open Sans Light"/>
              <a:cs typeface="Open Sans Light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9361950-46F3-43BE-BD9F-0EACE8DAF390}"/>
              </a:ext>
            </a:extLst>
          </p:cNvPr>
          <p:cNvSpPr/>
          <p:nvPr/>
        </p:nvSpPr>
        <p:spPr>
          <a:xfrm>
            <a:off x="5020733" y="2825438"/>
            <a:ext cx="3454400" cy="557332"/>
          </a:xfrm>
          <a:prstGeom prst="rect">
            <a:avLst/>
          </a:prstGeom>
        </p:spPr>
        <p:txBody>
          <a:bodyPr wrap="square" lIns="0" tIns="45720" rIns="0" bIns="45720" anchor="t">
            <a:spAutoFit/>
          </a:bodyPr>
          <a:lstStyle/>
          <a:p>
            <a:pPr>
              <a:lnSpc>
                <a:spcPct val="85000"/>
              </a:lnSpc>
            </a:pPr>
            <a:r>
              <a:rPr lang="en-US" sz="2100">
                <a:solidFill>
                  <a:srgbClr val="FFFFFF"/>
                </a:solidFill>
              </a:rPr>
              <a:t>SECONDARY DV:</a:t>
            </a:r>
            <a:endParaRPr lang="en-US" sz="2100">
              <a:solidFill>
                <a:srgbClr val="FFFFFF"/>
              </a:solidFill>
              <a:ea typeface="Open Sans Light"/>
              <a:cs typeface="Open Sans Light"/>
            </a:endParaRPr>
          </a:p>
          <a:p>
            <a:pPr>
              <a:lnSpc>
                <a:spcPct val="85000"/>
              </a:lnSpc>
            </a:pPr>
            <a:r>
              <a:rPr lang="en-US" sz="1450">
                <a:solidFill>
                  <a:srgbClr val="FFFFFF"/>
                </a:solidFill>
                <a:ea typeface="+mn-lt"/>
                <a:cs typeface="+mn-lt"/>
              </a:rPr>
              <a:t>Willingness to Return</a:t>
            </a:r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0D88A6A-ACD1-A556-637B-AC82CAC5F250}"/>
              </a:ext>
            </a:extLst>
          </p:cNvPr>
          <p:cNvSpPr/>
          <p:nvPr/>
        </p:nvSpPr>
        <p:spPr>
          <a:xfrm>
            <a:off x="5020733" y="3657117"/>
            <a:ext cx="3454400" cy="557332"/>
          </a:xfrm>
          <a:prstGeom prst="rect">
            <a:avLst/>
          </a:prstGeom>
        </p:spPr>
        <p:txBody>
          <a:bodyPr wrap="square" lIns="0" tIns="45720" rIns="0" bIns="45720" anchor="t">
            <a:spAutoFit/>
          </a:bodyPr>
          <a:lstStyle/>
          <a:p>
            <a:pPr>
              <a:lnSpc>
                <a:spcPct val="85000"/>
              </a:lnSpc>
            </a:pPr>
            <a:r>
              <a:rPr lang="en-US" sz="2100">
                <a:solidFill>
                  <a:srgbClr val="FFFFFF"/>
                </a:solidFill>
              </a:rPr>
              <a:t>TERTIARY DV:</a:t>
            </a:r>
            <a:endParaRPr lang="en-US" sz="2100">
              <a:ea typeface="Open Sans Light"/>
              <a:cs typeface="Open Sans Light"/>
            </a:endParaRPr>
          </a:p>
          <a:p>
            <a:pPr>
              <a:lnSpc>
                <a:spcPct val="85000"/>
              </a:lnSpc>
            </a:pPr>
            <a:r>
              <a:rPr lang="en-US" sz="1450">
                <a:solidFill>
                  <a:srgbClr val="FFFFFF"/>
                </a:solidFill>
                <a:ea typeface="+mn-lt"/>
                <a:cs typeface="+mn-lt"/>
              </a:rPr>
              <a:t>Binary Persistence Decision </a:t>
            </a:r>
            <a:endParaRPr lang="en-US" sz="1450">
              <a:solidFill>
                <a:srgbClr val="FFFFFF"/>
              </a:solidFill>
              <a:ea typeface="Open Sans Light"/>
              <a:cs typeface="Open Sans Light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6814053-2326-6772-9671-A41C8624B771}"/>
              </a:ext>
            </a:extLst>
          </p:cNvPr>
          <p:cNvSpPr/>
          <p:nvPr/>
        </p:nvSpPr>
        <p:spPr>
          <a:xfrm>
            <a:off x="5020733" y="4488797"/>
            <a:ext cx="3454400" cy="557332"/>
          </a:xfrm>
          <a:prstGeom prst="rect">
            <a:avLst/>
          </a:prstGeom>
        </p:spPr>
        <p:txBody>
          <a:bodyPr wrap="square" lIns="0" tIns="45720" rIns="0" bIns="45720" anchor="t">
            <a:spAutoFit/>
          </a:bodyPr>
          <a:lstStyle/>
          <a:p>
            <a:pPr>
              <a:lnSpc>
                <a:spcPct val="85000"/>
              </a:lnSpc>
            </a:pPr>
            <a:r>
              <a:rPr lang="en-US" sz="2100">
                <a:solidFill>
                  <a:srgbClr val="FFFFFF"/>
                </a:solidFill>
              </a:rPr>
              <a:t>EXPLORATORY DV: </a:t>
            </a:r>
            <a:br>
              <a:rPr lang="en-US" sz="2100">
                <a:solidFill>
                  <a:srgbClr val="FFFFFF"/>
                </a:solidFill>
              </a:rPr>
            </a:br>
            <a:r>
              <a:rPr lang="en-US" sz="1450">
                <a:solidFill>
                  <a:srgbClr val="FFFFFF"/>
                </a:solidFill>
                <a:ea typeface="+mn-lt"/>
                <a:cs typeface="+mn-lt"/>
              </a:rPr>
              <a:t>Confidence in Future Success</a:t>
            </a:r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3BDECAF-9297-60AD-D503-1F085D853A87}"/>
              </a:ext>
            </a:extLst>
          </p:cNvPr>
          <p:cNvSpPr/>
          <p:nvPr/>
        </p:nvSpPr>
        <p:spPr>
          <a:xfrm>
            <a:off x="-55033" y="2223522"/>
            <a:ext cx="1318093" cy="1322847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67"/>
              <a:t>02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A16C900-95DF-B6D7-2593-3CC4BA3476CB}"/>
              </a:ext>
            </a:extLst>
          </p:cNvPr>
          <p:cNvSpPr/>
          <p:nvPr/>
        </p:nvSpPr>
        <p:spPr>
          <a:xfrm>
            <a:off x="-55033" y="931334"/>
            <a:ext cx="1318093" cy="132284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67"/>
              <a:t>01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F139828-D403-89E5-D8FE-256C502FA3F0}"/>
              </a:ext>
            </a:extLst>
          </p:cNvPr>
          <p:cNvSpPr/>
          <p:nvPr/>
        </p:nvSpPr>
        <p:spPr>
          <a:xfrm>
            <a:off x="-55033" y="3541265"/>
            <a:ext cx="1318093" cy="132284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67"/>
              <a:t>03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34E8664-1492-89FF-0E79-6AB6A12BD55A}"/>
              </a:ext>
            </a:extLst>
          </p:cNvPr>
          <p:cNvSpPr/>
          <p:nvPr/>
        </p:nvSpPr>
        <p:spPr>
          <a:xfrm>
            <a:off x="-55033" y="4827211"/>
            <a:ext cx="1318093" cy="1322847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67"/>
              <a:t>04</a:t>
            </a:r>
          </a:p>
        </p:txBody>
      </p:sp>
      <p:sp>
        <p:nvSpPr>
          <p:cNvPr id="16" name="Manual Input 10">
            <a:extLst>
              <a:ext uri="{FF2B5EF4-FFF2-40B4-BE49-F238E27FC236}">
                <a16:creationId xmlns:a16="http://schemas.microsoft.com/office/drawing/2014/main" id="{57D80A57-51A0-C5CE-C551-620B447E041C}"/>
              </a:ext>
            </a:extLst>
          </p:cNvPr>
          <p:cNvSpPr/>
          <p:nvPr/>
        </p:nvSpPr>
        <p:spPr>
          <a:xfrm flipH="1">
            <a:off x="1252618" y="931334"/>
            <a:ext cx="618516" cy="2606879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18 w 10000"/>
              <a:gd name="connsiteY0" fmla="*/ 4474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18 w 10000"/>
              <a:gd name="connsiteY4" fmla="*/ 4474 h 10000"/>
              <a:gd name="connsiteX0" fmla="*/ 18 w 10000"/>
              <a:gd name="connsiteY0" fmla="*/ 3659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18 w 10000"/>
              <a:gd name="connsiteY4" fmla="*/ 3659 h 10000"/>
              <a:gd name="connsiteX0" fmla="*/ 18 w 10000"/>
              <a:gd name="connsiteY0" fmla="*/ 3627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18 w 10000"/>
              <a:gd name="connsiteY4" fmla="*/ 3627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18" y="3627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ubicBezTo>
                  <a:pt x="6" y="7886"/>
                  <a:pt x="12" y="5741"/>
                  <a:pt x="18" y="3627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39" name="Manual Input 10">
            <a:extLst>
              <a:ext uri="{FF2B5EF4-FFF2-40B4-BE49-F238E27FC236}">
                <a16:creationId xmlns:a16="http://schemas.microsoft.com/office/drawing/2014/main" id="{283D3A12-9BF7-0F57-820D-038FA0BE0D86}"/>
              </a:ext>
            </a:extLst>
          </p:cNvPr>
          <p:cNvSpPr/>
          <p:nvPr/>
        </p:nvSpPr>
        <p:spPr>
          <a:xfrm flipH="1">
            <a:off x="1252618" y="2269760"/>
            <a:ext cx="618516" cy="1276608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18 w 10000"/>
              <a:gd name="connsiteY0" fmla="*/ 4474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18 w 10000"/>
              <a:gd name="connsiteY4" fmla="*/ 4474 h 10000"/>
              <a:gd name="connsiteX0" fmla="*/ 18 w 10000"/>
              <a:gd name="connsiteY0" fmla="*/ 3659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18 w 10000"/>
              <a:gd name="connsiteY4" fmla="*/ 3659 h 10000"/>
              <a:gd name="connsiteX0" fmla="*/ 18 w 10000"/>
              <a:gd name="connsiteY0" fmla="*/ 3627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18 w 10000"/>
              <a:gd name="connsiteY4" fmla="*/ 3627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18" y="3627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ubicBezTo>
                  <a:pt x="6" y="7886"/>
                  <a:pt x="12" y="5741"/>
                  <a:pt x="18" y="3627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267"/>
          </a:p>
        </p:txBody>
      </p:sp>
      <p:sp>
        <p:nvSpPr>
          <p:cNvPr id="41" name="Manual Input 10">
            <a:extLst>
              <a:ext uri="{FF2B5EF4-FFF2-40B4-BE49-F238E27FC236}">
                <a16:creationId xmlns:a16="http://schemas.microsoft.com/office/drawing/2014/main" id="{A5C7E3D6-46AE-CFB9-0DF1-324F0870ED31}"/>
              </a:ext>
            </a:extLst>
          </p:cNvPr>
          <p:cNvSpPr/>
          <p:nvPr/>
        </p:nvSpPr>
        <p:spPr>
          <a:xfrm flipH="1" flipV="1">
            <a:off x="1252617" y="3541263"/>
            <a:ext cx="618516" cy="2606879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18 w 10000"/>
              <a:gd name="connsiteY0" fmla="*/ 4474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18 w 10000"/>
              <a:gd name="connsiteY4" fmla="*/ 4474 h 10000"/>
              <a:gd name="connsiteX0" fmla="*/ 18 w 10000"/>
              <a:gd name="connsiteY0" fmla="*/ 3659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18 w 10000"/>
              <a:gd name="connsiteY4" fmla="*/ 3659 h 10000"/>
              <a:gd name="connsiteX0" fmla="*/ 18 w 10000"/>
              <a:gd name="connsiteY0" fmla="*/ 3627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18 w 10000"/>
              <a:gd name="connsiteY4" fmla="*/ 3627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18" y="3627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ubicBezTo>
                  <a:pt x="6" y="7886"/>
                  <a:pt x="12" y="5741"/>
                  <a:pt x="18" y="3627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42" name="Manual Input 10">
            <a:extLst>
              <a:ext uri="{FF2B5EF4-FFF2-40B4-BE49-F238E27FC236}">
                <a16:creationId xmlns:a16="http://schemas.microsoft.com/office/drawing/2014/main" id="{6C5B29A2-51E5-B1C3-5E7E-E57461614373}"/>
              </a:ext>
            </a:extLst>
          </p:cNvPr>
          <p:cNvSpPr/>
          <p:nvPr/>
        </p:nvSpPr>
        <p:spPr>
          <a:xfrm flipH="1" flipV="1">
            <a:off x="1252617" y="3541264"/>
            <a:ext cx="618516" cy="1276608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18 w 10000"/>
              <a:gd name="connsiteY0" fmla="*/ 4474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18 w 10000"/>
              <a:gd name="connsiteY4" fmla="*/ 4474 h 10000"/>
              <a:gd name="connsiteX0" fmla="*/ 18 w 10000"/>
              <a:gd name="connsiteY0" fmla="*/ 3659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18 w 10000"/>
              <a:gd name="connsiteY4" fmla="*/ 3659 h 10000"/>
              <a:gd name="connsiteX0" fmla="*/ 18 w 10000"/>
              <a:gd name="connsiteY0" fmla="*/ 3627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18 w 10000"/>
              <a:gd name="connsiteY4" fmla="*/ 3627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18" y="3627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ubicBezTo>
                  <a:pt x="6" y="7886"/>
                  <a:pt x="12" y="5741"/>
                  <a:pt x="18" y="3627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267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E474FA-472F-4FE8-7103-BA5FD3A43D67}"/>
              </a:ext>
            </a:extLst>
          </p:cNvPr>
          <p:cNvSpPr txBox="1"/>
          <p:nvPr/>
        </p:nvSpPr>
        <p:spPr>
          <a:xfrm>
            <a:off x="103573" y="6288348"/>
            <a:ext cx="1893902" cy="369332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FE4B82-E2DD-2C22-8900-58BA197008A2}"/>
              </a:ext>
            </a:extLst>
          </p:cNvPr>
          <p:cNvSpPr txBox="1"/>
          <p:nvPr/>
        </p:nvSpPr>
        <p:spPr>
          <a:xfrm>
            <a:off x="8360150" y="6211557"/>
            <a:ext cx="3580659" cy="524691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  <p:sp>
        <p:nvSpPr>
          <p:cNvPr id="6" name="Freeform 21">
            <a:extLst>
              <a:ext uri="{FF2B5EF4-FFF2-40B4-BE49-F238E27FC236}">
                <a16:creationId xmlns:a16="http://schemas.microsoft.com/office/drawing/2014/main" id="{6DB86785-16CD-CA61-6A95-548E0C4FF0B9}"/>
              </a:ext>
            </a:extLst>
          </p:cNvPr>
          <p:cNvSpPr>
            <a:spLocks noEditPoints="1"/>
          </p:cNvSpPr>
          <p:nvPr/>
        </p:nvSpPr>
        <p:spPr bwMode="auto">
          <a:xfrm>
            <a:off x="3292934" y="2105728"/>
            <a:ext cx="410779" cy="410067"/>
          </a:xfrm>
          <a:custGeom>
            <a:avLst/>
            <a:gdLst>
              <a:gd name="T0" fmla="*/ 350 w 800"/>
              <a:gd name="T1" fmla="*/ 639 h 798"/>
              <a:gd name="T2" fmla="*/ 270 w 800"/>
              <a:gd name="T3" fmla="*/ 719 h 798"/>
              <a:gd name="T4" fmla="*/ 350 w 800"/>
              <a:gd name="T5" fmla="*/ 798 h 798"/>
              <a:gd name="T6" fmla="*/ 430 w 800"/>
              <a:gd name="T7" fmla="*/ 719 h 798"/>
              <a:gd name="T8" fmla="*/ 350 w 800"/>
              <a:gd name="T9" fmla="*/ 639 h 798"/>
              <a:gd name="T10" fmla="*/ 350 w 800"/>
              <a:gd name="T11" fmla="*/ 763 h 798"/>
              <a:gd name="T12" fmla="*/ 306 w 800"/>
              <a:gd name="T13" fmla="*/ 719 h 798"/>
              <a:gd name="T14" fmla="*/ 350 w 800"/>
              <a:gd name="T15" fmla="*/ 674 h 798"/>
              <a:gd name="T16" fmla="*/ 394 w 800"/>
              <a:gd name="T17" fmla="*/ 719 h 798"/>
              <a:gd name="T18" fmla="*/ 350 w 800"/>
              <a:gd name="T19" fmla="*/ 763 h 798"/>
              <a:gd name="T20" fmla="*/ 600 w 800"/>
              <a:gd name="T21" fmla="*/ 639 h 798"/>
              <a:gd name="T22" fmla="*/ 520 w 800"/>
              <a:gd name="T23" fmla="*/ 719 h 798"/>
              <a:gd name="T24" fmla="*/ 600 w 800"/>
              <a:gd name="T25" fmla="*/ 798 h 798"/>
              <a:gd name="T26" fmla="*/ 680 w 800"/>
              <a:gd name="T27" fmla="*/ 719 h 798"/>
              <a:gd name="T28" fmla="*/ 600 w 800"/>
              <a:gd name="T29" fmla="*/ 639 h 798"/>
              <a:gd name="T30" fmla="*/ 600 w 800"/>
              <a:gd name="T31" fmla="*/ 763 h 798"/>
              <a:gd name="T32" fmla="*/ 556 w 800"/>
              <a:gd name="T33" fmla="*/ 719 h 798"/>
              <a:gd name="T34" fmla="*/ 600 w 800"/>
              <a:gd name="T35" fmla="*/ 674 h 798"/>
              <a:gd name="T36" fmla="*/ 645 w 800"/>
              <a:gd name="T37" fmla="*/ 719 h 798"/>
              <a:gd name="T38" fmla="*/ 600 w 800"/>
              <a:gd name="T39" fmla="*/ 763 h 798"/>
              <a:gd name="T40" fmla="*/ 796 w 800"/>
              <a:gd name="T41" fmla="*/ 202 h 798"/>
              <a:gd name="T42" fmla="*/ 782 w 800"/>
              <a:gd name="T43" fmla="*/ 195 h 798"/>
              <a:gd name="T44" fmla="*/ 182 w 800"/>
              <a:gd name="T45" fmla="*/ 195 h 798"/>
              <a:gd name="T46" fmla="*/ 132 w 800"/>
              <a:gd name="T47" fmla="*/ 13 h 798"/>
              <a:gd name="T48" fmla="*/ 132 w 800"/>
              <a:gd name="T49" fmla="*/ 12 h 798"/>
              <a:gd name="T50" fmla="*/ 130 w 800"/>
              <a:gd name="T51" fmla="*/ 8 h 798"/>
              <a:gd name="T52" fmla="*/ 128 w 800"/>
              <a:gd name="T53" fmla="*/ 6 h 798"/>
              <a:gd name="T54" fmla="*/ 126 w 800"/>
              <a:gd name="T55" fmla="*/ 3 h 798"/>
              <a:gd name="T56" fmla="*/ 123 w 800"/>
              <a:gd name="T57" fmla="*/ 2 h 798"/>
              <a:gd name="T58" fmla="*/ 120 w 800"/>
              <a:gd name="T59" fmla="*/ 0 h 798"/>
              <a:gd name="T60" fmla="*/ 116 w 800"/>
              <a:gd name="T61" fmla="*/ 0 h 798"/>
              <a:gd name="T62" fmla="*/ 115 w 800"/>
              <a:gd name="T63" fmla="*/ 0 h 798"/>
              <a:gd name="T64" fmla="*/ 17 w 800"/>
              <a:gd name="T65" fmla="*/ 0 h 798"/>
              <a:gd name="T66" fmla="*/ 0 w 800"/>
              <a:gd name="T67" fmla="*/ 17 h 798"/>
              <a:gd name="T68" fmla="*/ 17 w 800"/>
              <a:gd name="T69" fmla="*/ 35 h 798"/>
              <a:gd name="T70" fmla="*/ 102 w 800"/>
              <a:gd name="T71" fmla="*/ 35 h 798"/>
              <a:gd name="T72" fmla="*/ 151 w 800"/>
              <a:gd name="T73" fmla="*/ 217 h 798"/>
              <a:gd name="T74" fmla="*/ 240 w 800"/>
              <a:gd name="T75" fmla="*/ 576 h 798"/>
              <a:gd name="T76" fmla="*/ 257 w 800"/>
              <a:gd name="T77" fmla="*/ 590 h 798"/>
              <a:gd name="T78" fmla="*/ 693 w 800"/>
              <a:gd name="T79" fmla="*/ 590 h 798"/>
              <a:gd name="T80" fmla="*/ 710 w 800"/>
              <a:gd name="T81" fmla="*/ 576 h 798"/>
              <a:gd name="T82" fmla="*/ 799 w 800"/>
              <a:gd name="T83" fmla="*/ 217 h 798"/>
              <a:gd name="T84" fmla="*/ 796 w 800"/>
              <a:gd name="T85" fmla="*/ 202 h 798"/>
              <a:gd name="T86" fmla="*/ 679 w 800"/>
              <a:gd name="T87" fmla="*/ 554 h 798"/>
              <a:gd name="T88" fmla="*/ 271 w 800"/>
              <a:gd name="T89" fmla="*/ 554 h 798"/>
              <a:gd name="T90" fmla="*/ 191 w 800"/>
              <a:gd name="T91" fmla="*/ 230 h 798"/>
              <a:gd name="T92" fmla="*/ 759 w 800"/>
              <a:gd name="T93" fmla="*/ 230 h 798"/>
              <a:gd name="T94" fmla="*/ 679 w 800"/>
              <a:gd name="T95" fmla="*/ 554 h 7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800" h="798">
                <a:moveTo>
                  <a:pt x="350" y="639"/>
                </a:moveTo>
                <a:cubicBezTo>
                  <a:pt x="306" y="639"/>
                  <a:pt x="270" y="675"/>
                  <a:pt x="270" y="719"/>
                </a:cubicBezTo>
                <a:cubicBezTo>
                  <a:pt x="270" y="763"/>
                  <a:pt x="306" y="798"/>
                  <a:pt x="350" y="798"/>
                </a:cubicBezTo>
                <a:cubicBezTo>
                  <a:pt x="394" y="798"/>
                  <a:pt x="430" y="763"/>
                  <a:pt x="430" y="719"/>
                </a:cubicBezTo>
                <a:cubicBezTo>
                  <a:pt x="430" y="675"/>
                  <a:pt x="394" y="639"/>
                  <a:pt x="350" y="639"/>
                </a:cubicBezTo>
                <a:close/>
                <a:moveTo>
                  <a:pt x="350" y="763"/>
                </a:moveTo>
                <a:cubicBezTo>
                  <a:pt x="325" y="763"/>
                  <a:pt x="306" y="743"/>
                  <a:pt x="306" y="719"/>
                </a:cubicBezTo>
                <a:cubicBezTo>
                  <a:pt x="306" y="694"/>
                  <a:pt x="325" y="674"/>
                  <a:pt x="350" y="674"/>
                </a:cubicBezTo>
                <a:cubicBezTo>
                  <a:pt x="374" y="674"/>
                  <a:pt x="394" y="694"/>
                  <a:pt x="394" y="719"/>
                </a:cubicBezTo>
                <a:cubicBezTo>
                  <a:pt x="394" y="743"/>
                  <a:pt x="374" y="763"/>
                  <a:pt x="350" y="763"/>
                </a:cubicBezTo>
                <a:close/>
                <a:moveTo>
                  <a:pt x="600" y="639"/>
                </a:moveTo>
                <a:cubicBezTo>
                  <a:pt x="556" y="639"/>
                  <a:pt x="520" y="675"/>
                  <a:pt x="520" y="719"/>
                </a:cubicBezTo>
                <a:cubicBezTo>
                  <a:pt x="520" y="763"/>
                  <a:pt x="556" y="798"/>
                  <a:pt x="600" y="798"/>
                </a:cubicBezTo>
                <a:cubicBezTo>
                  <a:pt x="644" y="798"/>
                  <a:pt x="680" y="763"/>
                  <a:pt x="680" y="719"/>
                </a:cubicBezTo>
                <a:cubicBezTo>
                  <a:pt x="680" y="675"/>
                  <a:pt x="644" y="639"/>
                  <a:pt x="600" y="639"/>
                </a:cubicBezTo>
                <a:close/>
                <a:moveTo>
                  <a:pt x="600" y="763"/>
                </a:moveTo>
                <a:cubicBezTo>
                  <a:pt x="576" y="763"/>
                  <a:pt x="556" y="743"/>
                  <a:pt x="556" y="719"/>
                </a:cubicBezTo>
                <a:cubicBezTo>
                  <a:pt x="556" y="694"/>
                  <a:pt x="576" y="674"/>
                  <a:pt x="600" y="674"/>
                </a:cubicBezTo>
                <a:cubicBezTo>
                  <a:pt x="625" y="674"/>
                  <a:pt x="645" y="694"/>
                  <a:pt x="645" y="719"/>
                </a:cubicBezTo>
                <a:cubicBezTo>
                  <a:pt x="645" y="743"/>
                  <a:pt x="625" y="763"/>
                  <a:pt x="600" y="763"/>
                </a:cubicBezTo>
                <a:close/>
                <a:moveTo>
                  <a:pt x="796" y="202"/>
                </a:moveTo>
                <a:cubicBezTo>
                  <a:pt x="793" y="197"/>
                  <a:pt x="787" y="195"/>
                  <a:pt x="782" y="195"/>
                </a:cubicBezTo>
                <a:cubicBezTo>
                  <a:pt x="182" y="195"/>
                  <a:pt x="182" y="195"/>
                  <a:pt x="182" y="195"/>
                </a:cubicBezTo>
                <a:cubicBezTo>
                  <a:pt x="132" y="13"/>
                  <a:pt x="132" y="13"/>
                  <a:pt x="132" y="13"/>
                </a:cubicBezTo>
                <a:cubicBezTo>
                  <a:pt x="132" y="12"/>
                  <a:pt x="132" y="12"/>
                  <a:pt x="132" y="12"/>
                </a:cubicBezTo>
                <a:cubicBezTo>
                  <a:pt x="131" y="10"/>
                  <a:pt x="131" y="9"/>
                  <a:pt x="130" y="8"/>
                </a:cubicBezTo>
                <a:cubicBezTo>
                  <a:pt x="130" y="7"/>
                  <a:pt x="129" y="6"/>
                  <a:pt x="128" y="6"/>
                </a:cubicBezTo>
                <a:cubicBezTo>
                  <a:pt x="128" y="5"/>
                  <a:pt x="127" y="4"/>
                  <a:pt x="126" y="3"/>
                </a:cubicBezTo>
                <a:cubicBezTo>
                  <a:pt x="125" y="3"/>
                  <a:pt x="124" y="2"/>
                  <a:pt x="123" y="2"/>
                </a:cubicBezTo>
                <a:cubicBezTo>
                  <a:pt x="122" y="1"/>
                  <a:pt x="121" y="1"/>
                  <a:pt x="120" y="0"/>
                </a:cubicBezTo>
                <a:cubicBezTo>
                  <a:pt x="119" y="0"/>
                  <a:pt x="118" y="0"/>
                  <a:pt x="116" y="0"/>
                </a:cubicBezTo>
                <a:cubicBezTo>
                  <a:pt x="116" y="0"/>
                  <a:pt x="116" y="0"/>
                  <a:pt x="115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8" y="0"/>
                  <a:pt x="0" y="8"/>
                  <a:pt x="0" y="17"/>
                </a:cubicBezTo>
                <a:cubicBezTo>
                  <a:pt x="0" y="27"/>
                  <a:pt x="8" y="35"/>
                  <a:pt x="17" y="35"/>
                </a:cubicBezTo>
                <a:cubicBezTo>
                  <a:pt x="102" y="35"/>
                  <a:pt x="102" y="35"/>
                  <a:pt x="102" y="35"/>
                </a:cubicBezTo>
                <a:cubicBezTo>
                  <a:pt x="151" y="217"/>
                  <a:pt x="151" y="217"/>
                  <a:pt x="151" y="217"/>
                </a:cubicBezTo>
                <a:cubicBezTo>
                  <a:pt x="240" y="576"/>
                  <a:pt x="240" y="576"/>
                  <a:pt x="240" y="576"/>
                </a:cubicBezTo>
                <a:cubicBezTo>
                  <a:pt x="242" y="584"/>
                  <a:pt x="249" y="590"/>
                  <a:pt x="257" y="590"/>
                </a:cubicBezTo>
                <a:cubicBezTo>
                  <a:pt x="693" y="590"/>
                  <a:pt x="693" y="590"/>
                  <a:pt x="693" y="590"/>
                </a:cubicBezTo>
                <a:cubicBezTo>
                  <a:pt x="701" y="590"/>
                  <a:pt x="708" y="584"/>
                  <a:pt x="710" y="576"/>
                </a:cubicBezTo>
                <a:cubicBezTo>
                  <a:pt x="799" y="217"/>
                  <a:pt x="799" y="217"/>
                  <a:pt x="799" y="217"/>
                </a:cubicBezTo>
                <a:cubicBezTo>
                  <a:pt x="800" y="212"/>
                  <a:pt x="799" y="206"/>
                  <a:pt x="796" y="202"/>
                </a:cubicBezTo>
                <a:close/>
                <a:moveTo>
                  <a:pt x="679" y="554"/>
                </a:moveTo>
                <a:cubicBezTo>
                  <a:pt x="271" y="554"/>
                  <a:pt x="271" y="554"/>
                  <a:pt x="271" y="554"/>
                </a:cubicBezTo>
                <a:cubicBezTo>
                  <a:pt x="191" y="230"/>
                  <a:pt x="191" y="230"/>
                  <a:pt x="191" y="230"/>
                </a:cubicBezTo>
                <a:cubicBezTo>
                  <a:pt x="759" y="230"/>
                  <a:pt x="759" y="230"/>
                  <a:pt x="759" y="230"/>
                </a:cubicBezTo>
                <a:lnTo>
                  <a:pt x="679" y="55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Freeform 147">
            <a:extLst>
              <a:ext uri="{FF2B5EF4-FFF2-40B4-BE49-F238E27FC236}">
                <a16:creationId xmlns:a16="http://schemas.microsoft.com/office/drawing/2014/main" id="{28D09DB7-735A-2CE2-E2B3-DD1967BE1CD1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382741" y="4589616"/>
            <a:ext cx="325677" cy="411379"/>
          </a:xfrm>
          <a:custGeom>
            <a:avLst/>
            <a:gdLst>
              <a:gd name="T0" fmla="*/ 484 w 800"/>
              <a:gd name="T1" fmla="*/ 0 h 1011"/>
              <a:gd name="T2" fmla="*/ 463 w 800"/>
              <a:gd name="T3" fmla="*/ 990 h 1011"/>
              <a:gd name="T4" fmla="*/ 779 w 800"/>
              <a:gd name="T5" fmla="*/ 1011 h 1011"/>
              <a:gd name="T6" fmla="*/ 800 w 800"/>
              <a:gd name="T7" fmla="*/ 21 h 1011"/>
              <a:gd name="T8" fmla="*/ 758 w 800"/>
              <a:gd name="T9" fmla="*/ 969 h 1011"/>
              <a:gd name="T10" fmla="*/ 505 w 800"/>
              <a:gd name="T11" fmla="*/ 843 h 1011"/>
              <a:gd name="T12" fmla="*/ 589 w 800"/>
              <a:gd name="T13" fmla="*/ 800 h 1011"/>
              <a:gd name="T14" fmla="*/ 505 w 800"/>
              <a:gd name="T15" fmla="*/ 716 h 1011"/>
              <a:gd name="T16" fmla="*/ 589 w 800"/>
              <a:gd name="T17" fmla="*/ 674 h 1011"/>
              <a:gd name="T18" fmla="*/ 505 w 800"/>
              <a:gd name="T19" fmla="*/ 590 h 1011"/>
              <a:gd name="T20" fmla="*/ 589 w 800"/>
              <a:gd name="T21" fmla="*/ 548 h 1011"/>
              <a:gd name="T22" fmla="*/ 505 w 800"/>
              <a:gd name="T23" fmla="*/ 464 h 1011"/>
              <a:gd name="T24" fmla="*/ 589 w 800"/>
              <a:gd name="T25" fmla="*/ 421 h 1011"/>
              <a:gd name="T26" fmla="*/ 505 w 800"/>
              <a:gd name="T27" fmla="*/ 337 h 1011"/>
              <a:gd name="T28" fmla="*/ 589 w 800"/>
              <a:gd name="T29" fmla="*/ 295 h 1011"/>
              <a:gd name="T30" fmla="*/ 505 w 800"/>
              <a:gd name="T31" fmla="*/ 211 h 1011"/>
              <a:gd name="T32" fmla="*/ 589 w 800"/>
              <a:gd name="T33" fmla="*/ 169 h 1011"/>
              <a:gd name="T34" fmla="*/ 505 w 800"/>
              <a:gd name="T35" fmla="*/ 43 h 1011"/>
              <a:gd name="T36" fmla="*/ 758 w 800"/>
              <a:gd name="T37" fmla="*/ 969 h 1011"/>
              <a:gd name="T38" fmla="*/ 130 w 800"/>
              <a:gd name="T39" fmla="*/ 52 h 1011"/>
              <a:gd name="T40" fmla="*/ 0 w 800"/>
              <a:gd name="T41" fmla="*/ 253 h 1011"/>
              <a:gd name="T42" fmla="*/ 105 w 800"/>
              <a:gd name="T43" fmla="*/ 969 h 1011"/>
              <a:gd name="T44" fmla="*/ 295 w 800"/>
              <a:gd name="T45" fmla="*/ 864 h 1011"/>
              <a:gd name="T46" fmla="*/ 291 w 800"/>
              <a:gd name="T47" fmla="*/ 241 h 1011"/>
              <a:gd name="T48" fmla="*/ 147 w 800"/>
              <a:gd name="T49" fmla="*/ 102 h 1011"/>
              <a:gd name="T50" fmla="*/ 117 w 800"/>
              <a:gd name="T51" fmla="*/ 148 h 1011"/>
              <a:gd name="T52" fmla="*/ 42 w 800"/>
              <a:gd name="T53" fmla="*/ 347 h 1011"/>
              <a:gd name="T54" fmla="*/ 84 w 800"/>
              <a:gd name="T55" fmla="*/ 716 h 1011"/>
              <a:gd name="T56" fmla="*/ 42 w 800"/>
              <a:gd name="T57" fmla="*/ 347 h 1011"/>
              <a:gd name="T58" fmla="*/ 189 w 800"/>
              <a:gd name="T59" fmla="*/ 927 h 1011"/>
              <a:gd name="T60" fmla="*/ 42 w 800"/>
              <a:gd name="T61" fmla="*/ 864 h 1011"/>
              <a:gd name="T62" fmla="*/ 253 w 800"/>
              <a:gd name="T63" fmla="*/ 843 h 1011"/>
              <a:gd name="T64" fmla="*/ 253 w 800"/>
              <a:gd name="T65" fmla="*/ 800 h 1011"/>
              <a:gd name="T66" fmla="*/ 42 w 800"/>
              <a:gd name="T67" fmla="*/ 758 h 1011"/>
              <a:gd name="T68" fmla="*/ 253 w 800"/>
              <a:gd name="T69" fmla="*/ 800 h 1011"/>
              <a:gd name="T70" fmla="*/ 126 w 800"/>
              <a:gd name="T71" fmla="*/ 347 h 1011"/>
              <a:gd name="T72" fmla="*/ 168 w 800"/>
              <a:gd name="T73" fmla="*/ 347 h 1011"/>
              <a:gd name="T74" fmla="*/ 126 w 800"/>
              <a:gd name="T75" fmla="*/ 716 h 1011"/>
              <a:gd name="T76" fmla="*/ 211 w 800"/>
              <a:gd name="T77" fmla="*/ 716 h 1011"/>
              <a:gd name="T78" fmla="*/ 253 w 800"/>
              <a:gd name="T79" fmla="*/ 347 h 1011"/>
              <a:gd name="T80" fmla="*/ 253 w 800"/>
              <a:gd name="T81" fmla="*/ 274 h 1011"/>
              <a:gd name="T82" fmla="*/ 168 w 800"/>
              <a:gd name="T83" fmla="*/ 274 h 1011"/>
              <a:gd name="T84" fmla="*/ 126 w 800"/>
              <a:gd name="T85" fmla="*/ 274 h 1011"/>
              <a:gd name="T86" fmla="*/ 42 w 800"/>
              <a:gd name="T87" fmla="*/ 274 h 1011"/>
              <a:gd name="T88" fmla="*/ 88 w 800"/>
              <a:gd name="T89" fmla="*/ 190 h 1011"/>
              <a:gd name="T90" fmla="*/ 253 w 800"/>
              <a:gd name="T91" fmla="*/ 259 h 10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800" h="1011">
                <a:moveTo>
                  <a:pt x="779" y="0"/>
                </a:moveTo>
                <a:cubicBezTo>
                  <a:pt x="484" y="0"/>
                  <a:pt x="484" y="0"/>
                  <a:pt x="484" y="0"/>
                </a:cubicBezTo>
                <a:cubicBezTo>
                  <a:pt x="473" y="0"/>
                  <a:pt x="463" y="10"/>
                  <a:pt x="463" y="21"/>
                </a:cubicBezTo>
                <a:cubicBezTo>
                  <a:pt x="463" y="990"/>
                  <a:pt x="463" y="990"/>
                  <a:pt x="463" y="990"/>
                </a:cubicBezTo>
                <a:cubicBezTo>
                  <a:pt x="463" y="1001"/>
                  <a:pt x="473" y="1011"/>
                  <a:pt x="484" y="1011"/>
                </a:cubicBezTo>
                <a:cubicBezTo>
                  <a:pt x="779" y="1011"/>
                  <a:pt x="779" y="1011"/>
                  <a:pt x="779" y="1011"/>
                </a:cubicBezTo>
                <a:cubicBezTo>
                  <a:pt x="791" y="1011"/>
                  <a:pt x="800" y="1001"/>
                  <a:pt x="800" y="990"/>
                </a:cubicBezTo>
                <a:cubicBezTo>
                  <a:pt x="800" y="21"/>
                  <a:pt x="800" y="21"/>
                  <a:pt x="800" y="21"/>
                </a:cubicBezTo>
                <a:cubicBezTo>
                  <a:pt x="800" y="10"/>
                  <a:pt x="791" y="0"/>
                  <a:pt x="779" y="0"/>
                </a:cubicBezTo>
                <a:close/>
                <a:moveTo>
                  <a:pt x="758" y="969"/>
                </a:moveTo>
                <a:cubicBezTo>
                  <a:pt x="505" y="969"/>
                  <a:pt x="505" y="969"/>
                  <a:pt x="505" y="969"/>
                </a:cubicBezTo>
                <a:cubicBezTo>
                  <a:pt x="505" y="843"/>
                  <a:pt x="505" y="843"/>
                  <a:pt x="505" y="843"/>
                </a:cubicBezTo>
                <a:cubicBezTo>
                  <a:pt x="589" y="843"/>
                  <a:pt x="589" y="843"/>
                  <a:pt x="589" y="843"/>
                </a:cubicBezTo>
                <a:cubicBezTo>
                  <a:pt x="589" y="800"/>
                  <a:pt x="589" y="800"/>
                  <a:pt x="589" y="800"/>
                </a:cubicBezTo>
                <a:cubicBezTo>
                  <a:pt x="505" y="800"/>
                  <a:pt x="505" y="800"/>
                  <a:pt x="505" y="800"/>
                </a:cubicBezTo>
                <a:cubicBezTo>
                  <a:pt x="505" y="716"/>
                  <a:pt x="505" y="716"/>
                  <a:pt x="505" y="716"/>
                </a:cubicBezTo>
                <a:cubicBezTo>
                  <a:pt x="589" y="716"/>
                  <a:pt x="589" y="716"/>
                  <a:pt x="589" y="716"/>
                </a:cubicBezTo>
                <a:cubicBezTo>
                  <a:pt x="589" y="674"/>
                  <a:pt x="589" y="674"/>
                  <a:pt x="589" y="674"/>
                </a:cubicBezTo>
                <a:cubicBezTo>
                  <a:pt x="505" y="674"/>
                  <a:pt x="505" y="674"/>
                  <a:pt x="505" y="674"/>
                </a:cubicBezTo>
                <a:cubicBezTo>
                  <a:pt x="505" y="590"/>
                  <a:pt x="505" y="590"/>
                  <a:pt x="505" y="590"/>
                </a:cubicBezTo>
                <a:cubicBezTo>
                  <a:pt x="589" y="590"/>
                  <a:pt x="589" y="590"/>
                  <a:pt x="589" y="590"/>
                </a:cubicBezTo>
                <a:cubicBezTo>
                  <a:pt x="589" y="548"/>
                  <a:pt x="589" y="548"/>
                  <a:pt x="589" y="548"/>
                </a:cubicBezTo>
                <a:cubicBezTo>
                  <a:pt x="505" y="548"/>
                  <a:pt x="505" y="548"/>
                  <a:pt x="505" y="548"/>
                </a:cubicBezTo>
                <a:cubicBezTo>
                  <a:pt x="505" y="464"/>
                  <a:pt x="505" y="464"/>
                  <a:pt x="505" y="464"/>
                </a:cubicBezTo>
                <a:cubicBezTo>
                  <a:pt x="589" y="464"/>
                  <a:pt x="589" y="464"/>
                  <a:pt x="589" y="464"/>
                </a:cubicBezTo>
                <a:cubicBezTo>
                  <a:pt x="589" y="421"/>
                  <a:pt x="589" y="421"/>
                  <a:pt x="589" y="421"/>
                </a:cubicBezTo>
                <a:cubicBezTo>
                  <a:pt x="505" y="421"/>
                  <a:pt x="505" y="421"/>
                  <a:pt x="505" y="421"/>
                </a:cubicBezTo>
                <a:cubicBezTo>
                  <a:pt x="505" y="337"/>
                  <a:pt x="505" y="337"/>
                  <a:pt x="505" y="337"/>
                </a:cubicBezTo>
                <a:cubicBezTo>
                  <a:pt x="589" y="337"/>
                  <a:pt x="589" y="337"/>
                  <a:pt x="589" y="337"/>
                </a:cubicBezTo>
                <a:cubicBezTo>
                  <a:pt x="589" y="295"/>
                  <a:pt x="589" y="295"/>
                  <a:pt x="589" y="295"/>
                </a:cubicBezTo>
                <a:cubicBezTo>
                  <a:pt x="505" y="295"/>
                  <a:pt x="505" y="295"/>
                  <a:pt x="505" y="295"/>
                </a:cubicBezTo>
                <a:cubicBezTo>
                  <a:pt x="505" y="211"/>
                  <a:pt x="505" y="211"/>
                  <a:pt x="505" y="211"/>
                </a:cubicBezTo>
                <a:cubicBezTo>
                  <a:pt x="589" y="211"/>
                  <a:pt x="589" y="211"/>
                  <a:pt x="589" y="211"/>
                </a:cubicBezTo>
                <a:cubicBezTo>
                  <a:pt x="589" y="169"/>
                  <a:pt x="589" y="169"/>
                  <a:pt x="589" y="169"/>
                </a:cubicBezTo>
                <a:cubicBezTo>
                  <a:pt x="505" y="169"/>
                  <a:pt x="505" y="169"/>
                  <a:pt x="505" y="169"/>
                </a:cubicBezTo>
                <a:cubicBezTo>
                  <a:pt x="505" y="43"/>
                  <a:pt x="505" y="43"/>
                  <a:pt x="505" y="43"/>
                </a:cubicBezTo>
                <a:cubicBezTo>
                  <a:pt x="758" y="43"/>
                  <a:pt x="758" y="43"/>
                  <a:pt x="758" y="43"/>
                </a:cubicBezTo>
                <a:lnTo>
                  <a:pt x="758" y="969"/>
                </a:lnTo>
                <a:close/>
                <a:moveTo>
                  <a:pt x="165" y="52"/>
                </a:moveTo>
                <a:cubicBezTo>
                  <a:pt x="157" y="40"/>
                  <a:pt x="138" y="40"/>
                  <a:pt x="130" y="52"/>
                </a:cubicBezTo>
                <a:cubicBezTo>
                  <a:pt x="4" y="241"/>
                  <a:pt x="4" y="241"/>
                  <a:pt x="4" y="241"/>
                </a:cubicBezTo>
                <a:cubicBezTo>
                  <a:pt x="1" y="245"/>
                  <a:pt x="0" y="249"/>
                  <a:pt x="0" y="253"/>
                </a:cubicBezTo>
                <a:cubicBezTo>
                  <a:pt x="0" y="864"/>
                  <a:pt x="0" y="864"/>
                  <a:pt x="0" y="864"/>
                </a:cubicBezTo>
                <a:cubicBezTo>
                  <a:pt x="0" y="922"/>
                  <a:pt x="47" y="969"/>
                  <a:pt x="105" y="969"/>
                </a:cubicBezTo>
                <a:cubicBezTo>
                  <a:pt x="189" y="969"/>
                  <a:pt x="189" y="969"/>
                  <a:pt x="189" y="969"/>
                </a:cubicBezTo>
                <a:cubicBezTo>
                  <a:pt x="248" y="969"/>
                  <a:pt x="295" y="922"/>
                  <a:pt x="295" y="864"/>
                </a:cubicBezTo>
                <a:cubicBezTo>
                  <a:pt x="295" y="253"/>
                  <a:pt x="295" y="253"/>
                  <a:pt x="295" y="253"/>
                </a:cubicBezTo>
                <a:cubicBezTo>
                  <a:pt x="295" y="249"/>
                  <a:pt x="293" y="245"/>
                  <a:pt x="291" y="241"/>
                </a:cubicBezTo>
                <a:lnTo>
                  <a:pt x="165" y="52"/>
                </a:lnTo>
                <a:close/>
                <a:moveTo>
                  <a:pt x="147" y="102"/>
                </a:moveTo>
                <a:cubicBezTo>
                  <a:pt x="178" y="148"/>
                  <a:pt x="178" y="148"/>
                  <a:pt x="178" y="148"/>
                </a:cubicBezTo>
                <a:cubicBezTo>
                  <a:pt x="117" y="148"/>
                  <a:pt x="117" y="148"/>
                  <a:pt x="117" y="148"/>
                </a:cubicBezTo>
                <a:lnTo>
                  <a:pt x="147" y="102"/>
                </a:lnTo>
                <a:close/>
                <a:moveTo>
                  <a:pt x="42" y="347"/>
                </a:moveTo>
                <a:cubicBezTo>
                  <a:pt x="55" y="354"/>
                  <a:pt x="69" y="358"/>
                  <a:pt x="84" y="358"/>
                </a:cubicBezTo>
                <a:cubicBezTo>
                  <a:pt x="84" y="716"/>
                  <a:pt x="84" y="716"/>
                  <a:pt x="84" y="716"/>
                </a:cubicBezTo>
                <a:cubicBezTo>
                  <a:pt x="42" y="716"/>
                  <a:pt x="42" y="716"/>
                  <a:pt x="42" y="716"/>
                </a:cubicBezTo>
                <a:lnTo>
                  <a:pt x="42" y="347"/>
                </a:lnTo>
                <a:close/>
                <a:moveTo>
                  <a:pt x="253" y="864"/>
                </a:moveTo>
                <a:cubicBezTo>
                  <a:pt x="253" y="898"/>
                  <a:pt x="224" y="927"/>
                  <a:pt x="189" y="927"/>
                </a:cubicBezTo>
                <a:cubicBezTo>
                  <a:pt x="105" y="927"/>
                  <a:pt x="105" y="927"/>
                  <a:pt x="105" y="927"/>
                </a:cubicBezTo>
                <a:cubicBezTo>
                  <a:pt x="70" y="927"/>
                  <a:pt x="42" y="898"/>
                  <a:pt x="42" y="864"/>
                </a:cubicBezTo>
                <a:cubicBezTo>
                  <a:pt x="42" y="843"/>
                  <a:pt x="42" y="843"/>
                  <a:pt x="42" y="843"/>
                </a:cubicBezTo>
                <a:cubicBezTo>
                  <a:pt x="253" y="843"/>
                  <a:pt x="253" y="843"/>
                  <a:pt x="253" y="843"/>
                </a:cubicBezTo>
                <a:lnTo>
                  <a:pt x="253" y="864"/>
                </a:lnTo>
                <a:close/>
                <a:moveTo>
                  <a:pt x="253" y="800"/>
                </a:moveTo>
                <a:cubicBezTo>
                  <a:pt x="42" y="800"/>
                  <a:pt x="42" y="800"/>
                  <a:pt x="42" y="800"/>
                </a:cubicBezTo>
                <a:cubicBezTo>
                  <a:pt x="42" y="758"/>
                  <a:pt x="42" y="758"/>
                  <a:pt x="42" y="758"/>
                </a:cubicBezTo>
                <a:cubicBezTo>
                  <a:pt x="253" y="758"/>
                  <a:pt x="253" y="758"/>
                  <a:pt x="253" y="758"/>
                </a:cubicBezTo>
                <a:lnTo>
                  <a:pt x="253" y="800"/>
                </a:lnTo>
                <a:close/>
                <a:moveTo>
                  <a:pt x="126" y="716"/>
                </a:moveTo>
                <a:cubicBezTo>
                  <a:pt x="126" y="347"/>
                  <a:pt x="126" y="347"/>
                  <a:pt x="126" y="347"/>
                </a:cubicBezTo>
                <a:cubicBezTo>
                  <a:pt x="134" y="342"/>
                  <a:pt x="141" y="337"/>
                  <a:pt x="147" y="330"/>
                </a:cubicBezTo>
                <a:cubicBezTo>
                  <a:pt x="153" y="337"/>
                  <a:pt x="160" y="342"/>
                  <a:pt x="168" y="347"/>
                </a:cubicBezTo>
                <a:cubicBezTo>
                  <a:pt x="168" y="716"/>
                  <a:pt x="168" y="716"/>
                  <a:pt x="168" y="716"/>
                </a:cubicBezTo>
                <a:lnTo>
                  <a:pt x="126" y="716"/>
                </a:lnTo>
                <a:close/>
                <a:moveTo>
                  <a:pt x="253" y="716"/>
                </a:moveTo>
                <a:cubicBezTo>
                  <a:pt x="211" y="716"/>
                  <a:pt x="211" y="716"/>
                  <a:pt x="211" y="716"/>
                </a:cubicBezTo>
                <a:cubicBezTo>
                  <a:pt x="211" y="358"/>
                  <a:pt x="211" y="358"/>
                  <a:pt x="211" y="358"/>
                </a:cubicBezTo>
                <a:cubicBezTo>
                  <a:pt x="226" y="358"/>
                  <a:pt x="240" y="354"/>
                  <a:pt x="253" y="347"/>
                </a:cubicBezTo>
                <a:lnTo>
                  <a:pt x="253" y="716"/>
                </a:lnTo>
                <a:close/>
                <a:moveTo>
                  <a:pt x="253" y="274"/>
                </a:moveTo>
                <a:cubicBezTo>
                  <a:pt x="253" y="297"/>
                  <a:pt x="234" y="316"/>
                  <a:pt x="211" y="316"/>
                </a:cubicBezTo>
                <a:cubicBezTo>
                  <a:pt x="187" y="316"/>
                  <a:pt x="168" y="297"/>
                  <a:pt x="168" y="274"/>
                </a:cubicBezTo>
                <a:cubicBezTo>
                  <a:pt x="168" y="262"/>
                  <a:pt x="159" y="253"/>
                  <a:pt x="147" y="253"/>
                </a:cubicBezTo>
                <a:cubicBezTo>
                  <a:pt x="136" y="253"/>
                  <a:pt x="126" y="262"/>
                  <a:pt x="126" y="274"/>
                </a:cubicBezTo>
                <a:cubicBezTo>
                  <a:pt x="126" y="297"/>
                  <a:pt x="107" y="316"/>
                  <a:pt x="84" y="316"/>
                </a:cubicBezTo>
                <a:cubicBezTo>
                  <a:pt x="61" y="316"/>
                  <a:pt x="42" y="297"/>
                  <a:pt x="42" y="274"/>
                </a:cubicBezTo>
                <a:cubicBezTo>
                  <a:pt x="42" y="259"/>
                  <a:pt x="42" y="259"/>
                  <a:pt x="42" y="259"/>
                </a:cubicBezTo>
                <a:cubicBezTo>
                  <a:pt x="88" y="190"/>
                  <a:pt x="88" y="190"/>
                  <a:pt x="88" y="190"/>
                </a:cubicBezTo>
                <a:cubicBezTo>
                  <a:pt x="206" y="190"/>
                  <a:pt x="206" y="190"/>
                  <a:pt x="206" y="190"/>
                </a:cubicBezTo>
                <a:cubicBezTo>
                  <a:pt x="253" y="259"/>
                  <a:pt x="253" y="259"/>
                  <a:pt x="253" y="259"/>
                </a:cubicBezTo>
                <a:lnTo>
                  <a:pt x="253" y="27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43977852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"/>
                            </p:stCondLst>
                            <p:childTnLst>
                              <p:par>
                                <p:cTn id="18" presetID="2" presetClass="entr" presetSubtype="8" decel="6666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decel="7142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decel="75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decel="88889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3.82716E-6 L 1.07396 -3.82716E-6 " pathEditMode="relative" rAng="0" ptsTypes="AA">
                                      <p:cBhvr>
                                        <p:cTn id="37" dur="6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698" y="0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1.23457E-7 L 1.09375 0.00062 " pathEditMode="relative" rAng="0" ptsTypes="AA">
                                      <p:cBhvr>
                                        <p:cTn id="39" dur="6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688" y="31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3.58025E-6 L 1.09132 3.58025E-6 " pathEditMode="relative" rAng="0" ptsTypes="AA">
                                      <p:cBhvr>
                                        <p:cTn id="41" dur="6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566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71605E-6 L 1.07396 -2.71605E-6 " pathEditMode="relative" rAng="0" ptsTypes="AA">
                                      <p:cBhvr>
                                        <p:cTn id="43" dur="6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69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1" grpId="0" animBg="1"/>
      <p:bldP spid="72" grpId="0" animBg="1"/>
      <p:bldP spid="73" grpId="0" animBg="1"/>
      <p:bldP spid="8" grpId="0" animBg="1"/>
      <p:bldP spid="9" grpId="0" animBg="1"/>
      <p:bldP spid="10" grpId="0" animBg="1"/>
      <p:bldP spid="17" grpId="0" animBg="1"/>
      <p:bldP spid="16" grpId="0" animBg="1"/>
      <p:bldP spid="39" grpId="0" animBg="1"/>
      <p:bldP spid="41" grpId="0" animBg="1"/>
      <p:bldP spid="4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149B1-3551-53CE-CF4B-42FE3CE01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>
            <a:extLst>
              <a:ext uri="{FF2B5EF4-FFF2-40B4-BE49-F238E27FC236}">
                <a16:creationId xmlns:a16="http://schemas.microsoft.com/office/drawing/2014/main" id="{BB3EE785-20D9-F969-BF94-0FBCBEED1EB3}"/>
              </a:ext>
            </a:extLst>
          </p:cNvPr>
          <p:cNvSpPr/>
          <p:nvPr/>
        </p:nvSpPr>
        <p:spPr>
          <a:xfrm>
            <a:off x="-7768027" y="2709586"/>
            <a:ext cx="7315200" cy="849309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01D145D-C7C0-8C50-E0F2-0981051B0BAA}"/>
              </a:ext>
            </a:extLst>
          </p:cNvPr>
          <p:cNvSpPr/>
          <p:nvPr/>
        </p:nvSpPr>
        <p:spPr>
          <a:xfrm>
            <a:off x="-7768027" y="3541264"/>
            <a:ext cx="7315200" cy="84930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18781FE-85D1-392A-F7B0-9DE67D25AA86}"/>
              </a:ext>
            </a:extLst>
          </p:cNvPr>
          <p:cNvSpPr/>
          <p:nvPr/>
        </p:nvSpPr>
        <p:spPr>
          <a:xfrm>
            <a:off x="-7768028" y="4372944"/>
            <a:ext cx="7315200" cy="849309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4D1B522-5396-2050-5C41-1806E41E31F1}"/>
              </a:ext>
            </a:extLst>
          </p:cNvPr>
          <p:cNvSpPr/>
          <p:nvPr/>
        </p:nvSpPr>
        <p:spPr>
          <a:xfrm>
            <a:off x="-7768027" y="1877907"/>
            <a:ext cx="7315200" cy="8493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8" name="Pentagon 7">
            <a:extLst>
              <a:ext uri="{FF2B5EF4-FFF2-40B4-BE49-F238E27FC236}">
                <a16:creationId xmlns:a16="http://schemas.microsoft.com/office/drawing/2014/main" id="{FB869665-09BC-3EAE-2E74-8F73310A84F8}"/>
              </a:ext>
            </a:extLst>
          </p:cNvPr>
          <p:cNvSpPr/>
          <p:nvPr/>
        </p:nvSpPr>
        <p:spPr>
          <a:xfrm>
            <a:off x="1859037" y="2709586"/>
            <a:ext cx="7632096" cy="849309"/>
          </a:xfrm>
          <a:prstGeom prst="homePlat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9" name="Pentagon 8">
            <a:extLst>
              <a:ext uri="{FF2B5EF4-FFF2-40B4-BE49-F238E27FC236}">
                <a16:creationId xmlns:a16="http://schemas.microsoft.com/office/drawing/2014/main" id="{48F53ED0-8A2F-402A-7360-4710662AABFE}"/>
              </a:ext>
            </a:extLst>
          </p:cNvPr>
          <p:cNvSpPr/>
          <p:nvPr/>
        </p:nvSpPr>
        <p:spPr>
          <a:xfrm>
            <a:off x="1859037" y="3541264"/>
            <a:ext cx="8241696" cy="849309"/>
          </a:xfrm>
          <a:prstGeom prst="homePlat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10" name="Pentagon 9">
            <a:extLst>
              <a:ext uri="{FF2B5EF4-FFF2-40B4-BE49-F238E27FC236}">
                <a16:creationId xmlns:a16="http://schemas.microsoft.com/office/drawing/2014/main" id="{E47AE5D9-65E9-FE63-33DD-57F15AB6A3CD}"/>
              </a:ext>
            </a:extLst>
          </p:cNvPr>
          <p:cNvSpPr/>
          <p:nvPr/>
        </p:nvSpPr>
        <p:spPr>
          <a:xfrm>
            <a:off x="1859038" y="4372944"/>
            <a:ext cx="7124095" cy="849309"/>
          </a:xfrm>
          <a:prstGeom prst="homePlat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17" name="Pentagon 16">
            <a:extLst>
              <a:ext uri="{FF2B5EF4-FFF2-40B4-BE49-F238E27FC236}">
                <a16:creationId xmlns:a16="http://schemas.microsoft.com/office/drawing/2014/main" id="{1CC4E7FA-C7CC-E7E9-B2D8-259075E7F3B6}"/>
              </a:ext>
            </a:extLst>
          </p:cNvPr>
          <p:cNvSpPr/>
          <p:nvPr/>
        </p:nvSpPr>
        <p:spPr>
          <a:xfrm>
            <a:off x="1859038" y="1877907"/>
            <a:ext cx="9359295" cy="849309"/>
          </a:xfrm>
          <a:prstGeom prst="homePlat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2869A1B-09A1-6553-763C-37E8C3358EB2}"/>
              </a:ext>
            </a:extLst>
          </p:cNvPr>
          <p:cNvGrpSpPr/>
          <p:nvPr/>
        </p:nvGrpSpPr>
        <p:grpSpPr>
          <a:xfrm>
            <a:off x="2269672" y="1363142"/>
            <a:ext cx="2540000" cy="4494945"/>
            <a:chOff x="3429000" y="1428750"/>
            <a:chExt cx="1517831" cy="2686050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FA03EDEE-3110-A055-F0F6-F99E16813C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29000" y="1428750"/>
              <a:ext cx="1517831" cy="2686050"/>
            </a:xfrm>
            <a:prstGeom prst="rect">
              <a:avLst/>
            </a:prstGeom>
          </p:spPr>
        </p:pic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01411D39-CAE4-C8B9-AF63-9804C19FAA8B}"/>
                </a:ext>
              </a:extLst>
            </p:cNvPr>
            <p:cNvSpPr/>
            <p:nvPr/>
          </p:nvSpPr>
          <p:spPr>
            <a:xfrm>
              <a:off x="4012395" y="1565910"/>
              <a:ext cx="351040" cy="4572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alpha val="50000"/>
              </a:schemeClr>
            </a:solidFill>
            <a:ln w="12700" cmpd="sng">
              <a:gradFill flip="none" rotWithShape="1">
                <a:gsLst>
                  <a:gs pos="0">
                    <a:schemeClr val="tx1">
                      <a:lumMod val="50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lin ang="5400000" scaled="0"/>
                <a:tileRect/>
              </a:gra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D7C0233-99C6-8C19-1852-8A4A38F90998}"/>
                </a:ext>
              </a:extLst>
            </p:cNvPr>
            <p:cNvSpPr/>
            <p:nvPr/>
          </p:nvSpPr>
          <p:spPr>
            <a:xfrm>
              <a:off x="4080055" y="3811360"/>
              <a:ext cx="215720" cy="215720"/>
            </a:xfrm>
            <a:prstGeom prst="ellipse">
              <a:avLst/>
            </a:prstGeom>
            <a:solidFill>
              <a:schemeClr val="tx1">
                <a:lumMod val="50000"/>
                <a:alpha val="50000"/>
              </a:schemeClr>
            </a:solidFill>
            <a:ln w="3175" cmpd="sng">
              <a:gradFill flip="none" rotWithShape="1">
                <a:gsLst>
                  <a:gs pos="0">
                    <a:schemeClr val="tx1">
                      <a:lumMod val="50000"/>
                    </a:schemeClr>
                  </a:gs>
                  <a:gs pos="100000">
                    <a:schemeClr val="bg1">
                      <a:lumMod val="50000"/>
                      <a:alpha val="40000"/>
                    </a:schemeClr>
                  </a:gs>
                </a:gsLst>
                <a:lin ang="5400000" scaled="0"/>
                <a:tileRect/>
              </a:gra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AEABF29-A90A-0D5C-EB00-5EAEC77F3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133" y="279961"/>
            <a:ext cx="10363200" cy="817561"/>
          </a:xfrm>
        </p:spPr>
        <p:txBody>
          <a:bodyPr/>
          <a:lstStyle/>
          <a:p>
            <a:pPr algn="r"/>
            <a:r>
              <a:rPr lang="en-US">
                <a:ea typeface="Open Sans Light"/>
                <a:cs typeface="Open Sans Light"/>
              </a:rPr>
              <a:t>Dependent variables explained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A60A50-034E-055E-1052-5F5D7E4E85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5133" y="990600"/>
            <a:ext cx="10363200" cy="406400"/>
          </a:xfrm>
        </p:spPr>
        <p:txBody>
          <a:bodyPr vert="horz" lIns="0" tIns="0" rIns="0" bIns="0" rtlCol="0" anchor="t">
            <a:normAutofit/>
          </a:bodyPr>
          <a:lstStyle/>
          <a:p>
            <a:pPr algn="r"/>
            <a:r>
              <a:rPr lang="en-US"/>
              <a:t>Elaborated version</a:t>
            </a:r>
          </a:p>
        </p:txBody>
      </p:sp>
      <p:sp>
        <p:nvSpPr>
          <p:cNvPr id="31" name="Freeform 41">
            <a:extLst>
              <a:ext uri="{FF2B5EF4-FFF2-40B4-BE49-F238E27FC236}">
                <a16:creationId xmlns:a16="http://schemas.microsoft.com/office/drawing/2014/main" id="{9C6DC265-927A-1B67-70C6-7F966C8697F6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369934" y="3760229"/>
            <a:ext cx="339477" cy="411379"/>
          </a:xfrm>
          <a:custGeom>
            <a:avLst/>
            <a:gdLst>
              <a:gd name="T0" fmla="*/ 487 w 800"/>
              <a:gd name="T1" fmla="*/ 761 h 969"/>
              <a:gd name="T2" fmla="*/ 487 w 800"/>
              <a:gd name="T3" fmla="*/ 605 h 969"/>
              <a:gd name="T4" fmla="*/ 136 w 800"/>
              <a:gd name="T5" fmla="*/ 254 h 969"/>
              <a:gd name="T6" fmla="*/ 275 w 800"/>
              <a:gd name="T7" fmla="*/ 254 h 969"/>
              <a:gd name="T8" fmla="*/ 275 w 800"/>
              <a:gd name="T9" fmla="*/ 211 h 969"/>
              <a:gd name="T10" fmla="*/ 64 w 800"/>
              <a:gd name="T11" fmla="*/ 211 h 969"/>
              <a:gd name="T12" fmla="*/ 64 w 800"/>
              <a:gd name="T13" fmla="*/ 423 h 969"/>
              <a:gd name="T14" fmla="*/ 106 w 800"/>
              <a:gd name="T15" fmla="*/ 423 h 969"/>
              <a:gd name="T16" fmla="*/ 106 w 800"/>
              <a:gd name="T17" fmla="*/ 283 h 969"/>
              <a:gd name="T18" fmla="*/ 445 w 800"/>
              <a:gd name="T19" fmla="*/ 622 h 969"/>
              <a:gd name="T20" fmla="*/ 445 w 800"/>
              <a:gd name="T21" fmla="*/ 761 h 969"/>
              <a:gd name="T22" fmla="*/ 360 w 800"/>
              <a:gd name="T23" fmla="*/ 863 h 969"/>
              <a:gd name="T24" fmla="*/ 466 w 800"/>
              <a:gd name="T25" fmla="*/ 969 h 969"/>
              <a:gd name="T26" fmla="*/ 572 w 800"/>
              <a:gd name="T27" fmla="*/ 863 h 969"/>
              <a:gd name="T28" fmla="*/ 487 w 800"/>
              <a:gd name="T29" fmla="*/ 761 h 969"/>
              <a:gd name="T30" fmla="*/ 466 w 800"/>
              <a:gd name="T31" fmla="*/ 931 h 969"/>
              <a:gd name="T32" fmla="*/ 403 w 800"/>
              <a:gd name="T33" fmla="*/ 867 h 969"/>
              <a:gd name="T34" fmla="*/ 466 w 800"/>
              <a:gd name="T35" fmla="*/ 804 h 969"/>
              <a:gd name="T36" fmla="*/ 529 w 800"/>
              <a:gd name="T37" fmla="*/ 867 h 969"/>
              <a:gd name="T38" fmla="*/ 466 w 800"/>
              <a:gd name="T39" fmla="*/ 931 h 969"/>
              <a:gd name="T40" fmla="*/ 178 w 800"/>
              <a:gd name="T41" fmla="*/ 592 h 969"/>
              <a:gd name="T42" fmla="*/ 106 w 800"/>
              <a:gd name="T43" fmla="*/ 668 h 969"/>
              <a:gd name="T44" fmla="*/ 30 w 800"/>
              <a:gd name="T45" fmla="*/ 592 h 969"/>
              <a:gd name="T46" fmla="*/ 0 w 800"/>
              <a:gd name="T47" fmla="*/ 622 h 969"/>
              <a:gd name="T48" fmla="*/ 77 w 800"/>
              <a:gd name="T49" fmla="*/ 698 h 969"/>
              <a:gd name="T50" fmla="*/ 0 w 800"/>
              <a:gd name="T51" fmla="*/ 770 h 969"/>
              <a:gd name="T52" fmla="*/ 30 w 800"/>
              <a:gd name="T53" fmla="*/ 800 h 969"/>
              <a:gd name="T54" fmla="*/ 106 w 800"/>
              <a:gd name="T55" fmla="*/ 728 h 969"/>
              <a:gd name="T56" fmla="*/ 178 w 800"/>
              <a:gd name="T57" fmla="*/ 800 h 969"/>
              <a:gd name="T58" fmla="*/ 208 w 800"/>
              <a:gd name="T59" fmla="*/ 770 h 969"/>
              <a:gd name="T60" fmla="*/ 136 w 800"/>
              <a:gd name="T61" fmla="*/ 698 h 969"/>
              <a:gd name="T62" fmla="*/ 208 w 800"/>
              <a:gd name="T63" fmla="*/ 622 h 969"/>
              <a:gd name="T64" fmla="*/ 178 w 800"/>
              <a:gd name="T65" fmla="*/ 592 h 969"/>
              <a:gd name="T66" fmla="*/ 800 w 800"/>
              <a:gd name="T67" fmla="*/ 325 h 969"/>
              <a:gd name="T68" fmla="*/ 771 w 800"/>
              <a:gd name="T69" fmla="*/ 296 h 969"/>
              <a:gd name="T70" fmla="*/ 699 w 800"/>
              <a:gd name="T71" fmla="*/ 372 h 969"/>
              <a:gd name="T72" fmla="*/ 623 w 800"/>
              <a:gd name="T73" fmla="*/ 296 h 969"/>
              <a:gd name="T74" fmla="*/ 593 w 800"/>
              <a:gd name="T75" fmla="*/ 325 h 969"/>
              <a:gd name="T76" fmla="*/ 669 w 800"/>
              <a:gd name="T77" fmla="*/ 402 h 969"/>
              <a:gd name="T78" fmla="*/ 593 w 800"/>
              <a:gd name="T79" fmla="*/ 474 h 969"/>
              <a:gd name="T80" fmla="*/ 623 w 800"/>
              <a:gd name="T81" fmla="*/ 503 h 969"/>
              <a:gd name="T82" fmla="*/ 699 w 800"/>
              <a:gd name="T83" fmla="*/ 431 h 969"/>
              <a:gd name="T84" fmla="*/ 771 w 800"/>
              <a:gd name="T85" fmla="*/ 503 h 969"/>
              <a:gd name="T86" fmla="*/ 800 w 800"/>
              <a:gd name="T87" fmla="*/ 474 h 969"/>
              <a:gd name="T88" fmla="*/ 729 w 800"/>
              <a:gd name="T89" fmla="*/ 402 h 969"/>
              <a:gd name="T90" fmla="*/ 800 w 800"/>
              <a:gd name="T91" fmla="*/ 325 h 969"/>
              <a:gd name="T92" fmla="*/ 559 w 800"/>
              <a:gd name="T93" fmla="*/ 0 h 969"/>
              <a:gd name="T94" fmla="*/ 487 w 800"/>
              <a:gd name="T95" fmla="*/ 76 h 969"/>
              <a:gd name="T96" fmla="*/ 411 w 800"/>
              <a:gd name="T97" fmla="*/ 0 h 969"/>
              <a:gd name="T98" fmla="*/ 381 w 800"/>
              <a:gd name="T99" fmla="*/ 29 h 969"/>
              <a:gd name="T100" fmla="*/ 458 w 800"/>
              <a:gd name="T101" fmla="*/ 105 h 969"/>
              <a:gd name="T102" fmla="*/ 381 w 800"/>
              <a:gd name="T103" fmla="*/ 177 h 969"/>
              <a:gd name="T104" fmla="*/ 411 w 800"/>
              <a:gd name="T105" fmla="*/ 207 h 969"/>
              <a:gd name="T106" fmla="*/ 487 w 800"/>
              <a:gd name="T107" fmla="*/ 135 h 969"/>
              <a:gd name="T108" fmla="*/ 559 w 800"/>
              <a:gd name="T109" fmla="*/ 207 h 969"/>
              <a:gd name="T110" fmla="*/ 589 w 800"/>
              <a:gd name="T111" fmla="*/ 177 h 969"/>
              <a:gd name="T112" fmla="*/ 517 w 800"/>
              <a:gd name="T113" fmla="*/ 105 h 969"/>
              <a:gd name="T114" fmla="*/ 589 w 800"/>
              <a:gd name="T115" fmla="*/ 29 h 969"/>
              <a:gd name="T116" fmla="*/ 559 w 800"/>
              <a:gd name="T117" fmla="*/ 0 h 9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800" h="969">
                <a:moveTo>
                  <a:pt x="487" y="761"/>
                </a:moveTo>
                <a:cubicBezTo>
                  <a:pt x="487" y="605"/>
                  <a:pt x="487" y="605"/>
                  <a:pt x="487" y="605"/>
                </a:cubicBezTo>
                <a:cubicBezTo>
                  <a:pt x="136" y="254"/>
                  <a:pt x="136" y="254"/>
                  <a:pt x="136" y="254"/>
                </a:cubicBezTo>
                <a:cubicBezTo>
                  <a:pt x="275" y="254"/>
                  <a:pt x="275" y="254"/>
                  <a:pt x="275" y="254"/>
                </a:cubicBezTo>
                <a:cubicBezTo>
                  <a:pt x="275" y="211"/>
                  <a:pt x="275" y="211"/>
                  <a:pt x="275" y="211"/>
                </a:cubicBezTo>
                <a:cubicBezTo>
                  <a:pt x="64" y="211"/>
                  <a:pt x="64" y="211"/>
                  <a:pt x="64" y="211"/>
                </a:cubicBezTo>
                <a:cubicBezTo>
                  <a:pt x="64" y="423"/>
                  <a:pt x="64" y="423"/>
                  <a:pt x="64" y="423"/>
                </a:cubicBezTo>
                <a:cubicBezTo>
                  <a:pt x="106" y="423"/>
                  <a:pt x="106" y="423"/>
                  <a:pt x="106" y="423"/>
                </a:cubicBezTo>
                <a:cubicBezTo>
                  <a:pt x="106" y="283"/>
                  <a:pt x="106" y="283"/>
                  <a:pt x="106" y="283"/>
                </a:cubicBezTo>
                <a:cubicBezTo>
                  <a:pt x="445" y="622"/>
                  <a:pt x="445" y="622"/>
                  <a:pt x="445" y="622"/>
                </a:cubicBezTo>
                <a:cubicBezTo>
                  <a:pt x="445" y="761"/>
                  <a:pt x="445" y="761"/>
                  <a:pt x="445" y="761"/>
                </a:cubicBezTo>
                <a:cubicBezTo>
                  <a:pt x="398" y="770"/>
                  <a:pt x="360" y="812"/>
                  <a:pt x="360" y="863"/>
                </a:cubicBezTo>
                <a:cubicBezTo>
                  <a:pt x="360" y="922"/>
                  <a:pt x="407" y="969"/>
                  <a:pt x="466" y="969"/>
                </a:cubicBezTo>
                <a:cubicBezTo>
                  <a:pt x="525" y="969"/>
                  <a:pt x="572" y="922"/>
                  <a:pt x="572" y="863"/>
                </a:cubicBezTo>
                <a:cubicBezTo>
                  <a:pt x="572" y="817"/>
                  <a:pt x="534" y="774"/>
                  <a:pt x="487" y="761"/>
                </a:cubicBezTo>
                <a:close/>
                <a:moveTo>
                  <a:pt x="466" y="931"/>
                </a:moveTo>
                <a:cubicBezTo>
                  <a:pt x="432" y="931"/>
                  <a:pt x="403" y="901"/>
                  <a:pt x="403" y="867"/>
                </a:cubicBezTo>
                <a:cubicBezTo>
                  <a:pt x="403" y="834"/>
                  <a:pt x="428" y="804"/>
                  <a:pt x="466" y="804"/>
                </a:cubicBezTo>
                <a:cubicBezTo>
                  <a:pt x="504" y="804"/>
                  <a:pt x="529" y="834"/>
                  <a:pt x="529" y="867"/>
                </a:cubicBezTo>
                <a:cubicBezTo>
                  <a:pt x="529" y="901"/>
                  <a:pt x="500" y="931"/>
                  <a:pt x="466" y="931"/>
                </a:cubicBezTo>
                <a:close/>
                <a:moveTo>
                  <a:pt x="178" y="592"/>
                </a:moveTo>
                <a:cubicBezTo>
                  <a:pt x="106" y="668"/>
                  <a:pt x="106" y="668"/>
                  <a:pt x="106" y="668"/>
                </a:cubicBezTo>
                <a:cubicBezTo>
                  <a:pt x="30" y="592"/>
                  <a:pt x="30" y="592"/>
                  <a:pt x="30" y="592"/>
                </a:cubicBezTo>
                <a:cubicBezTo>
                  <a:pt x="0" y="622"/>
                  <a:pt x="0" y="622"/>
                  <a:pt x="0" y="622"/>
                </a:cubicBezTo>
                <a:cubicBezTo>
                  <a:pt x="77" y="698"/>
                  <a:pt x="77" y="698"/>
                  <a:pt x="77" y="698"/>
                </a:cubicBezTo>
                <a:cubicBezTo>
                  <a:pt x="0" y="770"/>
                  <a:pt x="0" y="770"/>
                  <a:pt x="0" y="770"/>
                </a:cubicBezTo>
                <a:cubicBezTo>
                  <a:pt x="30" y="800"/>
                  <a:pt x="30" y="800"/>
                  <a:pt x="30" y="800"/>
                </a:cubicBezTo>
                <a:cubicBezTo>
                  <a:pt x="106" y="728"/>
                  <a:pt x="106" y="728"/>
                  <a:pt x="106" y="728"/>
                </a:cubicBezTo>
                <a:cubicBezTo>
                  <a:pt x="178" y="800"/>
                  <a:pt x="178" y="800"/>
                  <a:pt x="178" y="800"/>
                </a:cubicBezTo>
                <a:cubicBezTo>
                  <a:pt x="208" y="770"/>
                  <a:pt x="208" y="770"/>
                  <a:pt x="208" y="770"/>
                </a:cubicBezTo>
                <a:cubicBezTo>
                  <a:pt x="136" y="698"/>
                  <a:pt x="136" y="698"/>
                  <a:pt x="136" y="698"/>
                </a:cubicBezTo>
                <a:cubicBezTo>
                  <a:pt x="208" y="622"/>
                  <a:pt x="208" y="622"/>
                  <a:pt x="208" y="622"/>
                </a:cubicBezTo>
                <a:lnTo>
                  <a:pt x="178" y="592"/>
                </a:lnTo>
                <a:close/>
                <a:moveTo>
                  <a:pt x="800" y="325"/>
                </a:moveTo>
                <a:cubicBezTo>
                  <a:pt x="771" y="296"/>
                  <a:pt x="771" y="296"/>
                  <a:pt x="771" y="296"/>
                </a:cubicBezTo>
                <a:cubicBezTo>
                  <a:pt x="699" y="372"/>
                  <a:pt x="699" y="372"/>
                  <a:pt x="699" y="372"/>
                </a:cubicBezTo>
                <a:cubicBezTo>
                  <a:pt x="623" y="296"/>
                  <a:pt x="623" y="296"/>
                  <a:pt x="623" y="296"/>
                </a:cubicBezTo>
                <a:cubicBezTo>
                  <a:pt x="593" y="325"/>
                  <a:pt x="593" y="325"/>
                  <a:pt x="593" y="325"/>
                </a:cubicBezTo>
                <a:cubicBezTo>
                  <a:pt x="669" y="402"/>
                  <a:pt x="669" y="402"/>
                  <a:pt x="669" y="402"/>
                </a:cubicBezTo>
                <a:cubicBezTo>
                  <a:pt x="593" y="474"/>
                  <a:pt x="593" y="474"/>
                  <a:pt x="593" y="474"/>
                </a:cubicBezTo>
                <a:cubicBezTo>
                  <a:pt x="623" y="503"/>
                  <a:pt x="623" y="503"/>
                  <a:pt x="623" y="503"/>
                </a:cubicBezTo>
                <a:cubicBezTo>
                  <a:pt x="699" y="431"/>
                  <a:pt x="699" y="431"/>
                  <a:pt x="699" y="431"/>
                </a:cubicBezTo>
                <a:cubicBezTo>
                  <a:pt x="771" y="503"/>
                  <a:pt x="771" y="503"/>
                  <a:pt x="771" y="503"/>
                </a:cubicBezTo>
                <a:cubicBezTo>
                  <a:pt x="800" y="474"/>
                  <a:pt x="800" y="474"/>
                  <a:pt x="800" y="474"/>
                </a:cubicBezTo>
                <a:cubicBezTo>
                  <a:pt x="729" y="402"/>
                  <a:pt x="729" y="402"/>
                  <a:pt x="729" y="402"/>
                </a:cubicBezTo>
                <a:lnTo>
                  <a:pt x="800" y="325"/>
                </a:lnTo>
                <a:close/>
                <a:moveTo>
                  <a:pt x="559" y="0"/>
                </a:moveTo>
                <a:cubicBezTo>
                  <a:pt x="487" y="76"/>
                  <a:pt x="487" y="76"/>
                  <a:pt x="487" y="76"/>
                </a:cubicBezTo>
                <a:cubicBezTo>
                  <a:pt x="411" y="0"/>
                  <a:pt x="411" y="0"/>
                  <a:pt x="411" y="0"/>
                </a:cubicBezTo>
                <a:cubicBezTo>
                  <a:pt x="381" y="29"/>
                  <a:pt x="381" y="29"/>
                  <a:pt x="381" y="29"/>
                </a:cubicBezTo>
                <a:cubicBezTo>
                  <a:pt x="458" y="105"/>
                  <a:pt x="458" y="105"/>
                  <a:pt x="458" y="105"/>
                </a:cubicBezTo>
                <a:cubicBezTo>
                  <a:pt x="381" y="177"/>
                  <a:pt x="381" y="177"/>
                  <a:pt x="381" y="177"/>
                </a:cubicBezTo>
                <a:cubicBezTo>
                  <a:pt x="411" y="207"/>
                  <a:pt x="411" y="207"/>
                  <a:pt x="411" y="207"/>
                </a:cubicBezTo>
                <a:cubicBezTo>
                  <a:pt x="487" y="135"/>
                  <a:pt x="487" y="135"/>
                  <a:pt x="487" y="135"/>
                </a:cubicBezTo>
                <a:cubicBezTo>
                  <a:pt x="559" y="207"/>
                  <a:pt x="559" y="207"/>
                  <a:pt x="559" y="207"/>
                </a:cubicBezTo>
                <a:cubicBezTo>
                  <a:pt x="589" y="177"/>
                  <a:pt x="589" y="177"/>
                  <a:pt x="589" y="177"/>
                </a:cubicBezTo>
                <a:cubicBezTo>
                  <a:pt x="517" y="105"/>
                  <a:pt x="517" y="105"/>
                  <a:pt x="517" y="105"/>
                </a:cubicBezTo>
                <a:cubicBezTo>
                  <a:pt x="589" y="29"/>
                  <a:pt x="589" y="29"/>
                  <a:pt x="589" y="29"/>
                </a:cubicBezTo>
                <a:lnTo>
                  <a:pt x="55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33" name="Freeform 147">
            <a:extLst>
              <a:ext uri="{FF2B5EF4-FFF2-40B4-BE49-F238E27FC236}">
                <a16:creationId xmlns:a16="http://schemas.microsoft.com/office/drawing/2014/main" id="{A408B3CC-E832-81AF-C403-CCC8E13D21CB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382741" y="4589616"/>
            <a:ext cx="325677" cy="411379"/>
          </a:xfrm>
          <a:custGeom>
            <a:avLst/>
            <a:gdLst>
              <a:gd name="T0" fmla="*/ 484 w 800"/>
              <a:gd name="T1" fmla="*/ 0 h 1011"/>
              <a:gd name="T2" fmla="*/ 463 w 800"/>
              <a:gd name="T3" fmla="*/ 990 h 1011"/>
              <a:gd name="T4" fmla="*/ 779 w 800"/>
              <a:gd name="T5" fmla="*/ 1011 h 1011"/>
              <a:gd name="T6" fmla="*/ 800 w 800"/>
              <a:gd name="T7" fmla="*/ 21 h 1011"/>
              <a:gd name="T8" fmla="*/ 758 w 800"/>
              <a:gd name="T9" fmla="*/ 969 h 1011"/>
              <a:gd name="T10" fmla="*/ 505 w 800"/>
              <a:gd name="T11" fmla="*/ 843 h 1011"/>
              <a:gd name="T12" fmla="*/ 589 w 800"/>
              <a:gd name="T13" fmla="*/ 800 h 1011"/>
              <a:gd name="T14" fmla="*/ 505 w 800"/>
              <a:gd name="T15" fmla="*/ 716 h 1011"/>
              <a:gd name="T16" fmla="*/ 589 w 800"/>
              <a:gd name="T17" fmla="*/ 674 h 1011"/>
              <a:gd name="T18" fmla="*/ 505 w 800"/>
              <a:gd name="T19" fmla="*/ 590 h 1011"/>
              <a:gd name="T20" fmla="*/ 589 w 800"/>
              <a:gd name="T21" fmla="*/ 548 h 1011"/>
              <a:gd name="T22" fmla="*/ 505 w 800"/>
              <a:gd name="T23" fmla="*/ 464 h 1011"/>
              <a:gd name="T24" fmla="*/ 589 w 800"/>
              <a:gd name="T25" fmla="*/ 421 h 1011"/>
              <a:gd name="T26" fmla="*/ 505 w 800"/>
              <a:gd name="T27" fmla="*/ 337 h 1011"/>
              <a:gd name="T28" fmla="*/ 589 w 800"/>
              <a:gd name="T29" fmla="*/ 295 h 1011"/>
              <a:gd name="T30" fmla="*/ 505 w 800"/>
              <a:gd name="T31" fmla="*/ 211 h 1011"/>
              <a:gd name="T32" fmla="*/ 589 w 800"/>
              <a:gd name="T33" fmla="*/ 169 h 1011"/>
              <a:gd name="T34" fmla="*/ 505 w 800"/>
              <a:gd name="T35" fmla="*/ 43 h 1011"/>
              <a:gd name="T36" fmla="*/ 758 w 800"/>
              <a:gd name="T37" fmla="*/ 969 h 1011"/>
              <a:gd name="T38" fmla="*/ 130 w 800"/>
              <a:gd name="T39" fmla="*/ 52 h 1011"/>
              <a:gd name="T40" fmla="*/ 0 w 800"/>
              <a:gd name="T41" fmla="*/ 253 h 1011"/>
              <a:gd name="T42" fmla="*/ 105 w 800"/>
              <a:gd name="T43" fmla="*/ 969 h 1011"/>
              <a:gd name="T44" fmla="*/ 295 w 800"/>
              <a:gd name="T45" fmla="*/ 864 h 1011"/>
              <a:gd name="T46" fmla="*/ 291 w 800"/>
              <a:gd name="T47" fmla="*/ 241 h 1011"/>
              <a:gd name="T48" fmla="*/ 147 w 800"/>
              <a:gd name="T49" fmla="*/ 102 h 1011"/>
              <a:gd name="T50" fmla="*/ 117 w 800"/>
              <a:gd name="T51" fmla="*/ 148 h 1011"/>
              <a:gd name="T52" fmla="*/ 42 w 800"/>
              <a:gd name="T53" fmla="*/ 347 h 1011"/>
              <a:gd name="T54" fmla="*/ 84 w 800"/>
              <a:gd name="T55" fmla="*/ 716 h 1011"/>
              <a:gd name="T56" fmla="*/ 42 w 800"/>
              <a:gd name="T57" fmla="*/ 347 h 1011"/>
              <a:gd name="T58" fmla="*/ 189 w 800"/>
              <a:gd name="T59" fmla="*/ 927 h 1011"/>
              <a:gd name="T60" fmla="*/ 42 w 800"/>
              <a:gd name="T61" fmla="*/ 864 h 1011"/>
              <a:gd name="T62" fmla="*/ 253 w 800"/>
              <a:gd name="T63" fmla="*/ 843 h 1011"/>
              <a:gd name="T64" fmla="*/ 253 w 800"/>
              <a:gd name="T65" fmla="*/ 800 h 1011"/>
              <a:gd name="T66" fmla="*/ 42 w 800"/>
              <a:gd name="T67" fmla="*/ 758 h 1011"/>
              <a:gd name="T68" fmla="*/ 253 w 800"/>
              <a:gd name="T69" fmla="*/ 800 h 1011"/>
              <a:gd name="T70" fmla="*/ 126 w 800"/>
              <a:gd name="T71" fmla="*/ 347 h 1011"/>
              <a:gd name="T72" fmla="*/ 168 w 800"/>
              <a:gd name="T73" fmla="*/ 347 h 1011"/>
              <a:gd name="T74" fmla="*/ 126 w 800"/>
              <a:gd name="T75" fmla="*/ 716 h 1011"/>
              <a:gd name="T76" fmla="*/ 211 w 800"/>
              <a:gd name="T77" fmla="*/ 716 h 1011"/>
              <a:gd name="T78" fmla="*/ 253 w 800"/>
              <a:gd name="T79" fmla="*/ 347 h 1011"/>
              <a:gd name="T80" fmla="*/ 253 w 800"/>
              <a:gd name="T81" fmla="*/ 274 h 1011"/>
              <a:gd name="T82" fmla="*/ 168 w 800"/>
              <a:gd name="T83" fmla="*/ 274 h 1011"/>
              <a:gd name="T84" fmla="*/ 126 w 800"/>
              <a:gd name="T85" fmla="*/ 274 h 1011"/>
              <a:gd name="T86" fmla="*/ 42 w 800"/>
              <a:gd name="T87" fmla="*/ 274 h 1011"/>
              <a:gd name="T88" fmla="*/ 88 w 800"/>
              <a:gd name="T89" fmla="*/ 190 h 1011"/>
              <a:gd name="T90" fmla="*/ 253 w 800"/>
              <a:gd name="T91" fmla="*/ 259 h 10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800" h="1011">
                <a:moveTo>
                  <a:pt x="779" y="0"/>
                </a:moveTo>
                <a:cubicBezTo>
                  <a:pt x="484" y="0"/>
                  <a:pt x="484" y="0"/>
                  <a:pt x="484" y="0"/>
                </a:cubicBezTo>
                <a:cubicBezTo>
                  <a:pt x="473" y="0"/>
                  <a:pt x="463" y="10"/>
                  <a:pt x="463" y="21"/>
                </a:cubicBezTo>
                <a:cubicBezTo>
                  <a:pt x="463" y="990"/>
                  <a:pt x="463" y="990"/>
                  <a:pt x="463" y="990"/>
                </a:cubicBezTo>
                <a:cubicBezTo>
                  <a:pt x="463" y="1001"/>
                  <a:pt x="473" y="1011"/>
                  <a:pt x="484" y="1011"/>
                </a:cubicBezTo>
                <a:cubicBezTo>
                  <a:pt x="779" y="1011"/>
                  <a:pt x="779" y="1011"/>
                  <a:pt x="779" y="1011"/>
                </a:cubicBezTo>
                <a:cubicBezTo>
                  <a:pt x="791" y="1011"/>
                  <a:pt x="800" y="1001"/>
                  <a:pt x="800" y="990"/>
                </a:cubicBezTo>
                <a:cubicBezTo>
                  <a:pt x="800" y="21"/>
                  <a:pt x="800" y="21"/>
                  <a:pt x="800" y="21"/>
                </a:cubicBezTo>
                <a:cubicBezTo>
                  <a:pt x="800" y="10"/>
                  <a:pt x="791" y="0"/>
                  <a:pt x="779" y="0"/>
                </a:cubicBezTo>
                <a:close/>
                <a:moveTo>
                  <a:pt x="758" y="969"/>
                </a:moveTo>
                <a:cubicBezTo>
                  <a:pt x="505" y="969"/>
                  <a:pt x="505" y="969"/>
                  <a:pt x="505" y="969"/>
                </a:cubicBezTo>
                <a:cubicBezTo>
                  <a:pt x="505" y="843"/>
                  <a:pt x="505" y="843"/>
                  <a:pt x="505" y="843"/>
                </a:cubicBezTo>
                <a:cubicBezTo>
                  <a:pt x="589" y="843"/>
                  <a:pt x="589" y="843"/>
                  <a:pt x="589" y="843"/>
                </a:cubicBezTo>
                <a:cubicBezTo>
                  <a:pt x="589" y="800"/>
                  <a:pt x="589" y="800"/>
                  <a:pt x="589" y="800"/>
                </a:cubicBezTo>
                <a:cubicBezTo>
                  <a:pt x="505" y="800"/>
                  <a:pt x="505" y="800"/>
                  <a:pt x="505" y="800"/>
                </a:cubicBezTo>
                <a:cubicBezTo>
                  <a:pt x="505" y="716"/>
                  <a:pt x="505" y="716"/>
                  <a:pt x="505" y="716"/>
                </a:cubicBezTo>
                <a:cubicBezTo>
                  <a:pt x="589" y="716"/>
                  <a:pt x="589" y="716"/>
                  <a:pt x="589" y="716"/>
                </a:cubicBezTo>
                <a:cubicBezTo>
                  <a:pt x="589" y="674"/>
                  <a:pt x="589" y="674"/>
                  <a:pt x="589" y="674"/>
                </a:cubicBezTo>
                <a:cubicBezTo>
                  <a:pt x="505" y="674"/>
                  <a:pt x="505" y="674"/>
                  <a:pt x="505" y="674"/>
                </a:cubicBezTo>
                <a:cubicBezTo>
                  <a:pt x="505" y="590"/>
                  <a:pt x="505" y="590"/>
                  <a:pt x="505" y="590"/>
                </a:cubicBezTo>
                <a:cubicBezTo>
                  <a:pt x="589" y="590"/>
                  <a:pt x="589" y="590"/>
                  <a:pt x="589" y="590"/>
                </a:cubicBezTo>
                <a:cubicBezTo>
                  <a:pt x="589" y="548"/>
                  <a:pt x="589" y="548"/>
                  <a:pt x="589" y="548"/>
                </a:cubicBezTo>
                <a:cubicBezTo>
                  <a:pt x="505" y="548"/>
                  <a:pt x="505" y="548"/>
                  <a:pt x="505" y="548"/>
                </a:cubicBezTo>
                <a:cubicBezTo>
                  <a:pt x="505" y="464"/>
                  <a:pt x="505" y="464"/>
                  <a:pt x="505" y="464"/>
                </a:cubicBezTo>
                <a:cubicBezTo>
                  <a:pt x="589" y="464"/>
                  <a:pt x="589" y="464"/>
                  <a:pt x="589" y="464"/>
                </a:cubicBezTo>
                <a:cubicBezTo>
                  <a:pt x="589" y="421"/>
                  <a:pt x="589" y="421"/>
                  <a:pt x="589" y="421"/>
                </a:cubicBezTo>
                <a:cubicBezTo>
                  <a:pt x="505" y="421"/>
                  <a:pt x="505" y="421"/>
                  <a:pt x="505" y="421"/>
                </a:cubicBezTo>
                <a:cubicBezTo>
                  <a:pt x="505" y="337"/>
                  <a:pt x="505" y="337"/>
                  <a:pt x="505" y="337"/>
                </a:cubicBezTo>
                <a:cubicBezTo>
                  <a:pt x="589" y="337"/>
                  <a:pt x="589" y="337"/>
                  <a:pt x="589" y="337"/>
                </a:cubicBezTo>
                <a:cubicBezTo>
                  <a:pt x="589" y="295"/>
                  <a:pt x="589" y="295"/>
                  <a:pt x="589" y="295"/>
                </a:cubicBezTo>
                <a:cubicBezTo>
                  <a:pt x="505" y="295"/>
                  <a:pt x="505" y="295"/>
                  <a:pt x="505" y="295"/>
                </a:cubicBezTo>
                <a:cubicBezTo>
                  <a:pt x="505" y="211"/>
                  <a:pt x="505" y="211"/>
                  <a:pt x="505" y="211"/>
                </a:cubicBezTo>
                <a:cubicBezTo>
                  <a:pt x="589" y="211"/>
                  <a:pt x="589" y="211"/>
                  <a:pt x="589" y="211"/>
                </a:cubicBezTo>
                <a:cubicBezTo>
                  <a:pt x="589" y="169"/>
                  <a:pt x="589" y="169"/>
                  <a:pt x="589" y="169"/>
                </a:cubicBezTo>
                <a:cubicBezTo>
                  <a:pt x="505" y="169"/>
                  <a:pt x="505" y="169"/>
                  <a:pt x="505" y="169"/>
                </a:cubicBezTo>
                <a:cubicBezTo>
                  <a:pt x="505" y="43"/>
                  <a:pt x="505" y="43"/>
                  <a:pt x="505" y="43"/>
                </a:cubicBezTo>
                <a:cubicBezTo>
                  <a:pt x="758" y="43"/>
                  <a:pt x="758" y="43"/>
                  <a:pt x="758" y="43"/>
                </a:cubicBezTo>
                <a:lnTo>
                  <a:pt x="758" y="969"/>
                </a:lnTo>
                <a:close/>
                <a:moveTo>
                  <a:pt x="165" y="52"/>
                </a:moveTo>
                <a:cubicBezTo>
                  <a:pt x="157" y="40"/>
                  <a:pt x="138" y="40"/>
                  <a:pt x="130" y="52"/>
                </a:cubicBezTo>
                <a:cubicBezTo>
                  <a:pt x="4" y="241"/>
                  <a:pt x="4" y="241"/>
                  <a:pt x="4" y="241"/>
                </a:cubicBezTo>
                <a:cubicBezTo>
                  <a:pt x="1" y="245"/>
                  <a:pt x="0" y="249"/>
                  <a:pt x="0" y="253"/>
                </a:cubicBezTo>
                <a:cubicBezTo>
                  <a:pt x="0" y="864"/>
                  <a:pt x="0" y="864"/>
                  <a:pt x="0" y="864"/>
                </a:cubicBezTo>
                <a:cubicBezTo>
                  <a:pt x="0" y="922"/>
                  <a:pt x="47" y="969"/>
                  <a:pt x="105" y="969"/>
                </a:cubicBezTo>
                <a:cubicBezTo>
                  <a:pt x="189" y="969"/>
                  <a:pt x="189" y="969"/>
                  <a:pt x="189" y="969"/>
                </a:cubicBezTo>
                <a:cubicBezTo>
                  <a:pt x="248" y="969"/>
                  <a:pt x="295" y="922"/>
                  <a:pt x="295" y="864"/>
                </a:cubicBezTo>
                <a:cubicBezTo>
                  <a:pt x="295" y="253"/>
                  <a:pt x="295" y="253"/>
                  <a:pt x="295" y="253"/>
                </a:cubicBezTo>
                <a:cubicBezTo>
                  <a:pt x="295" y="249"/>
                  <a:pt x="293" y="245"/>
                  <a:pt x="291" y="241"/>
                </a:cubicBezTo>
                <a:lnTo>
                  <a:pt x="165" y="52"/>
                </a:lnTo>
                <a:close/>
                <a:moveTo>
                  <a:pt x="147" y="102"/>
                </a:moveTo>
                <a:cubicBezTo>
                  <a:pt x="178" y="148"/>
                  <a:pt x="178" y="148"/>
                  <a:pt x="178" y="148"/>
                </a:cubicBezTo>
                <a:cubicBezTo>
                  <a:pt x="117" y="148"/>
                  <a:pt x="117" y="148"/>
                  <a:pt x="117" y="148"/>
                </a:cubicBezTo>
                <a:lnTo>
                  <a:pt x="147" y="102"/>
                </a:lnTo>
                <a:close/>
                <a:moveTo>
                  <a:pt x="42" y="347"/>
                </a:moveTo>
                <a:cubicBezTo>
                  <a:pt x="55" y="354"/>
                  <a:pt x="69" y="358"/>
                  <a:pt x="84" y="358"/>
                </a:cubicBezTo>
                <a:cubicBezTo>
                  <a:pt x="84" y="716"/>
                  <a:pt x="84" y="716"/>
                  <a:pt x="84" y="716"/>
                </a:cubicBezTo>
                <a:cubicBezTo>
                  <a:pt x="42" y="716"/>
                  <a:pt x="42" y="716"/>
                  <a:pt x="42" y="716"/>
                </a:cubicBezTo>
                <a:lnTo>
                  <a:pt x="42" y="347"/>
                </a:lnTo>
                <a:close/>
                <a:moveTo>
                  <a:pt x="253" y="864"/>
                </a:moveTo>
                <a:cubicBezTo>
                  <a:pt x="253" y="898"/>
                  <a:pt x="224" y="927"/>
                  <a:pt x="189" y="927"/>
                </a:cubicBezTo>
                <a:cubicBezTo>
                  <a:pt x="105" y="927"/>
                  <a:pt x="105" y="927"/>
                  <a:pt x="105" y="927"/>
                </a:cubicBezTo>
                <a:cubicBezTo>
                  <a:pt x="70" y="927"/>
                  <a:pt x="42" y="898"/>
                  <a:pt x="42" y="864"/>
                </a:cubicBezTo>
                <a:cubicBezTo>
                  <a:pt x="42" y="843"/>
                  <a:pt x="42" y="843"/>
                  <a:pt x="42" y="843"/>
                </a:cubicBezTo>
                <a:cubicBezTo>
                  <a:pt x="253" y="843"/>
                  <a:pt x="253" y="843"/>
                  <a:pt x="253" y="843"/>
                </a:cubicBezTo>
                <a:lnTo>
                  <a:pt x="253" y="864"/>
                </a:lnTo>
                <a:close/>
                <a:moveTo>
                  <a:pt x="253" y="800"/>
                </a:moveTo>
                <a:cubicBezTo>
                  <a:pt x="42" y="800"/>
                  <a:pt x="42" y="800"/>
                  <a:pt x="42" y="800"/>
                </a:cubicBezTo>
                <a:cubicBezTo>
                  <a:pt x="42" y="758"/>
                  <a:pt x="42" y="758"/>
                  <a:pt x="42" y="758"/>
                </a:cubicBezTo>
                <a:cubicBezTo>
                  <a:pt x="253" y="758"/>
                  <a:pt x="253" y="758"/>
                  <a:pt x="253" y="758"/>
                </a:cubicBezTo>
                <a:lnTo>
                  <a:pt x="253" y="800"/>
                </a:lnTo>
                <a:close/>
                <a:moveTo>
                  <a:pt x="126" y="716"/>
                </a:moveTo>
                <a:cubicBezTo>
                  <a:pt x="126" y="347"/>
                  <a:pt x="126" y="347"/>
                  <a:pt x="126" y="347"/>
                </a:cubicBezTo>
                <a:cubicBezTo>
                  <a:pt x="134" y="342"/>
                  <a:pt x="141" y="337"/>
                  <a:pt x="147" y="330"/>
                </a:cubicBezTo>
                <a:cubicBezTo>
                  <a:pt x="153" y="337"/>
                  <a:pt x="160" y="342"/>
                  <a:pt x="168" y="347"/>
                </a:cubicBezTo>
                <a:cubicBezTo>
                  <a:pt x="168" y="716"/>
                  <a:pt x="168" y="716"/>
                  <a:pt x="168" y="716"/>
                </a:cubicBezTo>
                <a:lnTo>
                  <a:pt x="126" y="716"/>
                </a:lnTo>
                <a:close/>
                <a:moveTo>
                  <a:pt x="253" y="716"/>
                </a:moveTo>
                <a:cubicBezTo>
                  <a:pt x="211" y="716"/>
                  <a:pt x="211" y="716"/>
                  <a:pt x="211" y="716"/>
                </a:cubicBezTo>
                <a:cubicBezTo>
                  <a:pt x="211" y="358"/>
                  <a:pt x="211" y="358"/>
                  <a:pt x="211" y="358"/>
                </a:cubicBezTo>
                <a:cubicBezTo>
                  <a:pt x="226" y="358"/>
                  <a:pt x="240" y="354"/>
                  <a:pt x="253" y="347"/>
                </a:cubicBezTo>
                <a:lnTo>
                  <a:pt x="253" y="716"/>
                </a:lnTo>
                <a:close/>
                <a:moveTo>
                  <a:pt x="253" y="274"/>
                </a:moveTo>
                <a:cubicBezTo>
                  <a:pt x="253" y="297"/>
                  <a:pt x="234" y="316"/>
                  <a:pt x="211" y="316"/>
                </a:cubicBezTo>
                <a:cubicBezTo>
                  <a:pt x="187" y="316"/>
                  <a:pt x="168" y="297"/>
                  <a:pt x="168" y="274"/>
                </a:cubicBezTo>
                <a:cubicBezTo>
                  <a:pt x="168" y="262"/>
                  <a:pt x="159" y="253"/>
                  <a:pt x="147" y="253"/>
                </a:cubicBezTo>
                <a:cubicBezTo>
                  <a:pt x="136" y="253"/>
                  <a:pt x="126" y="262"/>
                  <a:pt x="126" y="274"/>
                </a:cubicBezTo>
                <a:cubicBezTo>
                  <a:pt x="126" y="297"/>
                  <a:pt x="107" y="316"/>
                  <a:pt x="84" y="316"/>
                </a:cubicBezTo>
                <a:cubicBezTo>
                  <a:pt x="61" y="316"/>
                  <a:pt x="42" y="297"/>
                  <a:pt x="42" y="274"/>
                </a:cubicBezTo>
                <a:cubicBezTo>
                  <a:pt x="42" y="259"/>
                  <a:pt x="42" y="259"/>
                  <a:pt x="42" y="259"/>
                </a:cubicBezTo>
                <a:cubicBezTo>
                  <a:pt x="88" y="190"/>
                  <a:pt x="88" y="190"/>
                  <a:pt x="88" y="190"/>
                </a:cubicBezTo>
                <a:cubicBezTo>
                  <a:pt x="206" y="190"/>
                  <a:pt x="206" y="190"/>
                  <a:pt x="206" y="190"/>
                </a:cubicBezTo>
                <a:cubicBezTo>
                  <a:pt x="253" y="259"/>
                  <a:pt x="253" y="259"/>
                  <a:pt x="253" y="259"/>
                </a:cubicBezTo>
                <a:lnTo>
                  <a:pt x="253" y="27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35" name="Freeform 33">
            <a:extLst>
              <a:ext uri="{FF2B5EF4-FFF2-40B4-BE49-F238E27FC236}">
                <a16:creationId xmlns:a16="http://schemas.microsoft.com/office/drawing/2014/main" id="{808D9315-74D8-4DCF-8992-372B7F0ED326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327923" y="2928551"/>
            <a:ext cx="423499" cy="411379"/>
          </a:xfrm>
          <a:custGeom>
            <a:avLst/>
            <a:gdLst>
              <a:gd name="T0" fmla="*/ 637 w 826"/>
              <a:gd name="T1" fmla="*/ 523 h 802"/>
              <a:gd name="T2" fmla="*/ 663 w 826"/>
              <a:gd name="T3" fmla="*/ 472 h 802"/>
              <a:gd name="T4" fmla="*/ 573 w 826"/>
              <a:gd name="T5" fmla="*/ 536 h 802"/>
              <a:gd name="T6" fmla="*/ 597 w 826"/>
              <a:gd name="T7" fmla="*/ 320 h 802"/>
              <a:gd name="T8" fmla="*/ 765 w 826"/>
              <a:gd name="T9" fmla="*/ 281 h 802"/>
              <a:gd name="T10" fmla="*/ 786 w 826"/>
              <a:gd name="T11" fmla="*/ 91 h 802"/>
              <a:gd name="T12" fmla="*/ 706 w 826"/>
              <a:gd name="T13" fmla="*/ 160 h 802"/>
              <a:gd name="T14" fmla="*/ 654 w 826"/>
              <a:gd name="T15" fmla="*/ 109 h 802"/>
              <a:gd name="T16" fmla="*/ 724 w 826"/>
              <a:gd name="T17" fmla="*/ 28 h 802"/>
              <a:gd name="T18" fmla="*/ 649 w 826"/>
              <a:gd name="T19" fmla="*/ 2 h 802"/>
              <a:gd name="T20" fmla="*/ 494 w 826"/>
              <a:gd name="T21" fmla="*/ 218 h 802"/>
              <a:gd name="T22" fmla="*/ 185 w 826"/>
              <a:gd name="T23" fmla="*/ 148 h 802"/>
              <a:gd name="T24" fmla="*/ 203 w 826"/>
              <a:gd name="T25" fmla="*/ 123 h 802"/>
              <a:gd name="T26" fmla="*/ 95 w 826"/>
              <a:gd name="T27" fmla="*/ 7 h 802"/>
              <a:gd name="T28" fmla="*/ 18 w 826"/>
              <a:gd name="T29" fmla="*/ 58 h 802"/>
              <a:gd name="T30" fmla="*/ 18 w 826"/>
              <a:gd name="T31" fmla="*/ 84 h 802"/>
              <a:gd name="T32" fmla="*/ 134 w 826"/>
              <a:gd name="T33" fmla="*/ 192 h 802"/>
              <a:gd name="T34" fmla="*/ 160 w 826"/>
              <a:gd name="T35" fmla="*/ 174 h 802"/>
              <a:gd name="T36" fmla="*/ 228 w 826"/>
              <a:gd name="T37" fmla="*/ 483 h 802"/>
              <a:gd name="T38" fmla="*/ 61 w 826"/>
              <a:gd name="T39" fmla="*/ 522 h 802"/>
              <a:gd name="T40" fmla="*/ 39 w 826"/>
              <a:gd name="T41" fmla="*/ 713 h 802"/>
              <a:gd name="T42" fmla="*/ 120 w 826"/>
              <a:gd name="T43" fmla="*/ 643 h 802"/>
              <a:gd name="T44" fmla="*/ 171 w 826"/>
              <a:gd name="T45" fmla="*/ 695 h 802"/>
              <a:gd name="T46" fmla="*/ 102 w 826"/>
              <a:gd name="T47" fmla="*/ 775 h 802"/>
              <a:gd name="T48" fmla="*/ 176 w 826"/>
              <a:gd name="T49" fmla="*/ 802 h 802"/>
              <a:gd name="T50" fmla="*/ 331 w 826"/>
              <a:gd name="T51" fmla="*/ 586 h 802"/>
              <a:gd name="T52" fmla="*/ 547 w 826"/>
              <a:gd name="T53" fmla="*/ 562 h 802"/>
              <a:gd name="T54" fmla="*/ 483 w 826"/>
              <a:gd name="T55" fmla="*/ 652 h 802"/>
              <a:gd name="T56" fmla="*/ 509 w 826"/>
              <a:gd name="T57" fmla="*/ 652 h 802"/>
              <a:gd name="T58" fmla="*/ 689 w 826"/>
              <a:gd name="T59" fmla="*/ 780 h 802"/>
              <a:gd name="T60" fmla="*/ 791 w 826"/>
              <a:gd name="T61" fmla="*/ 780 h 802"/>
              <a:gd name="T62" fmla="*/ 791 w 826"/>
              <a:gd name="T63" fmla="*/ 677 h 802"/>
              <a:gd name="T64" fmla="*/ 57 w 826"/>
              <a:gd name="T65" fmla="*/ 71 h 802"/>
              <a:gd name="T66" fmla="*/ 160 w 826"/>
              <a:gd name="T67" fmla="*/ 123 h 802"/>
              <a:gd name="T68" fmla="*/ 297 w 826"/>
              <a:gd name="T69" fmla="*/ 568 h 802"/>
              <a:gd name="T70" fmla="*/ 266 w 826"/>
              <a:gd name="T71" fmla="*/ 728 h 802"/>
              <a:gd name="T72" fmla="*/ 154 w 826"/>
              <a:gd name="T73" fmla="*/ 763 h 802"/>
              <a:gd name="T74" fmla="*/ 207 w 826"/>
              <a:gd name="T75" fmla="*/ 702 h 802"/>
              <a:gd name="T76" fmla="*/ 189 w 826"/>
              <a:gd name="T77" fmla="*/ 607 h 802"/>
              <a:gd name="T78" fmla="*/ 99 w 826"/>
              <a:gd name="T79" fmla="*/ 612 h 802"/>
              <a:gd name="T80" fmla="*/ 86 w 826"/>
              <a:gd name="T81" fmla="*/ 548 h 802"/>
              <a:gd name="T82" fmla="*/ 226 w 826"/>
              <a:gd name="T83" fmla="*/ 521 h 802"/>
              <a:gd name="T84" fmla="*/ 528 w 826"/>
              <a:gd name="T85" fmla="*/ 235 h 802"/>
              <a:gd name="T86" fmla="*/ 559 w 826"/>
              <a:gd name="T87" fmla="*/ 75 h 802"/>
              <a:gd name="T88" fmla="*/ 671 w 826"/>
              <a:gd name="T89" fmla="*/ 40 h 802"/>
              <a:gd name="T90" fmla="*/ 618 w 826"/>
              <a:gd name="T91" fmla="*/ 101 h 802"/>
              <a:gd name="T92" fmla="*/ 636 w 826"/>
              <a:gd name="T93" fmla="*/ 196 h 802"/>
              <a:gd name="T94" fmla="*/ 726 w 826"/>
              <a:gd name="T95" fmla="*/ 191 h 802"/>
              <a:gd name="T96" fmla="*/ 739 w 826"/>
              <a:gd name="T97" fmla="*/ 255 h 802"/>
              <a:gd name="T98" fmla="*/ 599 w 826"/>
              <a:gd name="T99" fmla="*/ 283 h 802"/>
              <a:gd name="T100" fmla="*/ 297 w 826"/>
              <a:gd name="T101" fmla="*/ 568 h 802"/>
              <a:gd name="T102" fmla="*/ 714 w 826"/>
              <a:gd name="T103" fmla="*/ 755 h 802"/>
              <a:gd name="T104" fmla="*/ 611 w 826"/>
              <a:gd name="T105" fmla="*/ 549 h 802"/>
              <a:gd name="T106" fmla="*/ 776 w 826"/>
              <a:gd name="T107" fmla="*/ 729 h 8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826" h="802">
                <a:moveTo>
                  <a:pt x="791" y="677"/>
                </a:moveTo>
                <a:cubicBezTo>
                  <a:pt x="637" y="523"/>
                  <a:pt x="637" y="523"/>
                  <a:pt x="637" y="523"/>
                </a:cubicBezTo>
                <a:cubicBezTo>
                  <a:pt x="663" y="498"/>
                  <a:pt x="663" y="498"/>
                  <a:pt x="663" y="498"/>
                </a:cubicBezTo>
                <a:cubicBezTo>
                  <a:pt x="670" y="490"/>
                  <a:pt x="670" y="479"/>
                  <a:pt x="663" y="472"/>
                </a:cubicBezTo>
                <a:cubicBezTo>
                  <a:pt x="656" y="465"/>
                  <a:pt x="644" y="465"/>
                  <a:pt x="637" y="472"/>
                </a:cubicBezTo>
                <a:cubicBezTo>
                  <a:pt x="573" y="536"/>
                  <a:pt x="573" y="536"/>
                  <a:pt x="573" y="536"/>
                </a:cubicBezTo>
                <a:cubicBezTo>
                  <a:pt x="477" y="440"/>
                  <a:pt x="477" y="440"/>
                  <a:pt x="477" y="440"/>
                </a:cubicBezTo>
                <a:cubicBezTo>
                  <a:pt x="597" y="320"/>
                  <a:pt x="597" y="320"/>
                  <a:pt x="597" y="320"/>
                </a:cubicBezTo>
                <a:cubicBezTo>
                  <a:pt x="614" y="326"/>
                  <a:pt x="631" y="329"/>
                  <a:pt x="649" y="329"/>
                </a:cubicBezTo>
                <a:cubicBezTo>
                  <a:pt x="693" y="329"/>
                  <a:pt x="734" y="312"/>
                  <a:pt x="765" y="281"/>
                </a:cubicBezTo>
                <a:cubicBezTo>
                  <a:pt x="812" y="234"/>
                  <a:pt x="826" y="163"/>
                  <a:pt x="800" y="102"/>
                </a:cubicBezTo>
                <a:cubicBezTo>
                  <a:pt x="797" y="96"/>
                  <a:pt x="792" y="92"/>
                  <a:pt x="786" y="91"/>
                </a:cubicBezTo>
                <a:cubicBezTo>
                  <a:pt x="780" y="90"/>
                  <a:pt x="774" y="92"/>
                  <a:pt x="770" y="96"/>
                </a:cubicBezTo>
                <a:cubicBezTo>
                  <a:pt x="706" y="160"/>
                  <a:pt x="706" y="160"/>
                  <a:pt x="706" y="160"/>
                </a:cubicBezTo>
                <a:cubicBezTo>
                  <a:pt x="654" y="160"/>
                  <a:pt x="654" y="160"/>
                  <a:pt x="654" y="160"/>
                </a:cubicBezTo>
                <a:cubicBezTo>
                  <a:pt x="654" y="109"/>
                  <a:pt x="654" y="109"/>
                  <a:pt x="654" y="109"/>
                </a:cubicBezTo>
                <a:cubicBezTo>
                  <a:pt x="719" y="44"/>
                  <a:pt x="719" y="44"/>
                  <a:pt x="719" y="44"/>
                </a:cubicBezTo>
                <a:cubicBezTo>
                  <a:pt x="723" y="40"/>
                  <a:pt x="725" y="34"/>
                  <a:pt x="724" y="28"/>
                </a:cubicBezTo>
                <a:cubicBezTo>
                  <a:pt x="722" y="22"/>
                  <a:pt x="718" y="17"/>
                  <a:pt x="713" y="15"/>
                </a:cubicBezTo>
                <a:cubicBezTo>
                  <a:pt x="692" y="6"/>
                  <a:pt x="671" y="2"/>
                  <a:pt x="649" y="2"/>
                </a:cubicBezTo>
                <a:cubicBezTo>
                  <a:pt x="605" y="2"/>
                  <a:pt x="564" y="19"/>
                  <a:pt x="533" y="50"/>
                </a:cubicBezTo>
                <a:cubicBezTo>
                  <a:pt x="489" y="94"/>
                  <a:pt x="474" y="159"/>
                  <a:pt x="494" y="218"/>
                </a:cubicBezTo>
                <a:cubicBezTo>
                  <a:pt x="374" y="337"/>
                  <a:pt x="374" y="337"/>
                  <a:pt x="374" y="337"/>
                </a:cubicBezTo>
                <a:cubicBezTo>
                  <a:pt x="185" y="148"/>
                  <a:pt x="185" y="148"/>
                  <a:pt x="185" y="148"/>
                </a:cubicBezTo>
                <a:cubicBezTo>
                  <a:pt x="198" y="136"/>
                  <a:pt x="198" y="136"/>
                  <a:pt x="198" y="136"/>
                </a:cubicBezTo>
                <a:cubicBezTo>
                  <a:pt x="201" y="132"/>
                  <a:pt x="203" y="128"/>
                  <a:pt x="203" y="123"/>
                </a:cubicBezTo>
                <a:cubicBezTo>
                  <a:pt x="203" y="118"/>
                  <a:pt x="201" y="113"/>
                  <a:pt x="198" y="110"/>
                </a:cubicBezTo>
                <a:cubicBezTo>
                  <a:pt x="95" y="7"/>
                  <a:pt x="95" y="7"/>
                  <a:pt x="95" y="7"/>
                </a:cubicBezTo>
                <a:cubicBezTo>
                  <a:pt x="88" y="0"/>
                  <a:pt x="77" y="0"/>
                  <a:pt x="70" y="7"/>
                </a:cubicBezTo>
                <a:cubicBezTo>
                  <a:pt x="18" y="58"/>
                  <a:pt x="18" y="58"/>
                  <a:pt x="18" y="58"/>
                </a:cubicBezTo>
                <a:cubicBezTo>
                  <a:pt x="15" y="62"/>
                  <a:pt x="13" y="66"/>
                  <a:pt x="13" y="71"/>
                </a:cubicBezTo>
                <a:cubicBezTo>
                  <a:pt x="13" y="76"/>
                  <a:pt x="15" y="81"/>
                  <a:pt x="18" y="84"/>
                </a:cubicBezTo>
                <a:cubicBezTo>
                  <a:pt x="121" y="187"/>
                  <a:pt x="121" y="187"/>
                  <a:pt x="121" y="187"/>
                </a:cubicBezTo>
                <a:cubicBezTo>
                  <a:pt x="124" y="191"/>
                  <a:pt x="129" y="192"/>
                  <a:pt x="134" y="192"/>
                </a:cubicBezTo>
                <a:cubicBezTo>
                  <a:pt x="138" y="192"/>
                  <a:pt x="143" y="191"/>
                  <a:pt x="147" y="187"/>
                </a:cubicBezTo>
                <a:cubicBezTo>
                  <a:pt x="160" y="174"/>
                  <a:pt x="160" y="174"/>
                  <a:pt x="160" y="174"/>
                </a:cubicBezTo>
                <a:cubicBezTo>
                  <a:pt x="348" y="363"/>
                  <a:pt x="348" y="363"/>
                  <a:pt x="348" y="363"/>
                </a:cubicBezTo>
                <a:cubicBezTo>
                  <a:pt x="228" y="483"/>
                  <a:pt x="228" y="483"/>
                  <a:pt x="228" y="483"/>
                </a:cubicBezTo>
                <a:cubicBezTo>
                  <a:pt x="212" y="477"/>
                  <a:pt x="194" y="475"/>
                  <a:pt x="176" y="475"/>
                </a:cubicBezTo>
                <a:cubicBezTo>
                  <a:pt x="133" y="475"/>
                  <a:pt x="91" y="492"/>
                  <a:pt x="61" y="522"/>
                </a:cubicBezTo>
                <a:cubicBezTo>
                  <a:pt x="13" y="570"/>
                  <a:pt x="0" y="640"/>
                  <a:pt x="26" y="702"/>
                </a:cubicBezTo>
                <a:cubicBezTo>
                  <a:pt x="28" y="707"/>
                  <a:pt x="33" y="711"/>
                  <a:pt x="39" y="713"/>
                </a:cubicBezTo>
                <a:cubicBezTo>
                  <a:pt x="45" y="714"/>
                  <a:pt x="51" y="712"/>
                  <a:pt x="55" y="708"/>
                </a:cubicBezTo>
                <a:cubicBezTo>
                  <a:pt x="120" y="643"/>
                  <a:pt x="120" y="643"/>
                  <a:pt x="120" y="643"/>
                </a:cubicBezTo>
                <a:cubicBezTo>
                  <a:pt x="171" y="643"/>
                  <a:pt x="171" y="643"/>
                  <a:pt x="171" y="643"/>
                </a:cubicBezTo>
                <a:cubicBezTo>
                  <a:pt x="171" y="695"/>
                  <a:pt x="171" y="695"/>
                  <a:pt x="171" y="695"/>
                </a:cubicBezTo>
                <a:cubicBezTo>
                  <a:pt x="107" y="759"/>
                  <a:pt x="107" y="759"/>
                  <a:pt x="107" y="759"/>
                </a:cubicBezTo>
                <a:cubicBezTo>
                  <a:pt x="102" y="763"/>
                  <a:pt x="101" y="769"/>
                  <a:pt x="102" y="775"/>
                </a:cubicBezTo>
                <a:cubicBezTo>
                  <a:pt x="103" y="781"/>
                  <a:pt x="107" y="786"/>
                  <a:pt x="113" y="789"/>
                </a:cubicBezTo>
                <a:cubicBezTo>
                  <a:pt x="133" y="797"/>
                  <a:pt x="154" y="802"/>
                  <a:pt x="176" y="802"/>
                </a:cubicBezTo>
                <a:cubicBezTo>
                  <a:pt x="220" y="802"/>
                  <a:pt x="261" y="785"/>
                  <a:pt x="292" y="754"/>
                </a:cubicBezTo>
                <a:cubicBezTo>
                  <a:pt x="336" y="709"/>
                  <a:pt x="351" y="645"/>
                  <a:pt x="331" y="586"/>
                </a:cubicBezTo>
                <a:cubicBezTo>
                  <a:pt x="451" y="466"/>
                  <a:pt x="451" y="466"/>
                  <a:pt x="451" y="466"/>
                </a:cubicBezTo>
                <a:cubicBezTo>
                  <a:pt x="547" y="562"/>
                  <a:pt x="547" y="562"/>
                  <a:pt x="547" y="562"/>
                </a:cubicBezTo>
                <a:cubicBezTo>
                  <a:pt x="483" y="626"/>
                  <a:pt x="483" y="626"/>
                  <a:pt x="483" y="626"/>
                </a:cubicBezTo>
                <a:cubicBezTo>
                  <a:pt x="476" y="633"/>
                  <a:pt x="476" y="645"/>
                  <a:pt x="483" y="652"/>
                </a:cubicBezTo>
                <a:cubicBezTo>
                  <a:pt x="486" y="655"/>
                  <a:pt x="491" y="657"/>
                  <a:pt x="496" y="657"/>
                </a:cubicBezTo>
                <a:cubicBezTo>
                  <a:pt x="500" y="657"/>
                  <a:pt x="505" y="655"/>
                  <a:pt x="509" y="652"/>
                </a:cubicBezTo>
                <a:cubicBezTo>
                  <a:pt x="534" y="626"/>
                  <a:pt x="534" y="626"/>
                  <a:pt x="534" y="626"/>
                </a:cubicBezTo>
                <a:cubicBezTo>
                  <a:pt x="689" y="780"/>
                  <a:pt x="689" y="780"/>
                  <a:pt x="689" y="780"/>
                </a:cubicBezTo>
                <a:cubicBezTo>
                  <a:pt x="702" y="794"/>
                  <a:pt x="721" y="802"/>
                  <a:pt x="740" y="802"/>
                </a:cubicBezTo>
                <a:cubicBezTo>
                  <a:pt x="759" y="802"/>
                  <a:pt x="778" y="794"/>
                  <a:pt x="791" y="780"/>
                </a:cubicBezTo>
                <a:cubicBezTo>
                  <a:pt x="805" y="767"/>
                  <a:pt x="813" y="748"/>
                  <a:pt x="813" y="729"/>
                </a:cubicBezTo>
                <a:cubicBezTo>
                  <a:pt x="813" y="709"/>
                  <a:pt x="805" y="691"/>
                  <a:pt x="791" y="677"/>
                </a:cubicBezTo>
                <a:close/>
                <a:moveTo>
                  <a:pt x="134" y="148"/>
                </a:moveTo>
                <a:cubicBezTo>
                  <a:pt x="57" y="71"/>
                  <a:pt x="57" y="71"/>
                  <a:pt x="57" y="71"/>
                </a:cubicBezTo>
                <a:cubicBezTo>
                  <a:pt x="82" y="46"/>
                  <a:pt x="82" y="46"/>
                  <a:pt x="82" y="46"/>
                </a:cubicBezTo>
                <a:cubicBezTo>
                  <a:pt x="160" y="123"/>
                  <a:pt x="160" y="123"/>
                  <a:pt x="160" y="123"/>
                </a:cubicBezTo>
                <a:lnTo>
                  <a:pt x="134" y="148"/>
                </a:lnTo>
                <a:close/>
                <a:moveTo>
                  <a:pt x="297" y="568"/>
                </a:moveTo>
                <a:cubicBezTo>
                  <a:pt x="292" y="574"/>
                  <a:pt x="291" y="582"/>
                  <a:pt x="293" y="588"/>
                </a:cubicBezTo>
                <a:cubicBezTo>
                  <a:pt x="314" y="636"/>
                  <a:pt x="303" y="691"/>
                  <a:pt x="266" y="728"/>
                </a:cubicBezTo>
                <a:cubicBezTo>
                  <a:pt x="242" y="752"/>
                  <a:pt x="210" y="765"/>
                  <a:pt x="176" y="765"/>
                </a:cubicBezTo>
                <a:cubicBezTo>
                  <a:pt x="169" y="765"/>
                  <a:pt x="161" y="765"/>
                  <a:pt x="154" y="763"/>
                </a:cubicBezTo>
                <a:cubicBezTo>
                  <a:pt x="202" y="715"/>
                  <a:pt x="202" y="715"/>
                  <a:pt x="202" y="715"/>
                </a:cubicBezTo>
                <a:cubicBezTo>
                  <a:pt x="205" y="712"/>
                  <a:pt x="207" y="707"/>
                  <a:pt x="207" y="702"/>
                </a:cubicBezTo>
                <a:cubicBezTo>
                  <a:pt x="207" y="625"/>
                  <a:pt x="207" y="625"/>
                  <a:pt x="207" y="625"/>
                </a:cubicBezTo>
                <a:cubicBezTo>
                  <a:pt x="207" y="615"/>
                  <a:pt x="199" y="607"/>
                  <a:pt x="189" y="607"/>
                </a:cubicBezTo>
                <a:cubicBezTo>
                  <a:pt x="112" y="607"/>
                  <a:pt x="112" y="607"/>
                  <a:pt x="112" y="607"/>
                </a:cubicBezTo>
                <a:cubicBezTo>
                  <a:pt x="107" y="607"/>
                  <a:pt x="103" y="609"/>
                  <a:pt x="99" y="612"/>
                </a:cubicBezTo>
                <a:cubicBezTo>
                  <a:pt x="51" y="661"/>
                  <a:pt x="51" y="661"/>
                  <a:pt x="51" y="661"/>
                </a:cubicBezTo>
                <a:cubicBezTo>
                  <a:pt x="44" y="620"/>
                  <a:pt x="56" y="578"/>
                  <a:pt x="86" y="548"/>
                </a:cubicBezTo>
                <a:cubicBezTo>
                  <a:pt x="110" y="524"/>
                  <a:pt x="142" y="511"/>
                  <a:pt x="176" y="511"/>
                </a:cubicBezTo>
                <a:cubicBezTo>
                  <a:pt x="193" y="511"/>
                  <a:pt x="210" y="514"/>
                  <a:pt x="226" y="521"/>
                </a:cubicBezTo>
                <a:cubicBezTo>
                  <a:pt x="233" y="524"/>
                  <a:pt x="241" y="522"/>
                  <a:pt x="246" y="517"/>
                </a:cubicBezTo>
                <a:cubicBezTo>
                  <a:pt x="528" y="235"/>
                  <a:pt x="528" y="235"/>
                  <a:pt x="528" y="235"/>
                </a:cubicBezTo>
                <a:cubicBezTo>
                  <a:pt x="533" y="230"/>
                  <a:pt x="535" y="222"/>
                  <a:pt x="532" y="215"/>
                </a:cubicBezTo>
                <a:cubicBezTo>
                  <a:pt x="512" y="167"/>
                  <a:pt x="522" y="112"/>
                  <a:pt x="559" y="75"/>
                </a:cubicBezTo>
                <a:cubicBezTo>
                  <a:pt x="583" y="51"/>
                  <a:pt x="615" y="38"/>
                  <a:pt x="649" y="38"/>
                </a:cubicBezTo>
                <a:cubicBezTo>
                  <a:pt x="657" y="38"/>
                  <a:pt x="664" y="39"/>
                  <a:pt x="671" y="40"/>
                </a:cubicBezTo>
                <a:cubicBezTo>
                  <a:pt x="623" y="88"/>
                  <a:pt x="623" y="88"/>
                  <a:pt x="623" y="88"/>
                </a:cubicBezTo>
                <a:cubicBezTo>
                  <a:pt x="620" y="92"/>
                  <a:pt x="618" y="96"/>
                  <a:pt x="618" y="101"/>
                </a:cubicBezTo>
                <a:cubicBezTo>
                  <a:pt x="618" y="178"/>
                  <a:pt x="618" y="178"/>
                  <a:pt x="618" y="178"/>
                </a:cubicBezTo>
                <a:cubicBezTo>
                  <a:pt x="618" y="188"/>
                  <a:pt x="626" y="196"/>
                  <a:pt x="636" y="196"/>
                </a:cubicBezTo>
                <a:cubicBezTo>
                  <a:pt x="713" y="196"/>
                  <a:pt x="713" y="196"/>
                  <a:pt x="713" y="196"/>
                </a:cubicBezTo>
                <a:cubicBezTo>
                  <a:pt x="718" y="196"/>
                  <a:pt x="723" y="195"/>
                  <a:pt x="726" y="191"/>
                </a:cubicBezTo>
                <a:cubicBezTo>
                  <a:pt x="774" y="143"/>
                  <a:pt x="774" y="143"/>
                  <a:pt x="774" y="143"/>
                </a:cubicBezTo>
                <a:cubicBezTo>
                  <a:pt x="782" y="183"/>
                  <a:pt x="769" y="225"/>
                  <a:pt x="739" y="255"/>
                </a:cubicBezTo>
                <a:cubicBezTo>
                  <a:pt x="715" y="279"/>
                  <a:pt x="683" y="293"/>
                  <a:pt x="649" y="293"/>
                </a:cubicBezTo>
                <a:cubicBezTo>
                  <a:pt x="632" y="293"/>
                  <a:pt x="615" y="289"/>
                  <a:pt x="599" y="283"/>
                </a:cubicBezTo>
                <a:cubicBezTo>
                  <a:pt x="593" y="280"/>
                  <a:pt x="585" y="281"/>
                  <a:pt x="579" y="286"/>
                </a:cubicBezTo>
                <a:lnTo>
                  <a:pt x="297" y="568"/>
                </a:lnTo>
                <a:close/>
                <a:moveTo>
                  <a:pt x="766" y="755"/>
                </a:moveTo>
                <a:cubicBezTo>
                  <a:pt x="752" y="768"/>
                  <a:pt x="728" y="768"/>
                  <a:pt x="714" y="755"/>
                </a:cubicBezTo>
                <a:cubicBezTo>
                  <a:pt x="560" y="600"/>
                  <a:pt x="560" y="600"/>
                  <a:pt x="560" y="600"/>
                </a:cubicBezTo>
                <a:cubicBezTo>
                  <a:pt x="611" y="549"/>
                  <a:pt x="611" y="549"/>
                  <a:pt x="611" y="549"/>
                </a:cubicBezTo>
                <a:cubicBezTo>
                  <a:pt x="766" y="703"/>
                  <a:pt x="766" y="703"/>
                  <a:pt x="766" y="703"/>
                </a:cubicBezTo>
                <a:cubicBezTo>
                  <a:pt x="773" y="710"/>
                  <a:pt x="776" y="719"/>
                  <a:pt x="776" y="729"/>
                </a:cubicBezTo>
                <a:cubicBezTo>
                  <a:pt x="776" y="739"/>
                  <a:pt x="773" y="748"/>
                  <a:pt x="766" y="7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36" name="Freeform 21">
            <a:extLst>
              <a:ext uri="{FF2B5EF4-FFF2-40B4-BE49-F238E27FC236}">
                <a16:creationId xmlns:a16="http://schemas.microsoft.com/office/drawing/2014/main" id="{101A2A54-5746-195F-97CB-D89218052340}"/>
              </a:ext>
            </a:extLst>
          </p:cNvPr>
          <p:cNvSpPr>
            <a:spLocks noEditPoints="1"/>
          </p:cNvSpPr>
          <p:nvPr/>
        </p:nvSpPr>
        <p:spPr bwMode="auto">
          <a:xfrm>
            <a:off x="3292934" y="2105728"/>
            <a:ext cx="410779" cy="410067"/>
          </a:xfrm>
          <a:custGeom>
            <a:avLst/>
            <a:gdLst>
              <a:gd name="T0" fmla="*/ 350 w 800"/>
              <a:gd name="T1" fmla="*/ 639 h 798"/>
              <a:gd name="T2" fmla="*/ 270 w 800"/>
              <a:gd name="T3" fmla="*/ 719 h 798"/>
              <a:gd name="T4" fmla="*/ 350 w 800"/>
              <a:gd name="T5" fmla="*/ 798 h 798"/>
              <a:gd name="T6" fmla="*/ 430 w 800"/>
              <a:gd name="T7" fmla="*/ 719 h 798"/>
              <a:gd name="T8" fmla="*/ 350 w 800"/>
              <a:gd name="T9" fmla="*/ 639 h 798"/>
              <a:gd name="T10" fmla="*/ 350 w 800"/>
              <a:gd name="T11" fmla="*/ 763 h 798"/>
              <a:gd name="T12" fmla="*/ 306 w 800"/>
              <a:gd name="T13" fmla="*/ 719 h 798"/>
              <a:gd name="T14" fmla="*/ 350 w 800"/>
              <a:gd name="T15" fmla="*/ 674 h 798"/>
              <a:gd name="T16" fmla="*/ 394 w 800"/>
              <a:gd name="T17" fmla="*/ 719 h 798"/>
              <a:gd name="T18" fmla="*/ 350 w 800"/>
              <a:gd name="T19" fmla="*/ 763 h 798"/>
              <a:gd name="T20" fmla="*/ 600 w 800"/>
              <a:gd name="T21" fmla="*/ 639 h 798"/>
              <a:gd name="T22" fmla="*/ 520 w 800"/>
              <a:gd name="T23" fmla="*/ 719 h 798"/>
              <a:gd name="T24" fmla="*/ 600 w 800"/>
              <a:gd name="T25" fmla="*/ 798 h 798"/>
              <a:gd name="T26" fmla="*/ 680 w 800"/>
              <a:gd name="T27" fmla="*/ 719 h 798"/>
              <a:gd name="T28" fmla="*/ 600 w 800"/>
              <a:gd name="T29" fmla="*/ 639 h 798"/>
              <a:gd name="T30" fmla="*/ 600 w 800"/>
              <a:gd name="T31" fmla="*/ 763 h 798"/>
              <a:gd name="T32" fmla="*/ 556 w 800"/>
              <a:gd name="T33" fmla="*/ 719 h 798"/>
              <a:gd name="T34" fmla="*/ 600 w 800"/>
              <a:gd name="T35" fmla="*/ 674 h 798"/>
              <a:gd name="T36" fmla="*/ 645 w 800"/>
              <a:gd name="T37" fmla="*/ 719 h 798"/>
              <a:gd name="T38" fmla="*/ 600 w 800"/>
              <a:gd name="T39" fmla="*/ 763 h 798"/>
              <a:gd name="T40" fmla="*/ 796 w 800"/>
              <a:gd name="T41" fmla="*/ 202 h 798"/>
              <a:gd name="T42" fmla="*/ 782 w 800"/>
              <a:gd name="T43" fmla="*/ 195 h 798"/>
              <a:gd name="T44" fmla="*/ 182 w 800"/>
              <a:gd name="T45" fmla="*/ 195 h 798"/>
              <a:gd name="T46" fmla="*/ 132 w 800"/>
              <a:gd name="T47" fmla="*/ 13 h 798"/>
              <a:gd name="T48" fmla="*/ 132 w 800"/>
              <a:gd name="T49" fmla="*/ 12 h 798"/>
              <a:gd name="T50" fmla="*/ 130 w 800"/>
              <a:gd name="T51" fmla="*/ 8 h 798"/>
              <a:gd name="T52" fmla="*/ 128 w 800"/>
              <a:gd name="T53" fmla="*/ 6 h 798"/>
              <a:gd name="T54" fmla="*/ 126 w 800"/>
              <a:gd name="T55" fmla="*/ 3 h 798"/>
              <a:gd name="T56" fmla="*/ 123 w 800"/>
              <a:gd name="T57" fmla="*/ 2 h 798"/>
              <a:gd name="T58" fmla="*/ 120 w 800"/>
              <a:gd name="T59" fmla="*/ 0 h 798"/>
              <a:gd name="T60" fmla="*/ 116 w 800"/>
              <a:gd name="T61" fmla="*/ 0 h 798"/>
              <a:gd name="T62" fmla="*/ 115 w 800"/>
              <a:gd name="T63" fmla="*/ 0 h 798"/>
              <a:gd name="T64" fmla="*/ 17 w 800"/>
              <a:gd name="T65" fmla="*/ 0 h 798"/>
              <a:gd name="T66" fmla="*/ 0 w 800"/>
              <a:gd name="T67" fmla="*/ 17 h 798"/>
              <a:gd name="T68" fmla="*/ 17 w 800"/>
              <a:gd name="T69" fmla="*/ 35 h 798"/>
              <a:gd name="T70" fmla="*/ 102 w 800"/>
              <a:gd name="T71" fmla="*/ 35 h 798"/>
              <a:gd name="T72" fmla="*/ 151 w 800"/>
              <a:gd name="T73" fmla="*/ 217 h 798"/>
              <a:gd name="T74" fmla="*/ 240 w 800"/>
              <a:gd name="T75" fmla="*/ 576 h 798"/>
              <a:gd name="T76" fmla="*/ 257 w 800"/>
              <a:gd name="T77" fmla="*/ 590 h 798"/>
              <a:gd name="T78" fmla="*/ 693 w 800"/>
              <a:gd name="T79" fmla="*/ 590 h 798"/>
              <a:gd name="T80" fmla="*/ 710 w 800"/>
              <a:gd name="T81" fmla="*/ 576 h 798"/>
              <a:gd name="T82" fmla="*/ 799 w 800"/>
              <a:gd name="T83" fmla="*/ 217 h 798"/>
              <a:gd name="T84" fmla="*/ 796 w 800"/>
              <a:gd name="T85" fmla="*/ 202 h 798"/>
              <a:gd name="T86" fmla="*/ 679 w 800"/>
              <a:gd name="T87" fmla="*/ 554 h 798"/>
              <a:gd name="T88" fmla="*/ 271 w 800"/>
              <a:gd name="T89" fmla="*/ 554 h 798"/>
              <a:gd name="T90" fmla="*/ 191 w 800"/>
              <a:gd name="T91" fmla="*/ 230 h 798"/>
              <a:gd name="T92" fmla="*/ 759 w 800"/>
              <a:gd name="T93" fmla="*/ 230 h 798"/>
              <a:gd name="T94" fmla="*/ 679 w 800"/>
              <a:gd name="T95" fmla="*/ 554 h 7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800" h="798">
                <a:moveTo>
                  <a:pt x="350" y="639"/>
                </a:moveTo>
                <a:cubicBezTo>
                  <a:pt x="306" y="639"/>
                  <a:pt x="270" y="675"/>
                  <a:pt x="270" y="719"/>
                </a:cubicBezTo>
                <a:cubicBezTo>
                  <a:pt x="270" y="763"/>
                  <a:pt x="306" y="798"/>
                  <a:pt x="350" y="798"/>
                </a:cubicBezTo>
                <a:cubicBezTo>
                  <a:pt x="394" y="798"/>
                  <a:pt x="430" y="763"/>
                  <a:pt x="430" y="719"/>
                </a:cubicBezTo>
                <a:cubicBezTo>
                  <a:pt x="430" y="675"/>
                  <a:pt x="394" y="639"/>
                  <a:pt x="350" y="639"/>
                </a:cubicBezTo>
                <a:close/>
                <a:moveTo>
                  <a:pt x="350" y="763"/>
                </a:moveTo>
                <a:cubicBezTo>
                  <a:pt x="325" y="763"/>
                  <a:pt x="306" y="743"/>
                  <a:pt x="306" y="719"/>
                </a:cubicBezTo>
                <a:cubicBezTo>
                  <a:pt x="306" y="694"/>
                  <a:pt x="325" y="674"/>
                  <a:pt x="350" y="674"/>
                </a:cubicBezTo>
                <a:cubicBezTo>
                  <a:pt x="374" y="674"/>
                  <a:pt x="394" y="694"/>
                  <a:pt x="394" y="719"/>
                </a:cubicBezTo>
                <a:cubicBezTo>
                  <a:pt x="394" y="743"/>
                  <a:pt x="374" y="763"/>
                  <a:pt x="350" y="763"/>
                </a:cubicBezTo>
                <a:close/>
                <a:moveTo>
                  <a:pt x="600" y="639"/>
                </a:moveTo>
                <a:cubicBezTo>
                  <a:pt x="556" y="639"/>
                  <a:pt x="520" y="675"/>
                  <a:pt x="520" y="719"/>
                </a:cubicBezTo>
                <a:cubicBezTo>
                  <a:pt x="520" y="763"/>
                  <a:pt x="556" y="798"/>
                  <a:pt x="600" y="798"/>
                </a:cubicBezTo>
                <a:cubicBezTo>
                  <a:pt x="644" y="798"/>
                  <a:pt x="680" y="763"/>
                  <a:pt x="680" y="719"/>
                </a:cubicBezTo>
                <a:cubicBezTo>
                  <a:pt x="680" y="675"/>
                  <a:pt x="644" y="639"/>
                  <a:pt x="600" y="639"/>
                </a:cubicBezTo>
                <a:close/>
                <a:moveTo>
                  <a:pt x="600" y="763"/>
                </a:moveTo>
                <a:cubicBezTo>
                  <a:pt x="576" y="763"/>
                  <a:pt x="556" y="743"/>
                  <a:pt x="556" y="719"/>
                </a:cubicBezTo>
                <a:cubicBezTo>
                  <a:pt x="556" y="694"/>
                  <a:pt x="576" y="674"/>
                  <a:pt x="600" y="674"/>
                </a:cubicBezTo>
                <a:cubicBezTo>
                  <a:pt x="625" y="674"/>
                  <a:pt x="645" y="694"/>
                  <a:pt x="645" y="719"/>
                </a:cubicBezTo>
                <a:cubicBezTo>
                  <a:pt x="645" y="743"/>
                  <a:pt x="625" y="763"/>
                  <a:pt x="600" y="763"/>
                </a:cubicBezTo>
                <a:close/>
                <a:moveTo>
                  <a:pt x="796" y="202"/>
                </a:moveTo>
                <a:cubicBezTo>
                  <a:pt x="793" y="197"/>
                  <a:pt x="787" y="195"/>
                  <a:pt x="782" y="195"/>
                </a:cubicBezTo>
                <a:cubicBezTo>
                  <a:pt x="182" y="195"/>
                  <a:pt x="182" y="195"/>
                  <a:pt x="182" y="195"/>
                </a:cubicBezTo>
                <a:cubicBezTo>
                  <a:pt x="132" y="13"/>
                  <a:pt x="132" y="13"/>
                  <a:pt x="132" y="13"/>
                </a:cubicBezTo>
                <a:cubicBezTo>
                  <a:pt x="132" y="12"/>
                  <a:pt x="132" y="12"/>
                  <a:pt x="132" y="12"/>
                </a:cubicBezTo>
                <a:cubicBezTo>
                  <a:pt x="131" y="10"/>
                  <a:pt x="131" y="9"/>
                  <a:pt x="130" y="8"/>
                </a:cubicBezTo>
                <a:cubicBezTo>
                  <a:pt x="130" y="7"/>
                  <a:pt x="129" y="6"/>
                  <a:pt x="128" y="6"/>
                </a:cubicBezTo>
                <a:cubicBezTo>
                  <a:pt x="128" y="5"/>
                  <a:pt x="127" y="4"/>
                  <a:pt x="126" y="3"/>
                </a:cubicBezTo>
                <a:cubicBezTo>
                  <a:pt x="125" y="3"/>
                  <a:pt x="124" y="2"/>
                  <a:pt x="123" y="2"/>
                </a:cubicBezTo>
                <a:cubicBezTo>
                  <a:pt x="122" y="1"/>
                  <a:pt x="121" y="1"/>
                  <a:pt x="120" y="0"/>
                </a:cubicBezTo>
                <a:cubicBezTo>
                  <a:pt x="119" y="0"/>
                  <a:pt x="118" y="0"/>
                  <a:pt x="116" y="0"/>
                </a:cubicBezTo>
                <a:cubicBezTo>
                  <a:pt x="116" y="0"/>
                  <a:pt x="116" y="0"/>
                  <a:pt x="115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8" y="0"/>
                  <a:pt x="0" y="8"/>
                  <a:pt x="0" y="17"/>
                </a:cubicBezTo>
                <a:cubicBezTo>
                  <a:pt x="0" y="27"/>
                  <a:pt x="8" y="35"/>
                  <a:pt x="17" y="35"/>
                </a:cubicBezTo>
                <a:cubicBezTo>
                  <a:pt x="102" y="35"/>
                  <a:pt x="102" y="35"/>
                  <a:pt x="102" y="35"/>
                </a:cubicBezTo>
                <a:cubicBezTo>
                  <a:pt x="151" y="217"/>
                  <a:pt x="151" y="217"/>
                  <a:pt x="151" y="217"/>
                </a:cubicBezTo>
                <a:cubicBezTo>
                  <a:pt x="240" y="576"/>
                  <a:pt x="240" y="576"/>
                  <a:pt x="240" y="576"/>
                </a:cubicBezTo>
                <a:cubicBezTo>
                  <a:pt x="242" y="584"/>
                  <a:pt x="249" y="590"/>
                  <a:pt x="257" y="590"/>
                </a:cubicBezTo>
                <a:cubicBezTo>
                  <a:pt x="693" y="590"/>
                  <a:pt x="693" y="590"/>
                  <a:pt x="693" y="590"/>
                </a:cubicBezTo>
                <a:cubicBezTo>
                  <a:pt x="701" y="590"/>
                  <a:pt x="708" y="584"/>
                  <a:pt x="710" y="576"/>
                </a:cubicBezTo>
                <a:cubicBezTo>
                  <a:pt x="799" y="217"/>
                  <a:pt x="799" y="217"/>
                  <a:pt x="799" y="217"/>
                </a:cubicBezTo>
                <a:cubicBezTo>
                  <a:pt x="800" y="212"/>
                  <a:pt x="799" y="206"/>
                  <a:pt x="796" y="202"/>
                </a:cubicBezTo>
                <a:close/>
                <a:moveTo>
                  <a:pt x="679" y="554"/>
                </a:moveTo>
                <a:cubicBezTo>
                  <a:pt x="271" y="554"/>
                  <a:pt x="271" y="554"/>
                  <a:pt x="271" y="554"/>
                </a:cubicBezTo>
                <a:cubicBezTo>
                  <a:pt x="191" y="230"/>
                  <a:pt x="191" y="230"/>
                  <a:pt x="191" y="230"/>
                </a:cubicBezTo>
                <a:cubicBezTo>
                  <a:pt x="759" y="230"/>
                  <a:pt x="759" y="230"/>
                  <a:pt x="759" y="230"/>
                </a:cubicBezTo>
                <a:lnTo>
                  <a:pt x="679" y="55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92C2977-348A-7057-2C80-CEDBBFFBFC2F}"/>
              </a:ext>
            </a:extLst>
          </p:cNvPr>
          <p:cNvSpPr/>
          <p:nvPr/>
        </p:nvSpPr>
        <p:spPr>
          <a:xfrm>
            <a:off x="7496995" y="2841853"/>
            <a:ext cx="1994139" cy="5847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365760" bIns="45720" rtlCol="0" anchor="ctr">
            <a:spAutoFit/>
          </a:bodyPr>
          <a:lstStyle/>
          <a:p>
            <a:pPr algn="r"/>
            <a:r>
              <a:rPr lang="en-US" sz="3200">
                <a:ea typeface="Open Sans Light"/>
                <a:cs typeface="Open Sans Light"/>
              </a:rPr>
              <a:t>1-7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5E2D8BD-9115-A4A9-A7B0-05B57E0B26C1}"/>
              </a:ext>
            </a:extLst>
          </p:cNvPr>
          <p:cNvSpPr/>
          <p:nvPr/>
        </p:nvSpPr>
        <p:spPr>
          <a:xfrm>
            <a:off x="8106595" y="3673532"/>
            <a:ext cx="1994139" cy="5847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365760" bIns="45720" rtlCol="0" anchor="ctr">
            <a:spAutoFit/>
          </a:bodyPr>
          <a:lstStyle/>
          <a:p>
            <a:pPr algn="r"/>
            <a:r>
              <a:rPr lang="en-US" sz="3200"/>
              <a:t>Yes/No</a:t>
            </a:r>
            <a:endParaRPr lang="en-US" sz="3200">
              <a:ea typeface="Open Sans Light"/>
              <a:cs typeface="Open Sans Light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CEBEC45-6AA0-A2F7-FB78-721DB2493780}"/>
              </a:ext>
            </a:extLst>
          </p:cNvPr>
          <p:cNvSpPr/>
          <p:nvPr/>
        </p:nvSpPr>
        <p:spPr>
          <a:xfrm>
            <a:off x="6988995" y="4505212"/>
            <a:ext cx="1994139" cy="5847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365760" bIns="45720" rtlCol="0" anchor="ctr">
            <a:spAutoFit/>
          </a:bodyPr>
          <a:lstStyle/>
          <a:p>
            <a:pPr algn="r"/>
            <a:r>
              <a:rPr lang="en-US" sz="3200">
                <a:ea typeface="Open Sans Light"/>
                <a:cs typeface="Open Sans Light"/>
              </a:rPr>
              <a:t>0-10</a:t>
            </a:r>
            <a:endParaRPr lang="en-US" sz="32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C8F0E1D-6C1F-47C0-E7E7-0CC1B489D94D}"/>
              </a:ext>
            </a:extLst>
          </p:cNvPr>
          <p:cNvSpPr/>
          <p:nvPr/>
        </p:nvSpPr>
        <p:spPr>
          <a:xfrm>
            <a:off x="9224193" y="2021989"/>
            <a:ext cx="1994139" cy="5847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365760" bIns="45720" rtlCol="0" anchor="ctr">
            <a:spAutoFit/>
          </a:bodyPr>
          <a:lstStyle/>
          <a:p>
            <a:pPr algn="r"/>
            <a:r>
              <a:rPr lang="en-US" sz="3200">
                <a:ea typeface="Open Sans Light"/>
                <a:cs typeface="Open Sans Light"/>
              </a:rPr>
              <a:t>0-5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F54B291-2A1E-33AA-0509-52DE48524252}"/>
              </a:ext>
            </a:extLst>
          </p:cNvPr>
          <p:cNvSpPr/>
          <p:nvPr/>
        </p:nvSpPr>
        <p:spPr>
          <a:xfrm>
            <a:off x="5014825" y="2011478"/>
            <a:ext cx="4240028" cy="679697"/>
          </a:xfrm>
          <a:prstGeom prst="rect">
            <a:avLst/>
          </a:prstGeom>
        </p:spPr>
        <p:txBody>
          <a:bodyPr wrap="square" lIns="0" tIns="45720" rIns="0" bIns="45720" anchor="t">
            <a:spAutoFit/>
          </a:bodyPr>
          <a:lstStyle/>
          <a:p>
            <a:pPr>
              <a:lnSpc>
                <a:spcPct val="85000"/>
              </a:lnSpc>
            </a:pPr>
            <a:r>
              <a:rPr lang="en-US" sz="1450">
                <a:solidFill>
                  <a:srgbClr val="FFFFFF"/>
                </a:solidFill>
                <a:ea typeface="+mn-lt"/>
                <a:cs typeface="+mn-lt"/>
              </a:rPr>
              <a:t>Real trade-off: </a:t>
            </a:r>
            <a:r>
              <a:rPr lang="en-US" sz="1450" b="1">
                <a:solidFill>
                  <a:srgbClr val="FFFFFF"/>
                </a:solidFill>
                <a:ea typeface="+mn-lt"/>
                <a:cs typeface="+mn-lt"/>
              </a:rPr>
              <a:t>Time cost is explicit</a:t>
            </a:r>
            <a:endParaRPr lang="en-US" sz="1450" b="1">
              <a:solidFill>
                <a:srgbClr val="57565A"/>
              </a:solidFill>
              <a:ea typeface="+mn-lt"/>
              <a:cs typeface="+mn-lt"/>
            </a:endParaRPr>
          </a:p>
          <a:p>
            <a:pPr>
              <a:lnSpc>
                <a:spcPct val="85000"/>
              </a:lnSpc>
            </a:pPr>
            <a:r>
              <a:rPr lang="en-US" sz="1450" b="1">
                <a:solidFill>
                  <a:srgbClr val="FFFFFF"/>
                </a:solidFill>
                <a:ea typeface="+mn-lt"/>
                <a:cs typeface="+mn-lt"/>
              </a:rPr>
              <a:t>Actually implemented</a:t>
            </a:r>
            <a:r>
              <a:rPr lang="en-US" sz="1450">
                <a:solidFill>
                  <a:srgbClr val="FFFFFF"/>
                </a:solidFill>
                <a:ea typeface="+mn-lt"/>
                <a:cs typeface="+mn-lt"/>
              </a:rPr>
              <a:t>: </a:t>
            </a:r>
            <a:endParaRPr lang="en-US">
              <a:solidFill>
                <a:srgbClr val="57565A"/>
              </a:solidFill>
              <a:ea typeface="+mn-lt"/>
              <a:cs typeface="+mn-lt"/>
            </a:endParaRPr>
          </a:p>
          <a:p>
            <a:pPr>
              <a:lnSpc>
                <a:spcPct val="85000"/>
              </a:lnSpc>
            </a:pPr>
            <a:r>
              <a:rPr lang="en-US" sz="1450">
                <a:solidFill>
                  <a:srgbClr val="FFFFFF"/>
                </a:solidFill>
                <a:ea typeface="+mn-lt"/>
                <a:cs typeface="+mn-lt"/>
              </a:rPr>
              <a:t>They must play the rounds they choose</a:t>
            </a:r>
            <a:endParaRPr lang="en-US">
              <a:ea typeface="Open Sans Light"/>
              <a:cs typeface="Open Sans Light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8A4C187-1F21-91C1-A572-13C2ABD1F179}"/>
              </a:ext>
            </a:extLst>
          </p:cNvPr>
          <p:cNvSpPr/>
          <p:nvPr/>
        </p:nvSpPr>
        <p:spPr>
          <a:xfrm>
            <a:off x="5020733" y="2825438"/>
            <a:ext cx="3454400" cy="472309"/>
          </a:xfrm>
          <a:prstGeom prst="rect">
            <a:avLst/>
          </a:prstGeom>
        </p:spPr>
        <p:txBody>
          <a:bodyPr wrap="square" lIns="0" tIns="45720" rIns="0" bIns="45720" anchor="t">
            <a:spAutoFit/>
          </a:bodyPr>
          <a:lstStyle/>
          <a:p>
            <a:pPr>
              <a:lnSpc>
                <a:spcPct val="85000"/>
              </a:lnSpc>
            </a:pPr>
            <a:r>
              <a:rPr lang="en-US" sz="1450">
                <a:solidFill>
                  <a:srgbClr val="FFFFFF"/>
                </a:solidFill>
              </a:rPr>
              <a:t>Captures</a:t>
            </a:r>
            <a:r>
              <a:rPr lang="en-US" sz="1450">
                <a:solidFill>
                  <a:srgbClr val="FFFFFF"/>
                </a:solidFill>
                <a:ea typeface="+mn-lt"/>
                <a:cs typeface="+mn-lt"/>
              </a:rPr>
              <a:t> a different dimension: </a:t>
            </a:r>
            <a:r>
              <a:rPr lang="en-US" sz="1450" b="1">
                <a:solidFill>
                  <a:srgbClr val="FFFFFF"/>
                </a:solidFill>
                <a:ea typeface="+mn-lt"/>
                <a:cs typeface="+mn-lt"/>
              </a:rPr>
              <a:t>future engagement</a:t>
            </a:r>
            <a:r>
              <a:rPr lang="en-US" sz="1450">
                <a:solidFill>
                  <a:srgbClr val="FFFFFF"/>
                </a:solidFill>
                <a:ea typeface="+mn-lt"/>
                <a:cs typeface="+mn-lt"/>
              </a:rPr>
              <a:t> vs. </a:t>
            </a:r>
            <a:r>
              <a:rPr lang="en-US" sz="1450" b="1">
                <a:solidFill>
                  <a:srgbClr val="FFFFFF"/>
                </a:solidFill>
                <a:ea typeface="+mn-lt"/>
                <a:cs typeface="+mn-lt"/>
              </a:rPr>
              <a:t>immediate persistence</a:t>
            </a:r>
            <a:endParaRPr lang="en-US" b="1">
              <a:ea typeface="Open Sans Light"/>
              <a:cs typeface="Open Sans Light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DC0801D-1AFC-15D4-FB1F-CA4063799413}"/>
              </a:ext>
            </a:extLst>
          </p:cNvPr>
          <p:cNvSpPr/>
          <p:nvPr/>
        </p:nvSpPr>
        <p:spPr>
          <a:xfrm>
            <a:off x="5020733" y="3657117"/>
            <a:ext cx="3454400" cy="661976"/>
          </a:xfrm>
          <a:prstGeom prst="rect">
            <a:avLst/>
          </a:prstGeom>
        </p:spPr>
        <p:txBody>
          <a:bodyPr wrap="square" lIns="0" tIns="45720" rIns="0" bIns="45720" anchor="t">
            <a:spAutoFit/>
          </a:bodyPr>
          <a:lstStyle/>
          <a:p>
            <a:pPr>
              <a:lnSpc>
                <a:spcPct val="85000"/>
              </a:lnSpc>
            </a:pPr>
            <a:r>
              <a:rPr lang="en-US" sz="1450">
                <a:solidFill>
                  <a:srgbClr val="FFFFFF"/>
                </a:solidFill>
                <a:ea typeface="+mn-lt"/>
                <a:cs typeface="+mn-lt"/>
              </a:rPr>
              <a:t>Continuous analysis (how much persistence)</a:t>
            </a:r>
            <a:endParaRPr lang="en-US"/>
          </a:p>
          <a:p>
            <a:pPr>
              <a:lnSpc>
                <a:spcPct val="85000"/>
              </a:lnSpc>
            </a:pPr>
            <a:r>
              <a:rPr lang="en-US" sz="1450">
                <a:solidFill>
                  <a:srgbClr val="FFFFFF"/>
                </a:solidFill>
                <a:ea typeface="+mn-lt"/>
                <a:cs typeface="+mn-lt"/>
              </a:rPr>
              <a:t>Binary analysis (whether they persist )</a:t>
            </a:r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B4797AD-9F14-A3E0-2D02-79975149E604}"/>
              </a:ext>
            </a:extLst>
          </p:cNvPr>
          <p:cNvSpPr/>
          <p:nvPr/>
        </p:nvSpPr>
        <p:spPr>
          <a:xfrm>
            <a:off x="5020733" y="4488797"/>
            <a:ext cx="3454400" cy="661976"/>
          </a:xfrm>
          <a:prstGeom prst="rect">
            <a:avLst/>
          </a:prstGeom>
        </p:spPr>
        <p:txBody>
          <a:bodyPr wrap="square" lIns="0" tIns="45720" rIns="0" bIns="45720" anchor="t">
            <a:spAutoFit/>
          </a:bodyPr>
          <a:lstStyle/>
          <a:p>
            <a:pPr>
              <a:lnSpc>
                <a:spcPct val="85000"/>
              </a:lnSpc>
            </a:pPr>
            <a:r>
              <a:rPr lang="en-US" sz="1450">
                <a:solidFill>
                  <a:srgbClr val="FFFFFF"/>
                </a:solidFill>
                <a:ea typeface="+mn-lt"/>
                <a:cs typeface="+mn-lt"/>
              </a:rPr>
              <a:t>Captures </a:t>
            </a:r>
            <a:r>
              <a:rPr lang="en-US" sz="1450" b="1">
                <a:solidFill>
                  <a:srgbClr val="FFFFFF"/>
                </a:solidFill>
                <a:ea typeface="+mn-lt"/>
                <a:cs typeface="+mn-lt"/>
              </a:rPr>
              <a:t>expected success rate</a:t>
            </a:r>
            <a:endParaRPr lang="en-US">
              <a:solidFill>
                <a:srgbClr val="57565A"/>
              </a:solidFill>
              <a:ea typeface="+mn-lt"/>
              <a:cs typeface="+mn-lt"/>
            </a:endParaRPr>
          </a:p>
          <a:p>
            <a:pPr>
              <a:lnSpc>
                <a:spcPct val="85000"/>
              </a:lnSpc>
            </a:pPr>
            <a:r>
              <a:rPr lang="en-US" sz="1450">
                <a:solidFill>
                  <a:srgbClr val="FFFFFF"/>
                </a:solidFill>
                <a:ea typeface="+mn-lt"/>
                <a:cs typeface="+mn-lt"/>
              </a:rPr>
              <a:t>distinct from willingness</a:t>
            </a:r>
            <a:endParaRPr lang="en-US">
              <a:solidFill>
                <a:srgbClr val="57565A"/>
              </a:solidFill>
              <a:ea typeface="+mn-lt"/>
              <a:cs typeface="+mn-lt"/>
            </a:endParaRPr>
          </a:p>
          <a:p>
            <a:pPr>
              <a:lnSpc>
                <a:spcPct val="85000"/>
              </a:lnSpc>
            </a:pPr>
            <a:endParaRPr lang="en-US" sz="1450">
              <a:solidFill>
                <a:srgbClr val="FFFFFF"/>
              </a:solidFill>
              <a:ea typeface="Open Sans Light"/>
              <a:cs typeface="Open Sans Ligh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F7109EC-9628-C2A7-3331-058D149B4AE5}"/>
              </a:ext>
            </a:extLst>
          </p:cNvPr>
          <p:cNvSpPr/>
          <p:nvPr/>
        </p:nvSpPr>
        <p:spPr>
          <a:xfrm>
            <a:off x="-55033" y="2223522"/>
            <a:ext cx="1318093" cy="1322847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67"/>
              <a:t>02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048F3C5-E508-6D82-32D3-49A430ABD85D}"/>
              </a:ext>
            </a:extLst>
          </p:cNvPr>
          <p:cNvSpPr/>
          <p:nvPr/>
        </p:nvSpPr>
        <p:spPr>
          <a:xfrm>
            <a:off x="-55033" y="931334"/>
            <a:ext cx="1318093" cy="132284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67"/>
              <a:t>01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5B5FF7-EFCE-8C39-7F78-B955900A4E85}"/>
              </a:ext>
            </a:extLst>
          </p:cNvPr>
          <p:cNvSpPr/>
          <p:nvPr/>
        </p:nvSpPr>
        <p:spPr>
          <a:xfrm>
            <a:off x="-55033" y="3541265"/>
            <a:ext cx="1318093" cy="132284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67"/>
              <a:t>03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6E9F78C-2FA2-5CED-449E-2D858C2D0098}"/>
              </a:ext>
            </a:extLst>
          </p:cNvPr>
          <p:cNvSpPr/>
          <p:nvPr/>
        </p:nvSpPr>
        <p:spPr>
          <a:xfrm>
            <a:off x="-55033" y="4827211"/>
            <a:ext cx="1318093" cy="1322847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67"/>
              <a:t>04</a:t>
            </a:r>
          </a:p>
        </p:txBody>
      </p:sp>
      <p:sp>
        <p:nvSpPr>
          <p:cNvPr id="16" name="Manual Input 10">
            <a:extLst>
              <a:ext uri="{FF2B5EF4-FFF2-40B4-BE49-F238E27FC236}">
                <a16:creationId xmlns:a16="http://schemas.microsoft.com/office/drawing/2014/main" id="{2CA48058-DA72-D7B8-D661-1F678BB31C1B}"/>
              </a:ext>
            </a:extLst>
          </p:cNvPr>
          <p:cNvSpPr/>
          <p:nvPr/>
        </p:nvSpPr>
        <p:spPr>
          <a:xfrm flipH="1">
            <a:off x="1252618" y="931334"/>
            <a:ext cx="618516" cy="2606879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18 w 10000"/>
              <a:gd name="connsiteY0" fmla="*/ 4474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18 w 10000"/>
              <a:gd name="connsiteY4" fmla="*/ 4474 h 10000"/>
              <a:gd name="connsiteX0" fmla="*/ 18 w 10000"/>
              <a:gd name="connsiteY0" fmla="*/ 3659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18 w 10000"/>
              <a:gd name="connsiteY4" fmla="*/ 3659 h 10000"/>
              <a:gd name="connsiteX0" fmla="*/ 18 w 10000"/>
              <a:gd name="connsiteY0" fmla="*/ 3627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18 w 10000"/>
              <a:gd name="connsiteY4" fmla="*/ 3627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18" y="3627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ubicBezTo>
                  <a:pt x="6" y="7886"/>
                  <a:pt x="12" y="5741"/>
                  <a:pt x="18" y="3627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39" name="Manual Input 10">
            <a:extLst>
              <a:ext uri="{FF2B5EF4-FFF2-40B4-BE49-F238E27FC236}">
                <a16:creationId xmlns:a16="http://schemas.microsoft.com/office/drawing/2014/main" id="{8BF1AF10-DF5C-DC4C-19BC-B064ED63C2F1}"/>
              </a:ext>
            </a:extLst>
          </p:cNvPr>
          <p:cNvSpPr/>
          <p:nvPr/>
        </p:nvSpPr>
        <p:spPr>
          <a:xfrm flipH="1">
            <a:off x="1252618" y="2269760"/>
            <a:ext cx="618516" cy="1276608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18 w 10000"/>
              <a:gd name="connsiteY0" fmla="*/ 4474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18 w 10000"/>
              <a:gd name="connsiteY4" fmla="*/ 4474 h 10000"/>
              <a:gd name="connsiteX0" fmla="*/ 18 w 10000"/>
              <a:gd name="connsiteY0" fmla="*/ 3659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18 w 10000"/>
              <a:gd name="connsiteY4" fmla="*/ 3659 h 10000"/>
              <a:gd name="connsiteX0" fmla="*/ 18 w 10000"/>
              <a:gd name="connsiteY0" fmla="*/ 3627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18 w 10000"/>
              <a:gd name="connsiteY4" fmla="*/ 3627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18" y="3627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ubicBezTo>
                  <a:pt x="6" y="7886"/>
                  <a:pt x="12" y="5741"/>
                  <a:pt x="18" y="3627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267"/>
          </a:p>
        </p:txBody>
      </p:sp>
      <p:sp>
        <p:nvSpPr>
          <p:cNvPr id="41" name="Manual Input 10">
            <a:extLst>
              <a:ext uri="{FF2B5EF4-FFF2-40B4-BE49-F238E27FC236}">
                <a16:creationId xmlns:a16="http://schemas.microsoft.com/office/drawing/2014/main" id="{0950966C-87B6-9BA3-6358-2B4C55D203BE}"/>
              </a:ext>
            </a:extLst>
          </p:cNvPr>
          <p:cNvSpPr/>
          <p:nvPr/>
        </p:nvSpPr>
        <p:spPr>
          <a:xfrm flipH="1" flipV="1">
            <a:off x="1252617" y="3541263"/>
            <a:ext cx="618516" cy="2606879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18 w 10000"/>
              <a:gd name="connsiteY0" fmla="*/ 4474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18 w 10000"/>
              <a:gd name="connsiteY4" fmla="*/ 4474 h 10000"/>
              <a:gd name="connsiteX0" fmla="*/ 18 w 10000"/>
              <a:gd name="connsiteY0" fmla="*/ 3659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18 w 10000"/>
              <a:gd name="connsiteY4" fmla="*/ 3659 h 10000"/>
              <a:gd name="connsiteX0" fmla="*/ 18 w 10000"/>
              <a:gd name="connsiteY0" fmla="*/ 3627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18 w 10000"/>
              <a:gd name="connsiteY4" fmla="*/ 3627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18" y="3627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ubicBezTo>
                  <a:pt x="6" y="7886"/>
                  <a:pt x="12" y="5741"/>
                  <a:pt x="18" y="3627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42" name="Manual Input 10">
            <a:extLst>
              <a:ext uri="{FF2B5EF4-FFF2-40B4-BE49-F238E27FC236}">
                <a16:creationId xmlns:a16="http://schemas.microsoft.com/office/drawing/2014/main" id="{B82C5D35-0D59-2542-B26B-015235F73C96}"/>
              </a:ext>
            </a:extLst>
          </p:cNvPr>
          <p:cNvSpPr/>
          <p:nvPr/>
        </p:nvSpPr>
        <p:spPr>
          <a:xfrm flipH="1" flipV="1">
            <a:off x="1252617" y="3541264"/>
            <a:ext cx="618516" cy="1276608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18 w 10000"/>
              <a:gd name="connsiteY0" fmla="*/ 4474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18 w 10000"/>
              <a:gd name="connsiteY4" fmla="*/ 4474 h 10000"/>
              <a:gd name="connsiteX0" fmla="*/ 18 w 10000"/>
              <a:gd name="connsiteY0" fmla="*/ 3659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18 w 10000"/>
              <a:gd name="connsiteY4" fmla="*/ 3659 h 10000"/>
              <a:gd name="connsiteX0" fmla="*/ 18 w 10000"/>
              <a:gd name="connsiteY0" fmla="*/ 3627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18 w 10000"/>
              <a:gd name="connsiteY4" fmla="*/ 3627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18" y="3627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ubicBezTo>
                  <a:pt x="6" y="7886"/>
                  <a:pt x="12" y="5741"/>
                  <a:pt x="18" y="3627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267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BB071B-155E-0270-18CB-C345EF154381}"/>
              </a:ext>
            </a:extLst>
          </p:cNvPr>
          <p:cNvSpPr txBox="1"/>
          <p:nvPr/>
        </p:nvSpPr>
        <p:spPr>
          <a:xfrm>
            <a:off x="103573" y="6288348"/>
            <a:ext cx="1893902" cy="369332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29E339-682E-179A-B179-253BB77B664E}"/>
              </a:ext>
            </a:extLst>
          </p:cNvPr>
          <p:cNvSpPr txBox="1"/>
          <p:nvPr/>
        </p:nvSpPr>
        <p:spPr>
          <a:xfrm>
            <a:off x="8360150" y="6211557"/>
            <a:ext cx="3580659" cy="524691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256222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"/>
                            </p:stCondLst>
                            <p:childTnLst>
                              <p:par>
                                <p:cTn id="18" presetID="2" presetClass="entr" presetSubtype="8" decel="6666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decel="7142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decel="75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decel="88889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3.82716E-6 L 1.07396 -3.82716E-6 " pathEditMode="relative" rAng="0" ptsTypes="AA">
                                      <p:cBhvr>
                                        <p:cTn id="37" dur="6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698" y="0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1.23457E-7 L 1.09375 0.00062 " pathEditMode="relative" rAng="0" ptsTypes="AA">
                                      <p:cBhvr>
                                        <p:cTn id="39" dur="6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688" y="31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3.58025E-6 L 1.09132 3.58025E-6 " pathEditMode="relative" rAng="0" ptsTypes="AA">
                                      <p:cBhvr>
                                        <p:cTn id="41" dur="6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566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71605E-6 L 1.07396 -2.71605E-6 " pathEditMode="relative" rAng="0" ptsTypes="AA">
                                      <p:cBhvr>
                                        <p:cTn id="43" dur="6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69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1" grpId="0" animBg="1"/>
      <p:bldP spid="72" grpId="0" animBg="1"/>
      <p:bldP spid="73" grpId="0" animBg="1"/>
      <p:bldP spid="8" grpId="0" animBg="1"/>
      <p:bldP spid="9" grpId="0" animBg="1"/>
      <p:bldP spid="10" grpId="0" animBg="1"/>
      <p:bldP spid="17" grpId="0" animBg="1"/>
      <p:bldP spid="16" grpId="0" animBg="1"/>
      <p:bldP spid="39" grpId="0" animBg="1"/>
      <p:bldP spid="41" grpId="0" animBg="1"/>
      <p:bldP spid="4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476" y="744753"/>
            <a:ext cx="3251918" cy="570702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47529" y="1357722"/>
            <a:ext cx="2232248" cy="3941064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tx2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4000">
              <a:solidFill>
                <a:srgbClr val="FFFFFF"/>
              </a:solidFill>
              <a:ea typeface="Open Sans Light"/>
              <a:cs typeface="Open Sans Ligh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62663" y="1179862"/>
            <a:ext cx="6336704" cy="8863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>
                <a:solidFill>
                  <a:schemeClr val="accent1"/>
                </a:solidFill>
                <a:ea typeface="+mn-lt"/>
                <a:cs typeface="+mn-lt"/>
              </a:rPr>
              <a:t>Random assignment to one of the four conditions</a:t>
            </a:r>
            <a:r>
              <a:rPr lang="en-US" sz="3200">
                <a:solidFill>
                  <a:schemeClr val="accent1"/>
                </a:solidFill>
              </a:rPr>
              <a:t> 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62663" y="2143353"/>
            <a:ext cx="6228692" cy="193899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1400">
                <a:solidFill>
                  <a:srgbClr val="57565A"/>
                </a:solidFill>
              </a:rPr>
              <a:t>This is a between-subjects design (each participant experiences only one condition) because:</a:t>
            </a:r>
          </a:p>
          <a:p>
            <a:r>
              <a:rPr lang="en-US" sz="1400">
                <a:ea typeface="+mn-lt"/>
                <a:cs typeface="+mn-lt"/>
              </a:rPr>
              <a:t>-</a:t>
            </a:r>
            <a:r>
              <a:rPr lang="en-US" sz="1400" b="1">
                <a:ea typeface="+mn-lt"/>
                <a:cs typeface="+mn-lt"/>
              </a:rPr>
              <a:t>Avoids demand effects:</a:t>
            </a:r>
            <a:r>
              <a:rPr lang="en-US" sz="1400">
                <a:ea typeface="+mn-lt"/>
                <a:cs typeface="+mn-lt"/>
              </a:rPr>
              <a:t> If participants see both skill and luck framing, they might guess the hypothesis</a:t>
            </a:r>
            <a:endParaRPr lang="en-US"/>
          </a:p>
          <a:p>
            <a:r>
              <a:rPr lang="en-US" sz="1400">
                <a:ea typeface="+mn-lt"/>
                <a:cs typeface="+mn-lt"/>
              </a:rPr>
              <a:t>- </a:t>
            </a:r>
            <a:r>
              <a:rPr lang="en-US" sz="1400" b="1">
                <a:ea typeface="+mn-lt"/>
                <a:cs typeface="+mn-lt"/>
              </a:rPr>
              <a:t>Avoids carryover: </a:t>
            </a:r>
            <a:r>
              <a:rPr lang="en-US" sz="1400">
                <a:ea typeface="+mn-lt"/>
                <a:cs typeface="+mn-lt"/>
              </a:rPr>
              <a:t>The experience of one framing would contaminate the other</a:t>
            </a:r>
            <a:endParaRPr lang="en-US"/>
          </a:p>
          <a:p>
            <a:r>
              <a:rPr lang="en-US" sz="1400">
                <a:ea typeface="+mn-lt"/>
                <a:cs typeface="+mn-lt"/>
              </a:rPr>
              <a:t>- </a:t>
            </a:r>
            <a:r>
              <a:rPr lang="en-US" sz="1400" b="1">
                <a:ea typeface="+mn-lt"/>
                <a:cs typeface="+mn-lt"/>
              </a:rPr>
              <a:t>Cleaner causal inference:</a:t>
            </a:r>
            <a:r>
              <a:rPr lang="en-US" sz="1400">
                <a:ea typeface="+mn-lt"/>
                <a:cs typeface="+mn-lt"/>
              </a:rPr>
              <a:t> Each observation is independent</a:t>
            </a:r>
            <a:endParaRPr lang="en-US"/>
          </a:p>
          <a:p>
            <a:r>
              <a:rPr lang="en-US" sz="1400">
                <a:ea typeface="+mn-lt"/>
                <a:cs typeface="+mn-lt"/>
              </a:rPr>
              <a:t>- </a:t>
            </a:r>
            <a:r>
              <a:rPr lang="en-US" sz="1400" b="1">
                <a:ea typeface="+mn-lt"/>
                <a:cs typeface="+mn-lt"/>
              </a:rPr>
              <a:t>Practical:</a:t>
            </a:r>
            <a:r>
              <a:rPr lang="en-US" sz="1400">
                <a:ea typeface="+mn-lt"/>
                <a:cs typeface="+mn-lt"/>
              </a:rPr>
              <a:t> Shorter survey per participant</a:t>
            </a:r>
            <a:endParaRPr lang="en-US"/>
          </a:p>
          <a:p>
            <a:endParaRPr lang="en-US" sz="1400">
              <a:ea typeface="Open Sans Light"/>
              <a:cs typeface="Open Sans Light"/>
            </a:endParaRPr>
          </a:p>
        </p:txBody>
      </p:sp>
      <p:sp>
        <p:nvSpPr>
          <p:cNvPr id="7" name="Oval 6"/>
          <p:cNvSpPr/>
          <p:nvPr/>
        </p:nvSpPr>
        <p:spPr>
          <a:xfrm>
            <a:off x="5056765" y="3999284"/>
            <a:ext cx="953282" cy="953282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Skill</a:t>
            </a:r>
            <a:endParaRPr lang="en-US" sz="1600">
              <a:solidFill>
                <a:schemeClr val="tx1"/>
              </a:solidFill>
              <a:ea typeface="Open Sans Light"/>
              <a:cs typeface="Open Sans Light"/>
            </a:endParaRPr>
          </a:p>
        </p:txBody>
      </p:sp>
      <p:sp>
        <p:nvSpPr>
          <p:cNvPr id="8" name="Oval 7"/>
          <p:cNvSpPr/>
          <p:nvPr/>
        </p:nvSpPr>
        <p:spPr>
          <a:xfrm>
            <a:off x="6671558" y="3999284"/>
            <a:ext cx="953282" cy="953282"/>
          </a:xfrm>
          <a:prstGeom prst="ellipse">
            <a:avLst/>
          </a:prstGeom>
          <a:noFill/>
          <a:ln w="2857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Luck</a:t>
            </a:r>
            <a:endParaRPr lang="en-US">
              <a:solidFill>
                <a:schemeClr val="tx1"/>
              </a:solidFill>
              <a:ea typeface="Open Sans Light"/>
              <a:cs typeface="Open Sans Light"/>
            </a:endParaRPr>
          </a:p>
        </p:txBody>
      </p:sp>
      <p:sp>
        <p:nvSpPr>
          <p:cNvPr id="9" name="Oval 8"/>
          <p:cNvSpPr/>
          <p:nvPr/>
        </p:nvSpPr>
        <p:spPr>
          <a:xfrm>
            <a:off x="8286351" y="3999284"/>
            <a:ext cx="953282" cy="953282"/>
          </a:xfrm>
          <a:prstGeom prst="ellipse">
            <a:avLst/>
          </a:prstGeom>
          <a:noFill/>
          <a:ln w="2857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Near-miss</a:t>
            </a:r>
            <a:endParaRPr lang="en-US" sz="1600">
              <a:solidFill>
                <a:schemeClr val="tx1"/>
              </a:solidFill>
              <a:ea typeface="Open Sans Light"/>
              <a:cs typeface="Open Sans Light"/>
            </a:endParaRPr>
          </a:p>
        </p:txBody>
      </p:sp>
      <p:sp>
        <p:nvSpPr>
          <p:cNvPr id="10" name="Oval 9"/>
          <p:cNvSpPr/>
          <p:nvPr/>
        </p:nvSpPr>
        <p:spPr>
          <a:xfrm>
            <a:off x="9901144" y="3999284"/>
            <a:ext cx="953282" cy="953282"/>
          </a:xfrm>
          <a:prstGeom prst="ellipse">
            <a:avLst/>
          </a:prstGeom>
          <a:noFill/>
          <a:ln w="28575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Clear-loss</a:t>
            </a:r>
            <a:endParaRPr lang="en-US" sz="1600">
              <a:solidFill>
                <a:schemeClr val="tx1"/>
              </a:solidFill>
              <a:ea typeface="Open Sans Light"/>
              <a:cs typeface="Open Sans Light"/>
            </a:endParaRPr>
          </a:p>
        </p:txBody>
      </p:sp>
      <p:sp>
        <p:nvSpPr>
          <p:cNvPr id="15" name="Pentagon 6">
            <a:extLst>
              <a:ext uri="{FF2B5EF4-FFF2-40B4-BE49-F238E27FC236}">
                <a16:creationId xmlns:a16="http://schemas.microsoft.com/office/drawing/2014/main" id="{93C53614-7E06-F427-2572-ED176F284AEC}"/>
              </a:ext>
            </a:extLst>
          </p:cNvPr>
          <p:cNvSpPr/>
          <p:nvPr/>
        </p:nvSpPr>
        <p:spPr>
          <a:xfrm rot="16200000">
            <a:off x="2089745" y="1218989"/>
            <a:ext cx="1728192" cy="2174157"/>
          </a:xfrm>
          <a:prstGeom prst="homePlate">
            <a:avLst>
              <a:gd name="adj" fmla="val 19870"/>
            </a:avLst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vert" lIns="97536" tIns="0" rIns="0" bIns="0" rtlCol="0" anchor="b" anchorCtr="0"/>
          <a:lstStyle/>
          <a:p>
            <a:pPr algn="ctr"/>
            <a:r>
              <a:rPr lang="en-US" sz="2100">
                <a:solidFill>
                  <a:srgbClr val="FFFFFF"/>
                </a:solidFill>
              </a:rPr>
              <a:t>+-50%</a:t>
            </a:r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17" name="Pentagon 10">
            <a:extLst>
              <a:ext uri="{FF2B5EF4-FFF2-40B4-BE49-F238E27FC236}">
                <a16:creationId xmlns:a16="http://schemas.microsoft.com/office/drawing/2014/main" id="{B10DFEEE-A037-C802-141D-7B22AB2BA26B}"/>
              </a:ext>
            </a:extLst>
          </p:cNvPr>
          <p:cNvSpPr/>
          <p:nvPr/>
        </p:nvSpPr>
        <p:spPr>
          <a:xfrm rot="5400000">
            <a:off x="2265652" y="2794900"/>
            <a:ext cx="1376380" cy="2174157"/>
          </a:xfrm>
          <a:prstGeom prst="homePlate">
            <a:avLst>
              <a:gd name="adj" fmla="val 19870"/>
            </a:avLst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vert270" lIns="97536" tIns="0" rIns="0" bIns="0" rtlCol="0" anchor="t" anchorCtr="0"/>
          <a:lstStyle/>
          <a:p>
            <a:pPr algn="ctr"/>
            <a:r>
              <a:rPr lang="en-US" sz="2100">
                <a:solidFill>
                  <a:srgbClr val="FFFFFF"/>
                </a:solidFill>
              </a:rPr>
              <a:t>+-50%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201A911-B324-6A13-5412-D2CE838AB5D1}"/>
              </a:ext>
            </a:extLst>
          </p:cNvPr>
          <p:cNvGrpSpPr>
            <a:grpSpLocks noChangeAspect="1"/>
          </p:cNvGrpSpPr>
          <p:nvPr/>
        </p:nvGrpSpPr>
        <p:grpSpPr>
          <a:xfrm>
            <a:off x="2778285" y="3715753"/>
            <a:ext cx="351112" cy="699918"/>
            <a:chOff x="4542701" y="-2257066"/>
            <a:chExt cx="725488" cy="1446213"/>
          </a:xfrm>
        </p:grpSpPr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F10B4BF7-F87F-9AA6-B985-EF39EF65B9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68126" y="-2257066"/>
              <a:ext cx="273050" cy="273050"/>
            </a:xfrm>
            <a:custGeom>
              <a:avLst/>
              <a:gdLst>
                <a:gd name="T0" fmla="*/ 23 w 46"/>
                <a:gd name="T1" fmla="*/ 46 h 46"/>
                <a:gd name="T2" fmla="*/ 0 w 46"/>
                <a:gd name="T3" fmla="*/ 23 h 46"/>
                <a:gd name="T4" fmla="*/ 23 w 46"/>
                <a:gd name="T5" fmla="*/ 0 h 46"/>
                <a:gd name="T6" fmla="*/ 46 w 46"/>
                <a:gd name="T7" fmla="*/ 23 h 46"/>
                <a:gd name="T8" fmla="*/ 23 w 46"/>
                <a:gd name="T9" fmla="*/ 46 h 46"/>
                <a:gd name="T10" fmla="*/ 23 w 46"/>
                <a:gd name="T11" fmla="*/ 4 h 46"/>
                <a:gd name="T12" fmla="*/ 5 w 46"/>
                <a:gd name="T13" fmla="*/ 23 h 46"/>
                <a:gd name="T14" fmla="*/ 23 w 46"/>
                <a:gd name="T15" fmla="*/ 41 h 46"/>
                <a:gd name="T16" fmla="*/ 41 w 46"/>
                <a:gd name="T17" fmla="*/ 23 h 46"/>
                <a:gd name="T18" fmla="*/ 23 w 46"/>
                <a:gd name="T19" fmla="*/ 4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6" h="46">
                  <a:moveTo>
                    <a:pt x="23" y="46"/>
                  </a:moveTo>
                  <a:cubicBezTo>
                    <a:pt x="10" y="46"/>
                    <a:pt x="0" y="35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36" y="0"/>
                    <a:pt x="46" y="10"/>
                    <a:pt x="46" y="23"/>
                  </a:cubicBezTo>
                  <a:cubicBezTo>
                    <a:pt x="46" y="35"/>
                    <a:pt x="36" y="46"/>
                    <a:pt x="23" y="46"/>
                  </a:cubicBezTo>
                  <a:close/>
                  <a:moveTo>
                    <a:pt x="23" y="4"/>
                  </a:moveTo>
                  <a:cubicBezTo>
                    <a:pt x="13" y="4"/>
                    <a:pt x="5" y="13"/>
                    <a:pt x="5" y="23"/>
                  </a:cubicBezTo>
                  <a:cubicBezTo>
                    <a:pt x="5" y="33"/>
                    <a:pt x="13" y="41"/>
                    <a:pt x="23" y="41"/>
                  </a:cubicBezTo>
                  <a:cubicBezTo>
                    <a:pt x="33" y="41"/>
                    <a:pt x="41" y="33"/>
                    <a:pt x="41" y="23"/>
                  </a:cubicBezTo>
                  <a:cubicBezTo>
                    <a:pt x="41" y="13"/>
                    <a:pt x="33" y="4"/>
                    <a:pt x="23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>
                <a:solidFill>
                  <a:srgbClr val="FFFFFF"/>
                </a:solidFill>
              </a:endParaRPr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BEACE8F4-1894-4F9F-C965-289098A004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42701" y="-1953853"/>
              <a:ext cx="725488" cy="1143000"/>
            </a:xfrm>
            <a:custGeom>
              <a:avLst/>
              <a:gdLst>
                <a:gd name="T0" fmla="*/ 68 w 122"/>
                <a:gd name="T1" fmla="*/ 182 h 192"/>
                <a:gd name="T2" fmla="*/ 54 w 122"/>
                <a:gd name="T3" fmla="*/ 183 h 192"/>
                <a:gd name="T4" fmla="*/ 32 w 122"/>
                <a:gd name="T5" fmla="*/ 182 h 192"/>
                <a:gd name="T6" fmla="*/ 35 w 122"/>
                <a:gd name="T7" fmla="*/ 54 h 192"/>
                <a:gd name="T8" fmla="*/ 10 w 122"/>
                <a:gd name="T9" fmla="*/ 96 h 192"/>
                <a:gd name="T10" fmla="*/ 1 w 122"/>
                <a:gd name="T11" fmla="*/ 85 h 192"/>
                <a:gd name="T12" fmla="*/ 4 w 122"/>
                <a:gd name="T13" fmla="*/ 76 h 192"/>
                <a:gd name="T14" fmla="*/ 61 w 122"/>
                <a:gd name="T15" fmla="*/ 0 h 192"/>
                <a:gd name="T16" fmla="*/ 118 w 122"/>
                <a:gd name="T17" fmla="*/ 76 h 192"/>
                <a:gd name="T18" fmla="*/ 121 w 122"/>
                <a:gd name="T19" fmla="*/ 85 h 192"/>
                <a:gd name="T20" fmla="*/ 112 w 122"/>
                <a:gd name="T21" fmla="*/ 96 h 192"/>
                <a:gd name="T22" fmla="*/ 87 w 122"/>
                <a:gd name="T23" fmla="*/ 54 h 192"/>
                <a:gd name="T24" fmla="*/ 90 w 122"/>
                <a:gd name="T25" fmla="*/ 182 h 192"/>
                <a:gd name="T26" fmla="*/ 79 w 122"/>
                <a:gd name="T27" fmla="*/ 192 h 192"/>
                <a:gd name="T28" fmla="*/ 63 w 122"/>
                <a:gd name="T29" fmla="*/ 100 h 192"/>
                <a:gd name="T30" fmla="*/ 79 w 122"/>
                <a:gd name="T31" fmla="*/ 187 h 192"/>
                <a:gd name="T32" fmla="*/ 79 w 122"/>
                <a:gd name="T33" fmla="*/ 187 h 192"/>
                <a:gd name="T34" fmla="*/ 86 w 122"/>
                <a:gd name="T35" fmla="*/ 182 h 192"/>
                <a:gd name="T36" fmla="*/ 85 w 122"/>
                <a:gd name="T37" fmla="*/ 160 h 192"/>
                <a:gd name="T38" fmla="*/ 82 w 122"/>
                <a:gd name="T39" fmla="*/ 43 h 192"/>
                <a:gd name="T40" fmla="*/ 87 w 122"/>
                <a:gd name="T41" fmla="*/ 42 h 192"/>
                <a:gd name="T42" fmla="*/ 112 w 122"/>
                <a:gd name="T43" fmla="*/ 91 h 192"/>
                <a:gd name="T44" fmla="*/ 116 w 122"/>
                <a:gd name="T45" fmla="*/ 86 h 192"/>
                <a:gd name="T46" fmla="*/ 116 w 122"/>
                <a:gd name="T47" fmla="*/ 84 h 192"/>
                <a:gd name="T48" fmla="*/ 93 w 122"/>
                <a:gd name="T49" fmla="*/ 17 h 192"/>
                <a:gd name="T50" fmla="*/ 29 w 122"/>
                <a:gd name="T51" fmla="*/ 17 h 192"/>
                <a:gd name="T52" fmla="*/ 6 w 122"/>
                <a:gd name="T53" fmla="*/ 84 h 192"/>
                <a:gd name="T54" fmla="*/ 6 w 122"/>
                <a:gd name="T55" fmla="*/ 86 h 192"/>
                <a:gd name="T56" fmla="*/ 10 w 122"/>
                <a:gd name="T57" fmla="*/ 91 h 192"/>
                <a:gd name="T58" fmla="*/ 35 w 122"/>
                <a:gd name="T59" fmla="*/ 42 h 192"/>
                <a:gd name="T60" fmla="*/ 40 w 122"/>
                <a:gd name="T61" fmla="*/ 43 h 192"/>
                <a:gd name="T62" fmla="*/ 37 w 122"/>
                <a:gd name="T63" fmla="*/ 160 h 192"/>
                <a:gd name="T64" fmla="*/ 36 w 122"/>
                <a:gd name="T65" fmla="*/ 181 h 192"/>
                <a:gd name="T66" fmla="*/ 43 w 122"/>
                <a:gd name="T67" fmla="*/ 187 h 192"/>
                <a:gd name="T68" fmla="*/ 59 w 122"/>
                <a:gd name="T69" fmla="*/ 100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2" h="192">
                  <a:moveTo>
                    <a:pt x="79" y="192"/>
                  </a:moveTo>
                  <a:cubicBezTo>
                    <a:pt x="74" y="192"/>
                    <a:pt x="69" y="188"/>
                    <a:pt x="68" y="182"/>
                  </a:cubicBezTo>
                  <a:cubicBezTo>
                    <a:pt x="61" y="120"/>
                    <a:pt x="61" y="120"/>
                    <a:pt x="61" y="120"/>
                  </a:cubicBezTo>
                  <a:cubicBezTo>
                    <a:pt x="54" y="183"/>
                    <a:pt x="54" y="183"/>
                    <a:pt x="54" y="183"/>
                  </a:cubicBezTo>
                  <a:cubicBezTo>
                    <a:pt x="53" y="188"/>
                    <a:pt x="48" y="192"/>
                    <a:pt x="43" y="192"/>
                  </a:cubicBezTo>
                  <a:cubicBezTo>
                    <a:pt x="37" y="192"/>
                    <a:pt x="32" y="188"/>
                    <a:pt x="32" y="182"/>
                  </a:cubicBezTo>
                  <a:cubicBezTo>
                    <a:pt x="32" y="182"/>
                    <a:pt x="32" y="182"/>
                    <a:pt x="32" y="182"/>
                  </a:cubicBezTo>
                  <a:cubicBezTo>
                    <a:pt x="32" y="179"/>
                    <a:pt x="34" y="103"/>
                    <a:pt x="35" y="54"/>
                  </a:cubicBezTo>
                  <a:cubicBezTo>
                    <a:pt x="18" y="91"/>
                    <a:pt x="18" y="91"/>
                    <a:pt x="18" y="91"/>
                  </a:cubicBezTo>
                  <a:cubicBezTo>
                    <a:pt x="17" y="94"/>
                    <a:pt x="14" y="96"/>
                    <a:pt x="10" y="96"/>
                  </a:cubicBezTo>
                  <a:cubicBezTo>
                    <a:pt x="9" y="96"/>
                    <a:pt x="8" y="96"/>
                    <a:pt x="7" y="95"/>
                  </a:cubicBezTo>
                  <a:cubicBezTo>
                    <a:pt x="3" y="94"/>
                    <a:pt x="0" y="89"/>
                    <a:pt x="1" y="85"/>
                  </a:cubicBezTo>
                  <a:cubicBezTo>
                    <a:pt x="1" y="85"/>
                    <a:pt x="1" y="85"/>
                    <a:pt x="1" y="85"/>
                  </a:cubicBezTo>
                  <a:cubicBezTo>
                    <a:pt x="1" y="84"/>
                    <a:pt x="3" y="81"/>
                    <a:pt x="4" y="76"/>
                  </a:cubicBezTo>
                  <a:cubicBezTo>
                    <a:pt x="10" y="58"/>
                    <a:pt x="22" y="21"/>
                    <a:pt x="25" y="15"/>
                  </a:cubicBezTo>
                  <a:cubicBezTo>
                    <a:pt x="30" y="4"/>
                    <a:pt x="41" y="0"/>
                    <a:pt x="61" y="0"/>
                  </a:cubicBezTo>
                  <a:cubicBezTo>
                    <a:pt x="81" y="0"/>
                    <a:pt x="92" y="4"/>
                    <a:pt x="97" y="15"/>
                  </a:cubicBezTo>
                  <a:cubicBezTo>
                    <a:pt x="100" y="21"/>
                    <a:pt x="112" y="58"/>
                    <a:pt x="118" y="76"/>
                  </a:cubicBezTo>
                  <a:cubicBezTo>
                    <a:pt x="119" y="81"/>
                    <a:pt x="121" y="84"/>
                    <a:pt x="121" y="85"/>
                  </a:cubicBezTo>
                  <a:cubicBezTo>
                    <a:pt x="121" y="85"/>
                    <a:pt x="121" y="85"/>
                    <a:pt x="121" y="85"/>
                  </a:cubicBezTo>
                  <a:cubicBezTo>
                    <a:pt x="122" y="89"/>
                    <a:pt x="119" y="94"/>
                    <a:pt x="115" y="95"/>
                  </a:cubicBezTo>
                  <a:cubicBezTo>
                    <a:pt x="114" y="96"/>
                    <a:pt x="113" y="96"/>
                    <a:pt x="112" y="96"/>
                  </a:cubicBezTo>
                  <a:cubicBezTo>
                    <a:pt x="108" y="96"/>
                    <a:pt x="105" y="94"/>
                    <a:pt x="104" y="91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103"/>
                    <a:pt x="90" y="179"/>
                    <a:pt x="90" y="182"/>
                  </a:cubicBezTo>
                  <a:cubicBezTo>
                    <a:pt x="90" y="182"/>
                    <a:pt x="90" y="182"/>
                    <a:pt x="90" y="182"/>
                  </a:cubicBezTo>
                  <a:cubicBezTo>
                    <a:pt x="90" y="188"/>
                    <a:pt x="85" y="192"/>
                    <a:pt x="79" y="192"/>
                  </a:cubicBezTo>
                  <a:cubicBezTo>
                    <a:pt x="79" y="192"/>
                    <a:pt x="79" y="192"/>
                    <a:pt x="79" y="192"/>
                  </a:cubicBezTo>
                  <a:close/>
                  <a:moveTo>
                    <a:pt x="61" y="98"/>
                  </a:moveTo>
                  <a:cubicBezTo>
                    <a:pt x="62" y="98"/>
                    <a:pt x="63" y="99"/>
                    <a:pt x="63" y="100"/>
                  </a:cubicBezTo>
                  <a:cubicBezTo>
                    <a:pt x="73" y="182"/>
                    <a:pt x="73" y="182"/>
                    <a:pt x="73" y="182"/>
                  </a:cubicBezTo>
                  <a:cubicBezTo>
                    <a:pt x="73" y="185"/>
                    <a:pt x="76" y="187"/>
                    <a:pt x="79" y="187"/>
                  </a:cubicBezTo>
                  <a:cubicBezTo>
                    <a:pt x="79" y="189"/>
                    <a:pt x="79" y="189"/>
                    <a:pt x="79" y="189"/>
                  </a:cubicBezTo>
                  <a:cubicBezTo>
                    <a:pt x="79" y="187"/>
                    <a:pt x="79" y="187"/>
                    <a:pt x="79" y="187"/>
                  </a:cubicBezTo>
                  <a:cubicBezTo>
                    <a:pt x="83" y="187"/>
                    <a:pt x="85" y="185"/>
                    <a:pt x="86" y="182"/>
                  </a:cubicBezTo>
                  <a:cubicBezTo>
                    <a:pt x="86" y="182"/>
                    <a:pt x="86" y="182"/>
                    <a:pt x="86" y="182"/>
                  </a:cubicBezTo>
                  <a:cubicBezTo>
                    <a:pt x="86" y="181"/>
                    <a:pt x="86" y="179"/>
                    <a:pt x="85" y="176"/>
                  </a:cubicBezTo>
                  <a:cubicBezTo>
                    <a:pt x="85" y="172"/>
                    <a:pt x="85" y="167"/>
                    <a:pt x="85" y="160"/>
                  </a:cubicBezTo>
                  <a:cubicBezTo>
                    <a:pt x="85" y="147"/>
                    <a:pt x="84" y="130"/>
                    <a:pt x="84" y="112"/>
                  </a:cubicBezTo>
                  <a:cubicBezTo>
                    <a:pt x="83" y="77"/>
                    <a:pt x="82" y="43"/>
                    <a:pt x="82" y="43"/>
                  </a:cubicBezTo>
                  <a:cubicBezTo>
                    <a:pt x="82" y="41"/>
                    <a:pt x="83" y="41"/>
                    <a:pt x="84" y="40"/>
                  </a:cubicBezTo>
                  <a:cubicBezTo>
                    <a:pt x="85" y="40"/>
                    <a:pt x="86" y="41"/>
                    <a:pt x="87" y="42"/>
                  </a:cubicBezTo>
                  <a:cubicBezTo>
                    <a:pt x="108" y="89"/>
                    <a:pt x="108" y="89"/>
                    <a:pt x="108" y="89"/>
                  </a:cubicBezTo>
                  <a:cubicBezTo>
                    <a:pt x="109" y="90"/>
                    <a:pt x="110" y="91"/>
                    <a:pt x="112" y="91"/>
                  </a:cubicBezTo>
                  <a:cubicBezTo>
                    <a:pt x="112" y="91"/>
                    <a:pt x="113" y="91"/>
                    <a:pt x="113" y="91"/>
                  </a:cubicBezTo>
                  <a:cubicBezTo>
                    <a:pt x="115" y="90"/>
                    <a:pt x="117" y="88"/>
                    <a:pt x="116" y="86"/>
                  </a:cubicBezTo>
                  <a:cubicBezTo>
                    <a:pt x="116" y="86"/>
                    <a:pt x="116" y="86"/>
                    <a:pt x="116" y="86"/>
                  </a:cubicBezTo>
                  <a:cubicBezTo>
                    <a:pt x="116" y="86"/>
                    <a:pt x="116" y="85"/>
                    <a:pt x="116" y="84"/>
                  </a:cubicBezTo>
                  <a:cubicBezTo>
                    <a:pt x="115" y="82"/>
                    <a:pt x="114" y="80"/>
                    <a:pt x="114" y="78"/>
                  </a:cubicBezTo>
                  <a:cubicBezTo>
                    <a:pt x="108" y="61"/>
                    <a:pt x="96" y="23"/>
                    <a:pt x="93" y="17"/>
                  </a:cubicBezTo>
                  <a:cubicBezTo>
                    <a:pt x="90" y="11"/>
                    <a:pt x="84" y="5"/>
                    <a:pt x="61" y="5"/>
                  </a:cubicBezTo>
                  <a:cubicBezTo>
                    <a:pt x="38" y="5"/>
                    <a:pt x="32" y="11"/>
                    <a:pt x="29" y="17"/>
                  </a:cubicBezTo>
                  <a:cubicBezTo>
                    <a:pt x="26" y="23"/>
                    <a:pt x="14" y="61"/>
                    <a:pt x="8" y="78"/>
                  </a:cubicBezTo>
                  <a:cubicBezTo>
                    <a:pt x="8" y="80"/>
                    <a:pt x="7" y="82"/>
                    <a:pt x="6" y="84"/>
                  </a:cubicBezTo>
                  <a:cubicBezTo>
                    <a:pt x="6" y="85"/>
                    <a:pt x="6" y="86"/>
                    <a:pt x="6" y="86"/>
                  </a:cubicBezTo>
                  <a:cubicBezTo>
                    <a:pt x="6" y="86"/>
                    <a:pt x="6" y="86"/>
                    <a:pt x="6" y="86"/>
                  </a:cubicBezTo>
                  <a:cubicBezTo>
                    <a:pt x="5" y="88"/>
                    <a:pt x="6" y="90"/>
                    <a:pt x="9" y="91"/>
                  </a:cubicBezTo>
                  <a:cubicBezTo>
                    <a:pt x="9" y="91"/>
                    <a:pt x="10" y="91"/>
                    <a:pt x="10" y="91"/>
                  </a:cubicBezTo>
                  <a:cubicBezTo>
                    <a:pt x="12" y="91"/>
                    <a:pt x="13" y="90"/>
                    <a:pt x="14" y="8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6" y="41"/>
                    <a:pt x="37" y="40"/>
                    <a:pt x="38" y="40"/>
                  </a:cubicBezTo>
                  <a:cubicBezTo>
                    <a:pt x="39" y="41"/>
                    <a:pt x="40" y="41"/>
                    <a:pt x="40" y="43"/>
                  </a:cubicBezTo>
                  <a:cubicBezTo>
                    <a:pt x="40" y="43"/>
                    <a:pt x="39" y="78"/>
                    <a:pt x="38" y="112"/>
                  </a:cubicBezTo>
                  <a:cubicBezTo>
                    <a:pt x="38" y="130"/>
                    <a:pt x="37" y="147"/>
                    <a:pt x="37" y="160"/>
                  </a:cubicBezTo>
                  <a:cubicBezTo>
                    <a:pt x="37" y="167"/>
                    <a:pt x="37" y="172"/>
                    <a:pt x="36" y="176"/>
                  </a:cubicBezTo>
                  <a:cubicBezTo>
                    <a:pt x="36" y="178"/>
                    <a:pt x="36" y="180"/>
                    <a:pt x="36" y="181"/>
                  </a:cubicBezTo>
                  <a:cubicBezTo>
                    <a:pt x="36" y="181"/>
                    <a:pt x="36" y="182"/>
                    <a:pt x="36" y="182"/>
                  </a:cubicBezTo>
                  <a:cubicBezTo>
                    <a:pt x="36" y="185"/>
                    <a:pt x="39" y="187"/>
                    <a:pt x="43" y="187"/>
                  </a:cubicBezTo>
                  <a:cubicBezTo>
                    <a:pt x="46" y="187"/>
                    <a:pt x="49" y="185"/>
                    <a:pt x="49" y="182"/>
                  </a:cubicBezTo>
                  <a:cubicBezTo>
                    <a:pt x="59" y="100"/>
                    <a:pt x="59" y="100"/>
                    <a:pt x="59" y="100"/>
                  </a:cubicBezTo>
                  <a:cubicBezTo>
                    <a:pt x="59" y="99"/>
                    <a:pt x="60" y="98"/>
                    <a:pt x="61" y="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>
                <a:solidFill>
                  <a:srgbClr val="FFFFFF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7ECDD90-41BE-47EE-C915-A6973B94B0CF}"/>
              </a:ext>
            </a:extLst>
          </p:cNvPr>
          <p:cNvGrpSpPr>
            <a:grpSpLocks noChangeAspect="1"/>
          </p:cNvGrpSpPr>
          <p:nvPr/>
        </p:nvGrpSpPr>
        <p:grpSpPr>
          <a:xfrm>
            <a:off x="2777898" y="1970036"/>
            <a:ext cx="351882" cy="699918"/>
            <a:chOff x="2096364" y="-2257066"/>
            <a:chExt cx="727075" cy="1446213"/>
          </a:xfrm>
        </p:grpSpPr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C61A0710-673D-CF70-EF03-B0316EDD27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23376" y="-2257066"/>
              <a:ext cx="273050" cy="273050"/>
            </a:xfrm>
            <a:custGeom>
              <a:avLst/>
              <a:gdLst>
                <a:gd name="T0" fmla="*/ 23 w 46"/>
                <a:gd name="T1" fmla="*/ 46 h 46"/>
                <a:gd name="T2" fmla="*/ 0 w 46"/>
                <a:gd name="T3" fmla="*/ 23 h 46"/>
                <a:gd name="T4" fmla="*/ 23 w 46"/>
                <a:gd name="T5" fmla="*/ 0 h 46"/>
                <a:gd name="T6" fmla="*/ 46 w 46"/>
                <a:gd name="T7" fmla="*/ 23 h 46"/>
                <a:gd name="T8" fmla="*/ 23 w 46"/>
                <a:gd name="T9" fmla="*/ 46 h 46"/>
                <a:gd name="T10" fmla="*/ 23 w 46"/>
                <a:gd name="T11" fmla="*/ 5 h 46"/>
                <a:gd name="T12" fmla="*/ 5 w 46"/>
                <a:gd name="T13" fmla="*/ 23 h 46"/>
                <a:gd name="T14" fmla="*/ 23 w 46"/>
                <a:gd name="T15" fmla="*/ 41 h 46"/>
                <a:gd name="T16" fmla="*/ 41 w 46"/>
                <a:gd name="T17" fmla="*/ 23 h 46"/>
                <a:gd name="T18" fmla="*/ 23 w 46"/>
                <a:gd name="T19" fmla="*/ 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6" h="46">
                  <a:moveTo>
                    <a:pt x="23" y="46"/>
                  </a:moveTo>
                  <a:cubicBezTo>
                    <a:pt x="10" y="46"/>
                    <a:pt x="0" y="36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36" y="0"/>
                    <a:pt x="46" y="10"/>
                    <a:pt x="46" y="23"/>
                  </a:cubicBezTo>
                  <a:cubicBezTo>
                    <a:pt x="46" y="36"/>
                    <a:pt x="36" y="46"/>
                    <a:pt x="23" y="46"/>
                  </a:cubicBezTo>
                  <a:close/>
                  <a:moveTo>
                    <a:pt x="23" y="5"/>
                  </a:moveTo>
                  <a:cubicBezTo>
                    <a:pt x="13" y="5"/>
                    <a:pt x="5" y="13"/>
                    <a:pt x="5" y="23"/>
                  </a:cubicBezTo>
                  <a:cubicBezTo>
                    <a:pt x="5" y="33"/>
                    <a:pt x="13" y="41"/>
                    <a:pt x="23" y="41"/>
                  </a:cubicBezTo>
                  <a:cubicBezTo>
                    <a:pt x="33" y="41"/>
                    <a:pt x="41" y="33"/>
                    <a:pt x="41" y="23"/>
                  </a:cubicBezTo>
                  <a:cubicBezTo>
                    <a:pt x="41" y="13"/>
                    <a:pt x="33" y="5"/>
                    <a:pt x="23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>
                <a:solidFill>
                  <a:srgbClr val="FFFFFF"/>
                </a:solidFill>
              </a:endParaRPr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000F967A-9863-E41D-B595-E503E89292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96364" y="-1953853"/>
              <a:ext cx="727075" cy="1143000"/>
            </a:xfrm>
            <a:custGeom>
              <a:avLst/>
              <a:gdLst>
                <a:gd name="T0" fmla="*/ 68 w 122"/>
                <a:gd name="T1" fmla="*/ 182 h 192"/>
                <a:gd name="T2" fmla="*/ 60 w 122"/>
                <a:gd name="T3" fmla="*/ 129 h 192"/>
                <a:gd name="T4" fmla="*/ 43 w 122"/>
                <a:gd name="T5" fmla="*/ 192 h 192"/>
                <a:gd name="T6" fmla="*/ 32 w 122"/>
                <a:gd name="T7" fmla="*/ 182 h 192"/>
                <a:gd name="T8" fmla="*/ 22 w 122"/>
                <a:gd name="T9" fmla="*/ 129 h 192"/>
                <a:gd name="T10" fmla="*/ 20 w 122"/>
                <a:gd name="T11" fmla="*/ 126 h 192"/>
                <a:gd name="T12" fmla="*/ 18 w 122"/>
                <a:gd name="T13" fmla="*/ 91 h 192"/>
                <a:gd name="T14" fmla="*/ 7 w 122"/>
                <a:gd name="T15" fmla="*/ 95 h 192"/>
                <a:gd name="T16" fmla="*/ 1 w 122"/>
                <a:gd name="T17" fmla="*/ 84 h 192"/>
                <a:gd name="T18" fmla="*/ 25 w 122"/>
                <a:gd name="T19" fmla="*/ 15 h 192"/>
                <a:gd name="T20" fmla="*/ 97 w 122"/>
                <a:gd name="T21" fmla="*/ 15 h 192"/>
                <a:gd name="T22" fmla="*/ 121 w 122"/>
                <a:gd name="T23" fmla="*/ 84 h 192"/>
                <a:gd name="T24" fmla="*/ 115 w 122"/>
                <a:gd name="T25" fmla="*/ 95 h 192"/>
                <a:gd name="T26" fmla="*/ 112 w 122"/>
                <a:gd name="T27" fmla="*/ 96 h 192"/>
                <a:gd name="T28" fmla="*/ 91 w 122"/>
                <a:gd name="T29" fmla="*/ 62 h 192"/>
                <a:gd name="T30" fmla="*/ 102 w 122"/>
                <a:gd name="T31" fmla="*/ 126 h 192"/>
                <a:gd name="T32" fmla="*/ 100 w 122"/>
                <a:gd name="T33" fmla="*/ 129 h 192"/>
                <a:gd name="T34" fmla="*/ 90 w 122"/>
                <a:gd name="T35" fmla="*/ 182 h 192"/>
                <a:gd name="T36" fmla="*/ 79 w 122"/>
                <a:gd name="T37" fmla="*/ 192 h 192"/>
                <a:gd name="T38" fmla="*/ 58 w 122"/>
                <a:gd name="T39" fmla="*/ 124 h 192"/>
                <a:gd name="T40" fmla="*/ 66 w 122"/>
                <a:gd name="T41" fmla="*/ 126 h 192"/>
                <a:gd name="T42" fmla="*/ 79 w 122"/>
                <a:gd name="T43" fmla="*/ 187 h 192"/>
                <a:gd name="T44" fmla="*/ 79 w 122"/>
                <a:gd name="T45" fmla="*/ 187 h 192"/>
                <a:gd name="T46" fmla="*/ 86 w 122"/>
                <a:gd name="T47" fmla="*/ 182 h 192"/>
                <a:gd name="T48" fmla="*/ 85 w 122"/>
                <a:gd name="T49" fmla="*/ 154 h 192"/>
                <a:gd name="T50" fmla="*/ 85 w 122"/>
                <a:gd name="T51" fmla="*/ 125 h 192"/>
                <a:gd name="T52" fmla="*/ 97 w 122"/>
                <a:gd name="T53" fmla="*/ 124 h 192"/>
                <a:gd name="T54" fmla="*/ 85 w 122"/>
                <a:gd name="T55" fmla="*/ 40 h 192"/>
                <a:gd name="T56" fmla="*/ 108 w 122"/>
                <a:gd name="T57" fmla="*/ 89 h 192"/>
                <a:gd name="T58" fmla="*/ 112 w 122"/>
                <a:gd name="T59" fmla="*/ 91 h 192"/>
                <a:gd name="T60" fmla="*/ 116 w 122"/>
                <a:gd name="T61" fmla="*/ 86 h 192"/>
                <a:gd name="T62" fmla="*/ 116 w 122"/>
                <a:gd name="T63" fmla="*/ 84 h 192"/>
                <a:gd name="T64" fmla="*/ 93 w 122"/>
                <a:gd name="T65" fmla="*/ 17 h 192"/>
                <a:gd name="T66" fmla="*/ 29 w 122"/>
                <a:gd name="T67" fmla="*/ 17 h 192"/>
                <a:gd name="T68" fmla="*/ 6 w 122"/>
                <a:gd name="T69" fmla="*/ 84 h 192"/>
                <a:gd name="T70" fmla="*/ 6 w 122"/>
                <a:gd name="T71" fmla="*/ 86 h 192"/>
                <a:gd name="T72" fmla="*/ 10 w 122"/>
                <a:gd name="T73" fmla="*/ 91 h 192"/>
                <a:gd name="T74" fmla="*/ 34 w 122"/>
                <a:gd name="T75" fmla="*/ 41 h 192"/>
                <a:gd name="T76" fmla="*/ 38 w 122"/>
                <a:gd name="T77" fmla="*/ 43 h 192"/>
                <a:gd name="T78" fmla="*/ 36 w 122"/>
                <a:gd name="T79" fmla="*/ 124 h 192"/>
                <a:gd name="T80" fmla="*/ 38 w 122"/>
                <a:gd name="T81" fmla="*/ 126 h 192"/>
                <a:gd name="T82" fmla="*/ 37 w 122"/>
                <a:gd name="T83" fmla="*/ 173 h 192"/>
                <a:gd name="T84" fmla="*/ 36 w 122"/>
                <a:gd name="T85" fmla="*/ 182 h 192"/>
                <a:gd name="T86" fmla="*/ 43 w 122"/>
                <a:gd name="T87" fmla="*/ 187 h 192"/>
                <a:gd name="T88" fmla="*/ 56 w 122"/>
                <a:gd name="T89" fmla="*/ 12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2" h="192">
                  <a:moveTo>
                    <a:pt x="79" y="192"/>
                  </a:moveTo>
                  <a:cubicBezTo>
                    <a:pt x="74" y="192"/>
                    <a:pt x="69" y="187"/>
                    <a:pt x="68" y="182"/>
                  </a:cubicBezTo>
                  <a:cubicBezTo>
                    <a:pt x="62" y="129"/>
                    <a:pt x="62" y="129"/>
                    <a:pt x="62" y="129"/>
                  </a:cubicBezTo>
                  <a:cubicBezTo>
                    <a:pt x="60" y="129"/>
                    <a:pt x="60" y="129"/>
                    <a:pt x="60" y="129"/>
                  </a:cubicBezTo>
                  <a:cubicBezTo>
                    <a:pt x="54" y="182"/>
                    <a:pt x="54" y="182"/>
                    <a:pt x="54" y="182"/>
                  </a:cubicBezTo>
                  <a:cubicBezTo>
                    <a:pt x="53" y="187"/>
                    <a:pt x="48" y="192"/>
                    <a:pt x="43" y="192"/>
                  </a:cubicBezTo>
                  <a:cubicBezTo>
                    <a:pt x="37" y="192"/>
                    <a:pt x="32" y="187"/>
                    <a:pt x="32" y="182"/>
                  </a:cubicBezTo>
                  <a:cubicBezTo>
                    <a:pt x="32" y="182"/>
                    <a:pt x="32" y="182"/>
                    <a:pt x="32" y="182"/>
                  </a:cubicBezTo>
                  <a:cubicBezTo>
                    <a:pt x="32" y="180"/>
                    <a:pt x="33" y="145"/>
                    <a:pt x="33" y="129"/>
                  </a:cubicBezTo>
                  <a:cubicBezTo>
                    <a:pt x="22" y="129"/>
                    <a:pt x="22" y="129"/>
                    <a:pt x="22" y="129"/>
                  </a:cubicBezTo>
                  <a:cubicBezTo>
                    <a:pt x="21" y="129"/>
                    <a:pt x="21" y="128"/>
                    <a:pt x="20" y="128"/>
                  </a:cubicBezTo>
                  <a:cubicBezTo>
                    <a:pt x="20" y="127"/>
                    <a:pt x="20" y="127"/>
                    <a:pt x="20" y="126"/>
                  </a:cubicBezTo>
                  <a:cubicBezTo>
                    <a:pt x="31" y="62"/>
                    <a:pt x="31" y="62"/>
                    <a:pt x="31" y="62"/>
                  </a:cubicBezTo>
                  <a:cubicBezTo>
                    <a:pt x="18" y="91"/>
                    <a:pt x="18" y="91"/>
                    <a:pt x="18" y="91"/>
                  </a:cubicBezTo>
                  <a:cubicBezTo>
                    <a:pt x="17" y="94"/>
                    <a:pt x="14" y="96"/>
                    <a:pt x="10" y="96"/>
                  </a:cubicBezTo>
                  <a:cubicBezTo>
                    <a:pt x="9" y="96"/>
                    <a:pt x="8" y="95"/>
                    <a:pt x="7" y="95"/>
                  </a:cubicBezTo>
                  <a:cubicBezTo>
                    <a:pt x="3" y="93"/>
                    <a:pt x="0" y="89"/>
                    <a:pt x="1" y="85"/>
                  </a:cubicBezTo>
                  <a:cubicBezTo>
                    <a:pt x="1" y="85"/>
                    <a:pt x="1" y="85"/>
                    <a:pt x="1" y="84"/>
                  </a:cubicBezTo>
                  <a:cubicBezTo>
                    <a:pt x="1" y="84"/>
                    <a:pt x="3" y="80"/>
                    <a:pt x="4" y="76"/>
                  </a:cubicBezTo>
                  <a:cubicBezTo>
                    <a:pt x="10" y="58"/>
                    <a:pt x="22" y="21"/>
                    <a:pt x="25" y="15"/>
                  </a:cubicBezTo>
                  <a:cubicBezTo>
                    <a:pt x="30" y="4"/>
                    <a:pt x="41" y="0"/>
                    <a:pt x="61" y="0"/>
                  </a:cubicBezTo>
                  <a:cubicBezTo>
                    <a:pt x="81" y="0"/>
                    <a:pt x="92" y="4"/>
                    <a:pt x="97" y="15"/>
                  </a:cubicBezTo>
                  <a:cubicBezTo>
                    <a:pt x="100" y="21"/>
                    <a:pt x="112" y="58"/>
                    <a:pt x="118" y="76"/>
                  </a:cubicBezTo>
                  <a:cubicBezTo>
                    <a:pt x="119" y="80"/>
                    <a:pt x="121" y="84"/>
                    <a:pt x="121" y="84"/>
                  </a:cubicBezTo>
                  <a:cubicBezTo>
                    <a:pt x="121" y="85"/>
                    <a:pt x="121" y="85"/>
                    <a:pt x="121" y="85"/>
                  </a:cubicBezTo>
                  <a:cubicBezTo>
                    <a:pt x="122" y="89"/>
                    <a:pt x="119" y="93"/>
                    <a:pt x="115" y="95"/>
                  </a:cubicBezTo>
                  <a:cubicBezTo>
                    <a:pt x="114" y="95"/>
                    <a:pt x="113" y="96"/>
                    <a:pt x="112" y="96"/>
                  </a:cubicBezTo>
                  <a:cubicBezTo>
                    <a:pt x="112" y="96"/>
                    <a:pt x="112" y="96"/>
                    <a:pt x="112" y="96"/>
                  </a:cubicBezTo>
                  <a:cubicBezTo>
                    <a:pt x="108" y="96"/>
                    <a:pt x="105" y="94"/>
                    <a:pt x="104" y="91"/>
                  </a:cubicBezTo>
                  <a:cubicBezTo>
                    <a:pt x="91" y="62"/>
                    <a:pt x="91" y="62"/>
                    <a:pt x="91" y="62"/>
                  </a:cubicBezTo>
                  <a:cubicBezTo>
                    <a:pt x="102" y="126"/>
                    <a:pt x="102" y="126"/>
                    <a:pt x="102" y="126"/>
                  </a:cubicBezTo>
                  <a:cubicBezTo>
                    <a:pt x="102" y="126"/>
                    <a:pt x="102" y="126"/>
                    <a:pt x="102" y="126"/>
                  </a:cubicBezTo>
                  <a:cubicBezTo>
                    <a:pt x="102" y="128"/>
                    <a:pt x="101" y="129"/>
                    <a:pt x="100" y="129"/>
                  </a:cubicBezTo>
                  <a:cubicBezTo>
                    <a:pt x="100" y="129"/>
                    <a:pt x="100" y="129"/>
                    <a:pt x="100" y="129"/>
                  </a:cubicBezTo>
                  <a:cubicBezTo>
                    <a:pt x="89" y="129"/>
                    <a:pt x="89" y="129"/>
                    <a:pt x="89" y="129"/>
                  </a:cubicBezTo>
                  <a:cubicBezTo>
                    <a:pt x="89" y="145"/>
                    <a:pt x="90" y="180"/>
                    <a:pt x="90" y="182"/>
                  </a:cubicBezTo>
                  <a:cubicBezTo>
                    <a:pt x="90" y="182"/>
                    <a:pt x="90" y="182"/>
                    <a:pt x="90" y="182"/>
                  </a:cubicBezTo>
                  <a:cubicBezTo>
                    <a:pt x="90" y="187"/>
                    <a:pt x="85" y="192"/>
                    <a:pt x="79" y="192"/>
                  </a:cubicBezTo>
                  <a:cubicBezTo>
                    <a:pt x="79" y="192"/>
                    <a:pt x="79" y="192"/>
                    <a:pt x="79" y="192"/>
                  </a:cubicBezTo>
                  <a:close/>
                  <a:moveTo>
                    <a:pt x="58" y="124"/>
                  </a:moveTo>
                  <a:cubicBezTo>
                    <a:pt x="64" y="124"/>
                    <a:pt x="64" y="124"/>
                    <a:pt x="64" y="124"/>
                  </a:cubicBezTo>
                  <a:cubicBezTo>
                    <a:pt x="65" y="124"/>
                    <a:pt x="66" y="125"/>
                    <a:pt x="66" y="126"/>
                  </a:cubicBezTo>
                  <a:cubicBezTo>
                    <a:pt x="73" y="182"/>
                    <a:pt x="73" y="182"/>
                    <a:pt x="73" y="182"/>
                  </a:cubicBezTo>
                  <a:cubicBezTo>
                    <a:pt x="73" y="185"/>
                    <a:pt x="76" y="187"/>
                    <a:pt x="79" y="187"/>
                  </a:cubicBezTo>
                  <a:cubicBezTo>
                    <a:pt x="79" y="189"/>
                    <a:pt x="79" y="189"/>
                    <a:pt x="79" y="189"/>
                  </a:cubicBezTo>
                  <a:cubicBezTo>
                    <a:pt x="79" y="187"/>
                    <a:pt x="79" y="187"/>
                    <a:pt x="79" y="187"/>
                  </a:cubicBezTo>
                  <a:cubicBezTo>
                    <a:pt x="83" y="187"/>
                    <a:pt x="85" y="185"/>
                    <a:pt x="86" y="182"/>
                  </a:cubicBezTo>
                  <a:cubicBezTo>
                    <a:pt x="86" y="182"/>
                    <a:pt x="86" y="182"/>
                    <a:pt x="86" y="182"/>
                  </a:cubicBezTo>
                  <a:cubicBezTo>
                    <a:pt x="86" y="181"/>
                    <a:pt x="86" y="178"/>
                    <a:pt x="85" y="173"/>
                  </a:cubicBezTo>
                  <a:cubicBezTo>
                    <a:pt x="85" y="168"/>
                    <a:pt x="85" y="161"/>
                    <a:pt x="85" y="154"/>
                  </a:cubicBezTo>
                  <a:cubicBezTo>
                    <a:pt x="84" y="140"/>
                    <a:pt x="84" y="126"/>
                    <a:pt x="84" y="126"/>
                  </a:cubicBezTo>
                  <a:cubicBezTo>
                    <a:pt x="84" y="126"/>
                    <a:pt x="84" y="125"/>
                    <a:pt x="85" y="125"/>
                  </a:cubicBezTo>
                  <a:cubicBezTo>
                    <a:pt x="85" y="124"/>
                    <a:pt x="86" y="124"/>
                    <a:pt x="86" y="124"/>
                  </a:cubicBezTo>
                  <a:cubicBezTo>
                    <a:pt x="97" y="124"/>
                    <a:pt x="97" y="124"/>
                    <a:pt x="97" y="124"/>
                  </a:cubicBezTo>
                  <a:cubicBezTo>
                    <a:pt x="84" y="43"/>
                    <a:pt x="84" y="43"/>
                    <a:pt x="84" y="43"/>
                  </a:cubicBezTo>
                  <a:cubicBezTo>
                    <a:pt x="83" y="42"/>
                    <a:pt x="84" y="40"/>
                    <a:pt x="85" y="40"/>
                  </a:cubicBezTo>
                  <a:cubicBezTo>
                    <a:pt x="86" y="40"/>
                    <a:pt x="88" y="40"/>
                    <a:pt x="88" y="41"/>
                  </a:cubicBezTo>
                  <a:cubicBezTo>
                    <a:pt x="108" y="89"/>
                    <a:pt x="108" y="89"/>
                    <a:pt x="108" y="89"/>
                  </a:cubicBezTo>
                  <a:cubicBezTo>
                    <a:pt x="109" y="90"/>
                    <a:pt x="110" y="91"/>
                    <a:pt x="112" y="91"/>
                  </a:cubicBezTo>
                  <a:cubicBezTo>
                    <a:pt x="112" y="91"/>
                    <a:pt x="112" y="91"/>
                    <a:pt x="112" y="91"/>
                  </a:cubicBezTo>
                  <a:cubicBezTo>
                    <a:pt x="112" y="91"/>
                    <a:pt x="113" y="91"/>
                    <a:pt x="113" y="91"/>
                  </a:cubicBezTo>
                  <a:cubicBezTo>
                    <a:pt x="115" y="90"/>
                    <a:pt x="117" y="88"/>
                    <a:pt x="116" y="86"/>
                  </a:cubicBezTo>
                  <a:cubicBezTo>
                    <a:pt x="116" y="86"/>
                    <a:pt x="116" y="86"/>
                    <a:pt x="116" y="86"/>
                  </a:cubicBezTo>
                  <a:cubicBezTo>
                    <a:pt x="116" y="85"/>
                    <a:pt x="116" y="85"/>
                    <a:pt x="116" y="84"/>
                  </a:cubicBezTo>
                  <a:cubicBezTo>
                    <a:pt x="115" y="82"/>
                    <a:pt x="114" y="80"/>
                    <a:pt x="114" y="77"/>
                  </a:cubicBezTo>
                  <a:cubicBezTo>
                    <a:pt x="108" y="61"/>
                    <a:pt x="96" y="23"/>
                    <a:pt x="93" y="17"/>
                  </a:cubicBezTo>
                  <a:cubicBezTo>
                    <a:pt x="90" y="11"/>
                    <a:pt x="84" y="5"/>
                    <a:pt x="61" y="5"/>
                  </a:cubicBezTo>
                  <a:cubicBezTo>
                    <a:pt x="38" y="5"/>
                    <a:pt x="32" y="11"/>
                    <a:pt x="29" y="17"/>
                  </a:cubicBezTo>
                  <a:cubicBezTo>
                    <a:pt x="26" y="23"/>
                    <a:pt x="14" y="61"/>
                    <a:pt x="8" y="77"/>
                  </a:cubicBezTo>
                  <a:cubicBezTo>
                    <a:pt x="8" y="80"/>
                    <a:pt x="7" y="82"/>
                    <a:pt x="6" y="84"/>
                  </a:cubicBezTo>
                  <a:cubicBezTo>
                    <a:pt x="6" y="85"/>
                    <a:pt x="6" y="85"/>
                    <a:pt x="6" y="86"/>
                  </a:cubicBezTo>
                  <a:cubicBezTo>
                    <a:pt x="6" y="86"/>
                    <a:pt x="6" y="86"/>
                    <a:pt x="6" y="86"/>
                  </a:cubicBezTo>
                  <a:cubicBezTo>
                    <a:pt x="5" y="88"/>
                    <a:pt x="7" y="90"/>
                    <a:pt x="9" y="91"/>
                  </a:cubicBezTo>
                  <a:cubicBezTo>
                    <a:pt x="9" y="91"/>
                    <a:pt x="10" y="91"/>
                    <a:pt x="10" y="91"/>
                  </a:cubicBezTo>
                  <a:cubicBezTo>
                    <a:pt x="12" y="91"/>
                    <a:pt x="13" y="90"/>
                    <a:pt x="14" y="89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0"/>
                    <a:pt x="36" y="40"/>
                    <a:pt x="37" y="40"/>
                  </a:cubicBezTo>
                  <a:cubicBezTo>
                    <a:pt x="38" y="40"/>
                    <a:pt x="39" y="42"/>
                    <a:pt x="38" y="43"/>
                  </a:cubicBezTo>
                  <a:cubicBezTo>
                    <a:pt x="25" y="124"/>
                    <a:pt x="25" y="124"/>
                    <a:pt x="25" y="124"/>
                  </a:cubicBezTo>
                  <a:cubicBezTo>
                    <a:pt x="36" y="124"/>
                    <a:pt x="36" y="124"/>
                    <a:pt x="36" y="124"/>
                  </a:cubicBezTo>
                  <a:cubicBezTo>
                    <a:pt x="36" y="124"/>
                    <a:pt x="37" y="124"/>
                    <a:pt x="37" y="125"/>
                  </a:cubicBezTo>
                  <a:cubicBezTo>
                    <a:pt x="38" y="125"/>
                    <a:pt x="38" y="126"/>
                    <a:pt x="38" y="126"/>
                  </a:cubicBezTo>
                  <a:cubicBezTo>
                    <a:pt x="38" y="126"/>
                    <a:pt x="37" y="140"/>
                    <a:pt x="37" y="154"/>
                  </a:cubicBezTo>
                  <a:cubicBezTo>
                    <a:pt x="37" y="161"/>
                    <a:pt x="37" y="168"/>
                    <a:pt x="37" y="173"/>
                  </a:cubicBezTo>
                  <a:cubicBezTo>
                    <a:pt x="37" y="176"/>
                    <a:pt x="36" y="178"/>
                    <a:pt x="36" y="180"/>
                  </a:cubicBezTo>
                  <a:cubicBezTo>
                    <a:pt x="36" y="181"/>
                    <a:pt x="36" y="181"/>
                    <a:pt x="36" y="182"/>
                  </a:cubicBezTo>
                  <a:cubicBezTo>
                    <a:pt x="36" y="182"/>
                    <a:pt x="36" y="182"/>
                    <a:pt x="36" y="182"/>
                  </a:cubicBezTo>
                  <a:cubicBezTo>
                    <a:pt x="37" y="185"/>
                    <a:pt x="39" y="187"/>
                    <a:pt x="43" y="187"/>
                  </a:cubicBezTo>
                  <a:cubicBezTo>
                    <a:pt x="46" y="187"/>
                    <a:pt x="49" y="185"/>
                    <a:pt x="49" y="182"/>
                  </a:cubicBezTo>
                  <a:cubicBezTo>
                    <a:pt x="56" y="126"/>
                    <a:pt x="56" y="126"/>
                    <a:pt x="56" y="126"/>
                  </a:cubicBezTo>
                  <a:cubicBezTo>
                    <a:pt x="56" y="125"/>
                    <a:pt x="57" y="124"/>
                    <a:pt x="58" y="12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>
                <a:solidFill>
                  <a:srgbClr val="FFFFFF"/>
                </a:solidFill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C176F6BB-C56F-47F5-3AB2-75F99E98A016}"/>
              </a:ext>
            </a:extLst>
          </p:cNvPr>
          <p:cNvSpPr txBox="1"/>
          <p:nvPr/>
        </p:nvSpPr>
        <p:spPr>
          <a:xfrm>
            <a:off x="103573" y="6288348"/>
            <a:ext cx="1893902" cy="369332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F282B5D-6B41-43EB-19A1-C305E229F3B1}"/>
              </a:ext>
            </a:extLst>
          </p:cNvPr>
          <p:cNvSpPr txBox="1"/>
          <p:nvPr/>
        </p:nvSpPr>
        <p:spPr>
          <a:xfrm>
            <a:off x="8360150" y="6211557"/>
            <a:ext cx="3580659" cy="524691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08E74C-E0C4-3343-563F-85E33A7AAF31}"/>
              </a:ext>
            </a:extLst>
          </p:cNvPr>
          <p:cNvSpPr txBox="1"/>
          <p:nvPr/>
        </p:nvSpPr>
        <p:spPr>
          <a:xfrm>
            <a:off x="5065362" y="5060785"/>
            <a:ext cx="2553280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>
                <a:ea typeface="+mn-lt"/>
                <a:cs typeface="+mn-lt"/>
              </a:rPr>
              <a:t>Task framing:</a:t>
            </a:r>
            <a:endParaRPr lang="en-US"/>
          </a:p>
          <a:p>
            <a:pPr algn="ctr"/>
            <a:r>
              <a:rPr lang="en-US" sz="1400">
                <a:ea typeface="+mn-lt"/>
                <a:cs typeface="+mn-lt"/>
              </a:rPr>
              <a:t>Manipulation occurs in the task instructions</a:t>
            </a:r>
            <a:endParaRPr lang="en-US" sz="1400"/>
          </a:p>
        </p:txBody>
      </p:sp>
      <p:sp>
        <p:nvSpPr>
          <p:cNvPr id="11" name="TextBox 10"/>
          <p:cNvSpPr txBox="1"/>
          <p:nvPr/>
        </p:nvSpPr>
        <p:spPr>
          <a:xfrm>
            <a:off x="7746067" y="5071749"/>
            <a:ext cx="3649683" cy="1138773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>
                <a:ea typeface="+mn-lt"/>
                <a:cs typeface="+mn-lt"/>
              </a:rPr>
              <a:t>Feedback type presented after trial:</a:t>
            </a:r>
            <a:endParaRPr lang="en-US" sz="2000">
              <a:ea typeface="Open Sans Light"/>
              <a:cs typeface="Open Sans Light"/>
            </a:endParaRPr>
          </a:p>
          <a:p>
            <a:pPr algn="ctr"/>
            <a:r>
              <a:rPr lang="en-US" sz="1400">
                <a:ea typeface="+mn-lt"/>
                <a:cs typeface="+mn-lt"/>
              </a:rPr>
              <a:t>Near-miss feedback: Skill vs. Luck framed</a:t>
            </a:r>
            <a:endParaRPr lang="en-US" sz="1400">
              <a:ea typeface="Open Sans Light"/>
              <a:cs typeface="Open Sans Light"/>
            </a:endParaRPr>
          </a:p>
          <a:p>
            <a:pPr algn="ctr"/>
            <a:r>
              <a:rPr lang="en-US" sz="1400">
                <a:ea typeface="+mn-lt"/>
                <a:cs typeface="+mn-lt"/>
              </a:rPr>
              <a:t>Clear-loss feedback: Skill vs. Luck framed</a:t>
            </a:r>
            <a:endParaRPr lang="en-US" sz="1400">
              <a:ea typeface="Open Sans Light"/>
              <a:cs typeface="Open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447196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17EE8-2558-6804-3272-F58EB6A00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DC06A0-95E7-461B-6431-B8AE2DD2A96E}"/>
              </a:ext>
            </a:extLst>
          </p:cNvPr>
          <p:cNvSpPr txBox="1"/>
          <p:nvPr/>
        </p:nvSpPr>
        <p:spPr>
          <a:xfrm>
            <a:off x="1415143" y="1715663"/>
            <a:ext cx="4546810" cy="424731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dirty="0">
                <a:solidFill>
                  <a:schemeClr val="bg2"/>
                </a:solidFill>
                <a:ea typeface="+mn-lt"/>
                <a:cs typeface="+mn-lt"/>
              </a:rPr>
              <a:t>Analysis</a:t>
            </a:r>
            <a:endParaRPr lang="en-US" dirty="0">
              <a:solidFill>
                <a:schemeClr val="bg2"/>
              </a:solidFill>
            </a:endParaRPr>
          </a:p>
          <a:p>
            <a:pPr>
              <a:buFont typeface="Arial"/>
              <a:buChar char="•"/>
            </a:pPr>
            <a:r>
              <a:rPr lang="en-GB" dirty="0">
                <a:solidFill>
                  <a:srgbClr val="57565A"/>
                </a:solidFill>
                <a:ea typeface="+mn-lt"/>
                <a:cs typeface="+mn-lt"/>
              </a:rPr>
              <a:t>2×2 between-subjects ANOVA testing the Framing × Feedback interaction on </a:t>
            </a:r>
            <a:r>
              <a:rPr lang="en-GB">
                <a:solidFill>
                  <a:srgbClr val="57565A"/>
                </a:solidFill>
                <a:ea typeface="+mn-lt"/>
                <a:cs typeface="+mn-lt"/>
              </a:rPr>
              <a:t>willingness to persist</a:t>
            </a:r>
            <a:endParaRPr lang="en-GB">
              <a:solidFill>
                <a:srgbClr val="57565A"/>
              </a:solidFill>
              <a:ea typeface="Open Sans Light"/>
              <a:cs typeface="Open Sans Light"/>
            </a:endParaRPr>
          </a:p>
          <a:p>
            <a:pPr>
              <a:buFont typeface="Arial"/>
              <a:buChar char="•"/>
            </a:pPr>
            <a:endParaRPr lang="en-GB" dirty="0">
              <a:solidFill>
                <a:srgbClr val="57565A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GB" dirty="0">
                <a:solidFill>
                  <a:srgbClr val="57565A"/>
                </a:solidFill>
                <a:ea typeface="+mn-lt"/>
                <a:cs typeface="+mn-lt"/>
              </a:rPr>
              <a:t>If interaction is significant: simple effects tests within each framing condition to </a:t>
            </a:r>
            <a:r>
              <a:rPr lang="en-GB">
                <a:solidFill>
                  <a:srgbClr val="57565A"/>
                </a:solidFill>
                <a:ea typeface="+mn-lt"/>
                <a:cs typeface="+mn-lt"/>
              </a:rPr>
              <a:t>examine near-miss vs. clear-loss contrast</a:t>
            </a:r>
            <a:endParaRPr lang="en-GB"/>
          </a:p>
          <a:p>
            <a:endParaRPr lang="en-GB" dirty="0">
              <a:solidFill>
                <a:srgbClr val="57565A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GB" dirty="0">
                <a:solidFill>
                  <a:srgbClr val="57565A"/>
                </a:solidFill>
                <a:ea typeface="+mn-lt"/>
                <a:cs typeface="+mn-lt"/>
              </a:rPr>
              <a:t>Manipulation checks: independent t-tests verifying skill and feedback perception</a:t>
            </a:r>
            <a:endParaRPr lang="en-GB" dirty="0"/>
          </a:p>
          <a:p>
            <a:pPr>
              <a:buFont typeface="Arial"/>
              <a:buChar char="•"/>
            </a:pPr>
            <a:endParaRPr lang="en-GB" dirty="0">
              <a:solidFill>
                <a:srgbClr val="57565A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GB" dirty="0">
                <a:solidFill>
                  <a:srgbClr val="57565A"/>
                </a:solidFill>
                <a:ea typeface="+mn-lt"/>
                <a:cs typeface="+mn-lt"/>
              </a:rPr>
              <a:t>All tests two-tailed, α = .05; report 95% </a:t>
            </a:r>
            <a:r>
              <a:rPr lang="en-GB">
                <a:solidFill>
                  <a:srgbClr val="57565A"/>
                </a:solidFill>
                <a:ea typeface="+mn-lt"/>
                <a:cs typeface="+mn-lt"/>
              </a:rPr>
              <a:t>CIs and effect sizes</a:t>
            </a:r>
            <a:endParaRPr lang="en-GB"/>
          </a:p>
          <a:p>
            <a:pPr marL="285750" indent="-285750">
              <a:buFont typeface="Arial"/>
              <a:buChar char="•"/>
            </a:pPr>
            <a:endParaRPr lang="en-GB" dirty="0">
              <a:solidFill>
                <a:srgbClr val="57565A"/>
              </a:solidFill>
              <a:ea typeface="Open Sans Light"/>
              <a:cs typeface="Open Sans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E8F03A-B454-3958-56E0-7215346D7157}"/>
              </a:ext>
            </a:extLst>
          </p:cNvPr>
          <p:cNvSpPr txBox="1"/>
          <p:nvPr/>
        </p:nvSpPr>
        <p:spPr>
          <a:xfrm>
            <a:off x="103573" y="6288348"/>
            <a:ext cx="1893902" cy="369332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B97592-3342-E7F4-8B36-A794B56A21DC}"/>
              </a:ext>
            </a:extLst>
          </p:cNvPr>
          <p:cNvSpPr txBox="1"/>
          <p:nvPr/>
        </p:nvSpPr>
        <p:spPr>
          <a:xfrm>
            <a:off x="8360150" y="6211557"/>
            <a:ext cx="3580659" cy="524691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8B68645-9C35-FAD9-660B-779D92CFE08F}"/>
              </a:ext>
            </a:extLst>
          </p:cNvPr>
          <p:cNvSpPr txBox="1">
            <a:spLocks/>
          </p:cNvSpPr>
          <p:nvPr/>
        </p:nvSpPr>
        <p:spPr>
          <a:xfrm>
            <a:off x="914400" y="279961"/>
            <a:ext cx="10363200" cy="81756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 defTabSz="1219170" rtl="0" eaLnBrk="1" latinLnBrk="0" hangingPunct="1">
              <a:lnSpc>
                <a:spcPct val="86000"/>
              </a:lnSpc>
              <a:spcBef>
                <a:spcPct val="0"/>
              </a:spcBef>
              <a:buNone/>
              <a:defRPr sz="2800" kern="800" spc="-53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>
              <a:lnSpc>
                <a:spcPct val="90000"/>
              </a:lnSpc>
            </a:pPr>
            <a:r>
              <a:rPr lang="en-US" sz="3200" kern="1200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Analysis Plan &amp; Data Sample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211D29-8532-9AAD-1FFB-57D35ABCCFD7}"/>
              </a:ext>
            </a:extLst>
          </p:cNvPr>
          <p:cNvSpPr txBox="1"/>
          <p:nvPr/>
        </p:nvSpPr>
        <p:spPr>
          <a:xfrm>
            <a:off x="6100032" y="1715663"/>
            <a:ext cx="4546810" cy="369331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dirty="0">
                <a:solidFill>
                  <a:schemeClr val="bg2"/>
                </a:solidFill>
                <a:ea typeface="+mn-lt"/>
                <a:cs typeface="+mn-lt"/>
              </a:rPr>
              <a:t>Data Sample</a:t>
            </a:r>
            <a:endParaRPr lang="en-US" dirty="0">
              <a:solidFill>
                <a:schemeClr val="bg2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Ideally, 200 total, with 50 in each of the 4 conditions (80% power to detect interaction effect, given our power </a:t>
            </a:r>
            <a:r>
              <a:rPr lang="en-GB">
                <a:ea typeface="+mn-lt"/>
                <a:cs typeface="+mn-lt"/>
              </a:rPr>
              <a:t>analysis)</a:t>
            </a:r>
          </a:p>
          <a:p>
            <a:endParaRPr lang="en-GB">
              <a:solidFill>
                <a:srgbClr val="57565A"/>
              </a:solidFill>
              <a:ea typeface="Open Sans Light"/>
              <a:cs typeface="Open Sans Light"/>
            </a:endParaRPr>
          </a:p>
          <a:p>
            <a:pPr marL="285750" indent="-285750">
              <a:buFont typeface="Arial"/>
              <a:buChar char="•"/>
            </a:pPr>
            <a:r>
              <a:rPr lang="en-GB" dirty="0">
                <a:solidFill>
                  <a:srgbClr val="57565A"/>
                </a:solidFill>
                <a:ea typeface="Open Sans Light"/>
                <a:cs typeface="Open Sans Light"/>
              </a:rPr>
              <a:t>Realistically, expect less than that (128 </a:t>
            </a:r>
            <a:r>
              <a:rPr lang="en-GB">
                <a:solidFill>
                  <a:srgbClr val="57565A"/>
                </a:solidFill>
                <a:ea typeface="Open Sans Light"/>
                <a:cs typeface="Open Sans Light"/>
              </a:rPr>
              <a:t>total, or 38 per cell)</a:t>
            </a:r>
          </a:p>
          <a:p>
            <a:pPr marL="285750" indent="-285750">
              <a:buFont typeface="Arial"/>
              <a:buChar char="•"/>
            </a:pPr>
            <a:endParaRPr lang="en-GB">
              <a:solidFill>
                <a:srgbClr val="57565A"/>
              </a:solidFill>
              <a:ea typeface="Open Sans Light"/>
              <a:cs typeface="Open Sans Light"/>
            </a:endParaRPr>
          </a:p>
          <a:p>
            <a:pPr marL="285750" indent="-285750">
              <a:buFont typeface="Arial"/>
              <a:buChar char="•"/>
            </a:pPr>
            <a:r>
              <a:rPr lang="en-GB" dirty="0">
                <a:solidFill>
                  <a:srgbClr val="57565A"/>
                </a:solidFill>
                <a:ea typeface="Open Sans Light"/>
                <a:cs typeface="Open Sans Light"/>
              </a:rPr>
              <a:t>Recruit inside the class, respective master's cohort, general BSE student body as well as friends/family outside </a:t>
            </a:r>
            <a:r>
              <a:rPr lang="en-GB">
                <a:solidFill>
                  <a:srgbClr val="57565A"/>
                </a:solidFill>
                <a:ea typeface="Open Sans Light"/>
                <a:cs typeface="Open Sans Light"/>
              </a:rPr>
              <a:t>BSE</a:t>
            </a:r>
          </a:p>
        </p:txBody>
      </p:sp>
    </p:spTree>
    <p:extLst>
      <p:ext uri="{BB962C8B-B14F-4D97-AF65-F5344CB8AC3E}">
        <p14:creationId xmlns:p14="http://schemas.microsoft.com/office/powerpoint/2010/main" val="1476236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E7AA7E8-8006-4E1F-A566-FCF37EE6F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910" y="1598246"/>
            <a:ext cx="4626709" cy="5122985"/>
          </a:xfrm>
        </p:spPr>
        <p:txBody>
          <a:bodyPr anchor="t">
            <a:normAutofit/>
          </a:bodyPr>
          <a:lstStyle/>
          <a:p>
            <a:pPr algn="r"/>
            <a:r>
              <a:rPr lang="en-US" sz="8000">
                <a:solidFill>
                  <a:srgbClr val="FFFFFF"/>
                </a:solidFill>
              </a:rPr>
              <a:t>Appendix</a:t>
            </a: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ubtitle 4">
            <a:extLst>
              <a:ext uri="{FF2B5EF4-FFF2-40B4-BE49-F238E27FC236}">
                <a16:creationId xmlns:a16="http://schemas.microsoft.com/office/drawing/2014/main" id="{6B715105-25D5-C0ED-9209-D4B8E867ED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6044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1B64D-871B-8D0D-1556-1DABB0F6F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4CAB7399-D636-4606-CB62-65DBBECDCB04}"/>
              </a:ext>
            </a:extLst>
          </p:cNvPr>
          <p:cNvGraphicFramePr/>
          <p:nvPr/>
        </p:nvGraphicFramePr>
        <p:xfrm>
          <a:off x="2907269" y="718563"/>
          <a:ext cx="6370893" cy="41573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 useBgFill="1">
        <p:nvSpPr>
          <p:cNvPr id="7" name="Freeform 34">
            <a:extLst>
              <a:ext uri="{FF2B5EF4-FFF2-40B4-BE49-F238E27FC236}">
                <a16:creationId xmlns:a16="http://schemas.microsoft.com/office/drawing/2014/main" id="{530463B9-4263-0278-9CAE-B65C41E895DE}"/>
              </a:ext>
            </a:extLst>
          </p:cNvPr>
          <p:cNvSpPr>
            <a:spLocks/>
          </p:cNvSpPr>
          <p:nvPr/>
        </p:nvSpPr>
        <p:spPr bwMode="white">
          <a:xfrm>
            <a:off x="5533554" y="704260"/>
            <a:ext cx="2606577" cy="4927858"/>
          </a:xfrm>
          <a:custGeom>
            <a:avLst/>
            <a:gdLst>
              <a:gd name="T0" fmla="*/ 67 w 992"/>
              <a:gd name="T1" fmla="*/ 89 h 4117"/>
              <a:gd name="T2" fmla="*/ 283 w 992"/>
              <a:gd name="T3" fmla="*/ 205 h 4117"/>
              <a:gd name="T4" fmla="*/ 419 w 992"/>
              <a:gd name="T5" fmla="*/ 404 h 4117"/>
              <a:gd name="T6" fmla="*/ 519 w 992"/>
              <a:gd name="T7" fmla="*/ 615 h 4117"/>
              <a:gd name="T8" fmla="*/ 564 w 992"/>
              <a:gd name="T9" fmla="*/ 919 h 4117"/>
              <a:gd name="T10" fmla="*/ 505 w 992"/>
              <a:gd name="T11" fmla="*/ 1171 h 4117"/>
              <a:gd name="T12" fmla="*/ 334 w 992"/>
              <a:gd name="T13" fmla="*/ 1391 h 4117"/>
              <a:gd name="T14" fmla="*/ 89 w 992"/>
              <a:gd name="T15" fmla="*/ 1768 h 4117"/>
              <a:gd name="T16" fmla="*/ 0 w 992"/>
              <a:gd name="T17" fmla="*/ 2050 h 4117"/>
              <a:gd name="T18" fmla="*/ 121 w 992"/>
              <a:gd name="T19" fmla="*/ 2393 h 4117"/>
              <a:gd name="T20" fmla="*/ 419 w 992"/>
              <a:gd name="T21" fmla="*/ 3021 h 4117"/>
              <a:gd name="T22" fmla="*/ 593 w 992"/>
              <a:gd name="T23" fmla="*/ 3613 h 4117"/>
              <a:gd name="T24" fmla="*/ 541 w 992"/>
              <a:gd name="T25" fmla="*/ 4117 h 4117"/>
              <a:gd name="T26" fmla="*/ 992 w 992"/>
              <a:gd name="T27" fmla="*/ 4117 h 4117"/>
              <a:gd name="T28" fmla="*/ 983 w 992"/>
              <a:gd name="T29" fmla="*/ 0 h 4117"/>
              <a:gd name="T30" fmla="*/ 113 w 992"/>
              <a:gd name="T31" fmla="*/ 0 h 4117"/>
              <a:gd name="T32" fmla="*/ 67 w 992"/>
              <a:gd name="T33" fmla="*/ 89 h 4117"/>
              <a:gd name="connsiteX0" fmla="*/ 6087 w 15412"/>
              <a:gd name="connsiteY0" fmla="*/ 386 h 10170"/>
              <a:gd name="connsiteX1" fmla="*/ 8265 w 15412"/>
              <a:gd name="connsiteY1" fmla="*/ 668 h 10170"/>
              <a:gd name="connsiteX2" fmla="*/ 9636 w 15412"/>
              <a:gd name="connsiteY2" fmla="*/ 1151 h 10170"/>
              <a:gd name="connsiteX3" fmla="*/ 10644 w 15412"/>
              <a:gd name="connsiteY3" fmla="*/ 1664 h 10170"/>
              <a:gd name="connsiteX4" fmla="*/ 11097 w 15412"/>
              <a:gd name="connsiteY4" fmla="*/ 2402 h 10170"/>
              <a:gd name="connsiteX5" fmla="*/ 10503 w 15412"/>
              <a:gd name="connsiteY5" fmla="*/ 3014 h 10170"/>
              <a:gd name="connsiteX6" fmla="*/ 8779 w 15412"/>
              <a:gd name="connsiteY6" fmla="*/ 3549 h 10170"/>
              <a:gd name="connsiteX7" fmla="*/ 6309 w 15412"/>
              <a:gd name="connsiteY7" fmla="*/ 4464 h 10170"/>
              <a:gd name="connsiteX8" fmla="*/ 5412 w 15412"/>
              <a:gd name="connsiteY8" fmla="*/ 5149 h 10170"/>
              <a:gd name="connsiteX9" fmla="*/ 6632 w 15412"/>
              <a:gd name="connsiteY9" fmla="*/ 5982 h 10170"/>
              <a:gd name="connsiteX10" fmla="*/ 9636 w 15412"/>
              <a:gd name="connsiteY10" fmla="*/ 7508 h 10170"/>
              <a:gd name="connsiteX11" fmla="*/ 11390 w 15412"/>
              <a:gd name="connsiteY11" fmla="*/ 8946 h 10170"/>
              <a:gd name="connsiteX12" fmla="*/ 10866 w 15412"/>
              <a:gd name="connsiteY12" fmla="*/ 10170 h 10170"/>
              <a:gd name="connsiteX13" fmla="*/ 15412 w 15412"/>
              <a:gd name="connsiteY13" fmla="*/ 10170 h 10170"/>
              <a:gd name="connsiteX14" fmla="*/ 15321 w 15412"/>
              <a:gd name="connsiteY14" fmla="*/ 170 h 10170"/>
              <a:gd name="connsiteX15" fmla="*/ 0 w 15412"/>
              <a:gd name="connsiteY15" fmla="*/ 0 h 10170"/>
              <a:gd name="connsiteX16" fmla="*/ 6087 w 15412"/>
              <a:gd name="connsiteY16" fmla="*/ 386 h 10170"/>
              <a:gd name="connsiteX0" fmla="*/ 6087 w 15412"/>
              <a:gd name="connsiteY0" fmla="*/ 386 h 10170"/>
              <a:gd name="connsiteX1" fmla="*/ 8265 w 15412"/>
              <a:gd name="connsiteY1" fmla="*/ 668 h 10170"/>
              <a:gd name="connsiteX2" fmla="*/ 9636 w 15412"/>
              <a:gd name="connsiteY2" fmla="*/ 1151 h 10170"/>
              <a:gd name="connsiteX3" fmla="*/ 10644 w 15412"/>
              <a:gd name="connsiteY3" fmla="*/ 1664 h 10170"/>
              <a:gd name="connsiteX4" fmla="*/ 11097 w 15412"/>
              <a:gd name="connsiteY4" fmla="*/ 2402 h 10170"/>
              <a:gd name="connsiteX5" fmla="*/ 10503 w 15412"/>
              <a:gd name="connsiteY5" fmla="*/ 3014 h 10170"/>
              <a:gd name="connsiteX6" fmla="*/ 8779 w 15412"/>
              <a:gd name="connsiteY6" fmla="*/ 3549 h 10170"/>
              <a:gd name="connsiteX7" fmla="*/ 6309 w 15412"/>
              <a:gd name="connsiteY7" fmla="*/ 4464 h 10170"/>
              <a:gd name="connsiteX8" fmla="*/ 5412 w 15412"/>
              <a:gd name="connsiteY8" fmla="*/ 5149 h 10170"/>
              <a:gd name="connsiteX9" fmla="*/ 6632 w 15412"/>
              <a:gd name="connsiteY9" fmla="*/ 5982 h 10170"/>
              <a:gd name="connsiteX10" fmla="*/ 9636 w 15412"/>
              <a:gd name="connsiteY10" fmla="*/ 7508 h 10170"/>
              <a:gd name="connsiteX11" fmla="*/ 11390 w 15412"/>
              <a:gd name="connsiteY11" fmla="*/ 8946 h 10170"/>
              <a:gd name="connsiteX12" fmla="*/ 10866 w 15412"/>
              <a:gd name="connsiteY12" fmla="*/ 10170 h 10170"/>
              <a:gd name="connsiteX13" fmla="*/ 15412 w 15412"/>
              <a:gd name="connsiteY13" fmla="*/ 10170 h 10170"/>
              <a:gd name="connsiteX14" fmla="*/ 15321 w 15412"/>
              <a:gd name="connsiteY14" fmla="*/ 170 h 10170"/>
              <a:gd name="connsiteX15" fmla="*/ 0 w 15412"/>
              <a:gd name="connsiteY15" fmla="*/ 0 h 10170"/>
              <a:gd name="connsiteX16" fmla="*/ 6087 w 15412"/>
              <a:gd name="connsiteY16" fmla="*/ 386 h 10170"/>
              <a:gd name="connsiteX0" fmla="*/ 6087 w 15412"/>
              <a:gd name="connsiteY0" fmla="*/ 1021 h 10805"/>
              <a:gd name="connsiteX1" fmla="*/ 8265 w 15412"/>
              <a:gd name="connsiteY1" fmla="*/ 1303 h 10805"/>
              <a:gd name="connsiteX2" fmla="*/ 9636 w 15412"/>
              <a:gd name="connsiteY2" fmla="*/ 1786 h 10805"/>
              <a:gd name="connsiteX3" fmla="*/ 10644 w 15412"/>
              <a:gd name="connsiteY3" fmla="*/ 2299 h 10805"/>
              <a:gd name="connsiteX4" fmla="*/ 11097 w 15412"/>
              <a:gd name="connsiteY4" fmla="*/ 3037 h 10805"/>
              <a:gd name="connsiteX5" fmla="*/ 10503 w 15412"/>
              <a:gd name="connsiteY5" fmla="*/ 3649 h 10805"/>
              <a:gd name="connsiteX6" fmla="*/ 8779 w 15412"/>
              <a:gd name="connsiteY6" fmla="*/ 4184 h 10805"/>
              <a:gd name="connsiteX7" fmla="*/ 6309 w 15412"/>
              <a:gd name="connsiteY7" fmla="*/ 5099 h 10805"/>
              <a:gd name="connsiteX8" fmla="*/ 5412 w 15412"/>
              <a:gd name="connsiteY8" fmla="*/ 5784 h 10805"/>
              <a:gd name="connsiteX9" fmla="*/ 6632 w 15412"/>
              <a:gd name="connsiteY9" fmla="*/ 6617 h 10805"/>
              <a:gd name="connsiteX10" fmla="*/ 9636 w 15412"/>
              <a:gd name="connsiteY10" fmla="*/ 8143 h 10805"/>
              <a:gd name="connsiteX11" fmla="*/ 11390 w 15412"/>
              <a:gd name="connsiteY11" fmla="*/ 9581 h 10805"/>
              <a:gd name="connsiteX12" fmla="*/ 10866 w 15412"/>
              <a:gd name="connsiteY12" fmla="*/ 10805 h 10805"/>
              <a:gd name="connsiteX13" fmla="*/ 15412 w 15412"/>
              <a:gd name="connsiteY13" fmla="*/ 10805 h 10805"/>
              <a:gd name="connsiteX14" fmla="*/ 6169 w 15412"/>
              <a:gd name="connsiteY14" fmla="*/ 0 h 10805"/>
              <a:gd name="connsiteX15" fmla="*/ 0 w 15412"/>
              <a:gd name="connsiteY15" fmla="*/ 635 h 10805"/>
              <a:gd name="connsiteX16" fmla="*/ 6087 w 15412"/>
              <a:gd name="connsiteY16" fmla="*/ 1021 h 10805"/>
              <a:gd name="connsiteX0" fmla="*/ 6087 w 15412"/>
              <a:gd name="connsiteY0" fmla="*/ 1021 h 10805"/>
              <a:gd name="connsiteX1" fmla="*/ 8265 w 15412"/>
              <a:gd name="connsiteY1" fmla="*/ 1303 h 10805"/>
              <a:gd name="connsiteX2" fmla="*/ 9636 w 15412"/>
              <a:gd name="connsiteY2" fmla="*/ 1786 h 10805"/>
              <a:gd name="connsiteX3" fmla="*/ 10644 w 15412"/>
              <a:gd name="connsiteY3" fmla="*/ 2299 h 10805"/>
              <a:gd name="connsiteX4" fmla="*/ 11097 w 15412"/>
              <a:gd name="connsiteY4" fmla="*/ 3037 h 10805"/>
              <a:gd name="connsiteX5" fmla="*/ 10503 w 15412"/>
              <a:gd name="connsiteY5" fmla="*/ 3649 h 10805"/>
              <a:gd name="connsiteX6" fmla="*/ 8779 w 15412"/>
              <a:gd name="connsiteY6" fmla="*/ 4184 h 10805"/>
              <a:gd name="connsiteX7" fmla="*/ 6309 w 15412"/>
              <a:gd name="connsiteY7" fmla="*/ 5099 h 10805"/>
              <a:gd name="connsiteX8" fmla="*/ 5412 w 15412"/>
              <a:gd name="connsiteY8" fmla="*/ 5784 h 10805"/>
              <a:gd name="connsiteX9" fmla="*/ 6632 w 15412"/>
              <a:gd name="connsiteY9" fmla="*/ 6617 h 10805"/>
              <a:gd name="connsiteX10" fmla="*/ 9636 w 15412"/>
              <a:gd name="connsiteY10" fmla="*/ 8143 h 10805"/>
              <a:gd name="connsiteX11" fmla="*/ 11390 w 15412"/>
              <a:gd name="connsiteY11" fmla="*/ 9581 h 10805"/>
              <a:gd name="connsiteX12" fmla="*/ 10866 w 15412"/>
              <a:gd name="connsiteY12" fmla="*/ 10805 h 10805"/>
              <a:gd name="connsiteX13" fmla="*/ 15412 w 15412"/>
              <a:gd name="connsiteY13" fmla="*/ 10805 h 10805"/>
              <a:gd name="connsiteX14" fmla="*/ 5912 w 15412"/>
              <a:gd name="connsiteY14" fmla="*/ 0 h 10805"/>
              <a:gd name="connsiteX15" fmla="*/ 0 w 15412"/>
              <a:gd name="connsiteY15" fmla="*/ 635 h 10805"/>
              <a:gd name="connsiteX16" fmla="*/ 6087 w 15412"/>
              <a:gd name="connsiteY16" fmla="*/ 1021 h 10805"/>
              <a:gd name="connsiteX0" fmla="*/ 6087 w 15412"/>
              <a:gd name="connsiteY0" fmla="*/ 1021 h 10805"/>
              <a:gd name="connsiteX1" fmla="*/ 8265 w 15412"/>
              <a:gd name="connsiteY1" fmla="*/ 1303 h 10805"/>
              <a:gd name="connsiteX2" fmla="*/ 9636 w 15412"/>
              <a:gd name="connsiteY2" fmla="*/ 1786 h 10805"/>
              <a:gd name="connsiteX3" fmla="*/ 10644 w 15412"/>
              <a:gd name="connsiteY3" fmla="*/ 2299 h 10805"/>
              <a:gd name="connsiteX4" fmla="*/ 11097 w 15412"/>
              <a:gd name="connsiteY4" fmla="*/ 3037 h 10805"/>
              <a:gd name="connsiteX5" fmla="*/ 10503 w 15412"/>
              <a:gd name="connsiteY5" fmla="*/ 3649 h 10805"/>
              <a:gd name="connsiteX6" fmla="*/ 8779 w 15412"/>
              <a:gd name="connsiteY6" fmla="*/ 4184 h 10805"/>
              <a:gd name="connsiteX7" fmla="*/ 6309 w 15412"/>
              <a:gd name="connsiteY7" fmla="*/ 5099 h 10805"/>
              <a:gd name="connsiteX8" fmla="*/ 5412 w 15412"/>
              <a:gd name="connsiteY8" fmla="*/ 5784 h 10805"/>
              <a:gd name="connsiteX9" fmla="*/ 6632 w 15412"/>
              <a:gd name="connsiteY9" fmla="*/ 6617 h 10805"/>
              <a:gd name="connsiteX10" fmla="*/ 9636 w 15412"/>
              <a:gd name="connsiteY10" fmla="*/ 8143 h 10805"/>
              <a:gd name="connsiteX11" fmla="*/ 11390 w 15412"/>
              <a:gd name="connsiteY11" fmla="*/ 9581 h 10805"/>
              <a:gd name="connsiteX12" fmla="*/ 10866 w 15412"/>
              <a:gd name="connsiteY12" fmla="*/ 10805 h 10805"/>
              <a:gd name="connsiteX13" fmla="*/ 15412 w 15412"/>
              <a:gd name="connsiteY13" fmla="*/ 10805 h 10805"/>
              <a:gd name="connsiteX14" fmla="*/ 5912 w 15412"/>
              <a:gd name="connsiteY14" fmla="*/ 0 h 10805"/>
              <a:gd name="connsiteX15" fmla="*/ 5471 w 15412"/>
              <a:gd name="connsiteY15" fmla="*/ 7 h 10805"/>
              <a:gd name="connsiteX16" fmla="*/ 0 w 15412"/>
              <a:gd name="connsiteY16" fmla="*/ 635 h 10805"/>
              <a:gd name="connsiteX17" fmla="*/ 6087 w 15412"/>
              <a:gd name="connsiteY17" fmla="*/ 1021 h 10805"/>
              <a:gd name="connsiteX0" fmla="*/ 6087 w 15412"/>
              <a:gd name="connsiteY0" fmla="*/ 1014 h 10798"/>
              <a:gd name="connsiteX1" fmla="*/ 8265 w 15412"/>
              <a:gd name="connsiteY1" fmla="*/ 1296 h 10798"/>
              <a:gd name="connsiteX2" fmla="*/ 9636 w 15412"/>
              <a:gd name="connsiteY2" fmla="*/ 1779 h 10798"/>
              <a:gd name="connsiteX3" fmla="*/ 10644 w 15412"/>
              <a:gd name="connsiteY3" fmla="*/ 2292 h 10798"/>
              <a:gd name="connsiteX4" fmla="*/ 11097 w 15412"/>
              <a:gd name="connsiteY4" fmla="*/ 3030 h 10798"/>
              <a:gd name="connsiteX5" fmla="*/ 10503 w 15412"/>
              <a:gd name="connsiteY5" fmla="*/ 3642 h 10798"/>
              <a:gd name="connsiteX6" fmla="*/ 8779 w 15412"/>
              <a:gd name="connsiteY6" fmla="*/ 4177 h 10798"/>
              <a:gd name="connsiteX7" fmla="*/ 6309 w 15412"/>
              <a:gd name="connsiteY7" fmla="*/ 5092 h 10798"/>
              <a:gd name="connsiteX8" fmla="*/ 5412 w 15412"/>
              <a:gd name="connsiteY8" fmla="*/ 5777 h 10798"/>
              <a:gd name="connsiteX9" fmla="*/ 6632 w 15412"/>
              <a:gd name="connsiteY9" fmla="*/ 6610 h 10798"/>
              <a:gd name="connsiteX10" fmla="*/ 9636 w 15412"/>
              <a:gd name="connsiteY10" fmla="*/ 8136 h 10798"/>
              <a:gd name="connsiteX11" fmla="*/ 11390 w 15412"/>
              <a:gd name="connsiteY11" fmla="*/ 9574 h 10798"/>
              <a:gd name="connsiteX12" fmla="*/ 10866 w 15412"/>
              <a:gd name="connsiteY12" fmla="*/ 10798 h 10798"/>
              <a:gd name="connsiteX13" fmla="*/ 15412 w 15412"/>
              <a:gd name="connsiteY13" fmla="*/ 10798 h 10798"/>
              <a:gd name="connsiteX14" fmla="*/ 7486 w 15412"/>
              <a:gd name="connsiteY14" fmla="*/ 364 h 10798"/>
              <a:gd name="connsiteX15" fmla="*/ 5471 w 15412"/>
              <a:gd name="connsiteY15" fmla="*/ 0 h 10798"/>
              <a:gd name="connsiteX16" fmla="*/ 0 w 15412"/>
              <a:gd name="connsiteY16" fmla="*/ 628 h 10798"/>
              <a:gd name="connsiteX17" fmla="*/ 6087 w 15412"/>
              <a:gd name="connsiteY17" fmla="*/ 1014 h 10798"/>
              <a:gd name="connsiteX0" fmla="*/ 6087 w 15412"/>
              <a:gd name="connsiteY0" fmla="*/ 1014 h 10798"/>
              <a:gd name="connsiteX1" fmla="*/ 8265 w 15412"/>
              <a:gd name="connsiteY1" fmla="*/ 1296 h 10798"/>
              <a:gd name="connsiteX2" fmla="*/ 9636 w 15412"/>
              <a:gd name="connsiteY2" fmla="*/ 1779 h 10798"/>
              <a:gd name="connsiteX3" fmla="*/ 10644 w 15412"/>
              <a:gd name="connsiteY3" fmla="*/ 2292 h 10798"/>
              <a:gd name="connsiteX4" fmla="*/ 11097 w 15412"/>
              <a:gd name="connsiteY4" fmla="*/ 3030 h 10798"/>
              <a:gd name="connsiteX5" fmla="*/ 10503 w 15412"/>
              <a:gd name="connsiteY5" fmla="*/ 3642 h 10798"/>
              <a:gd name="connsiteX6" fmla="*/ 8779 w 15412"/>
              <a:gd name="connsiteY6" fmla="*/ 4177 h 10798"/>
              <a:gd name="connsiteX7" fmla="*/ 6309 w 15412"/>
              <a:gd name="connsiteY7" fmla="*/ 5092 h 10798"/>
              <a:gd name="connsiteX8" fmla="*/ 5412 w 15412"/>
              <a:gd name="connsiteY8" fmla="*/ 5777 h 10798"/>
              <a:gd name="connsiteX9" fmla="*/ 6632 w 15412"/>
              <a:gd name="connsiteY9" fmla="*/ 6610 h 10798"/>
              <a:gd name="connsiteX10" fmla="*/ 9636 w 15412"/>
              <a:gd name="connsiteY10" fmla="*/ 8136 h 10798"/>
              <a:gd name="connsiteX11" fmla="*/ 11390 w 15412"/>
              <a:gd name="connsiteY11" fmla="*/ 9574 h 10798"/>
              <a:gd name="connsiteX12" fmla="*/ 10866 w 15412"/>
              <a:gd name="connsiteY12" fmla="*/ 10798 h 10798"/>
              <a:gd name="connsiteX13" fmla="*/ 15412 w 15412"/>
              <a:gd name="connsiteY13" fmla="*/ 10798 h 10798"/>
              <a:gd name="connsiteX14" fmla="*/ 7486 w 15412"/>
              <a:gd name="connsiteY14" fmla="*/ 364 h 10798"/>
              <a:gd name="connsiteX15" fmla="*/ 5471 w 15412"/>
              <a:gd name="connsiteY15" fmla="*/ 0 h 10798"/>
              <a:gd name="connsiteX16" fmla="*/ 0 w 15412"/>
              <a:gd name="connsiteY16" fmla="*/ 628 h 10798"/>
              <a:gd name="connsiteX17" fmla="*/ 6087 w 15412"/>
              <a:gd name="connsiteY17" fmla="*/ 1014 h 10798"/>
              <a:gd name="connsiteX0" fmla="*/ 6087 w 15412"/>
              <a:gd name="connsiteY0" fmla="*/ 1014 h 10798"/>
              <a:gd name="connsiteX1" fmla="*/ 8265 w 15412"/>
              <a:gd name="connsiteY1" fmla="*/ 1296 h 10798"/>
              <a:gd name="connsiteX2" fmla="*/ 9636 w 15412"/>
              <a:gd name="connsiteY2" fmla="*/ 1779 h 10798"/>
              <a:gd name="connsiteX3" fmla="*/ 10644 w 15412"/>
              <a:gd name="connsiteY3" fmla="*/ 2292 h 10798"/>
              <a:gd name="connsiteX4" fmla="*/ 11097 w 15412"/>
              <a:gd name="connsiteY4" fmla="*/ 3030 h 10798"/>
              <a:gd name="connsiteX5" fmla="*/ 10503 w 15412"/>
              <a:gd name="connsiteY5" fmla="*/ 3642 h 10798"/>
              <a:gd name="connsiteX6" fmla="*/ 8779 w 15412"/>
              <a:gd name="connsiteY6" fmla="*/ 4177 h 10798"/>
              <a:gd name="connsiteX7" fmla="*/ 6309 w 15412"/>
              <a:gd name="connsiteY7" fmla="*/ 5092 h 10798"/>
              <a:gd name="connsiteX8" fmla="*/ 5412 w 15412"/>
              <a:gd name="connsiteY8" fmla="*/ 5777 h 10798"/>
              <a:gd name="connsiteX9" fmla="*/ 6632 w 15412"/>
              <a:gd name="connsiteY9" fmla="*/ 6610 h 10798"/>
              <a:gd name="connsiteX10" fmla="*/ 9636 w 15412"/>
              <a:gd name="connsiteY10" fmla="*/ 8136 h 10798"/>
              <a:gd name="connsiteX11" fmla="*/ 11390 w 15412"/>
              <a:gd name="connsiteY11" fmla="*/ 9574 h 10798"/>
              <a:gd name="connsiteX12" fmla="*/ 10866 w 15412"/>
              <a:gd name="connsiteY12" fmla="*/ 10798 h 10798"/>
              <a:gd name="connsiteX13" fmla="*/ 15412 w 15412"/>
              <a:gd name="connsiteY13" fmla="*/ 10798 h 10798"/>
              <a:gd name="connsiteX14" fmla="*/ 7486 w 15412"/>
              <a:gd name="connsiteY14" fmla="*/ 364 h 10798"/>
              <a:gd name="connsiteX15" fmla="*/ 5471 w 15412"/>
              <a:gd name="connsiteY15" fmla="*/ 0 h 10798"/>
              <a:gd name="connsiteX16" fmla="*/ 0 w 15412"/>
              <a:gd name="connsiteY16" fmla="*/ 628 h 10798"/>
              <a:gd name="connsiteX17" fmla="*/ 6087 w 15412"/>
              <a:gd name="connsiteY17" fmla="*/ 1014 h 10798"/>
              <a:gd name="connsiteX0" fmla="*/ 7777 w 17102"/>
              <a:gd name="connsiteY0" fmla="*/ 821 h 10605"/>
              <a:gd name="connsiteX1" fmla="*/ 9955 w 17102"/>
              <a:gd name="connsiteY1" fmla="*/ 1103 h 10605"/>
              <a:gd name="connsiteX2" fmla="*/ 11326 w 17102"/>
              <a:gd name="connsiteY2" fmla="*/ 1586 h 10605"/>
              <a:gd name="connsiteX3" fmla="*/ 12334 w 17102"/>
              <a:gd name="connsiteY3" fmla="*/ 2099 h 10605"/>
              <a:gd name="connsiteX4" fmla="*/ 12787 w 17102"/>
              <a:gd name="connsiteY4" fmla="*/ 2837 h 10605"/>
              <a:gd name="connsiteX5" fmla="*/ 12193 w 17102"/>
              <a:gd name="connsiteY5" fmla="*/ 3449 h 10605"/>
              <a:gd name="connsiteX6" fmla="*/ 10469 w 17102"/>
              <a:gd name="connsiteY6" fmla="*/ 3984 h 10605"/>
              <a:gd name="connsiteX7" fmla="*/ 7999 w 17102"/>
              <a:gd name="connsiteY7" fmla="*/ 4899 h 10605"/>
              <a:gd name="connsiteX8" fmla="*/ 7102 w 17102"/>
              <a:gd name="connsiteY8" fmla="*/ 5584 h 10605"/>
              <a:gd name="connsiteX9" fmla="*/ 8322 w 17102"/>
              <a:gd name="connsiteY9" fmla="*/ 6417 h 10605"/>
              <a:gd name="connsiteX10" fmla="*/ 11326 w 17102"/>
              <a:gd name="connsiteY10" fmla="*/ 7943 h 10605"/>
              <a:gd name="connsiteX11" fmla="*/ 13080 w 17102"/>
              <a:gd name="connsiteY11" fmla="*/ 9381 h 10605"/>
              <a:gd name="connsiteX12" fmla="*/ 12556 w 17102"/>
              <a:gd name="connsiteY12" fmla="*/ 10605 h 10605"/>
              <a:gd name="connsiteX13" fmla="*/ 17102 w 17102"/>
              <a:gd name="connsiteY13" fmla="*/ 10605 h 10605"/>
              <a:gd name="connsiteX14" fmla="*/ 9176 w 17102"/>
              <a:gd name="connsiteY14" fmla="*/ 171 h 10605"/>
              <a:gd name="connsiteX15" fmla="*/ 0 w 17102"/>
              <a:gd name="connsiteY15" fmla="*/ 0 h 10605"/>
              <a:gd name="connsiteX16" fmla="*/ 1690 w 17102"/>
              <a:gd name="connsiteY16" fmla="*/ 435 h 10605"/>
              <a:gd name="connsiteX17" fmla="*/ 7777 w 17102"/>
              <a:gd name="connsiteY17" fmla="*/ 821 h 10605"/>
              <a:gd name="connsiteX0" fmla="*/ 7777 w 17102"/>
              <a:gd name="connsiteY0" fmla="*/ 828 h 10612"/>
              <a:gd name="connsiteX1" fmla="*/ 9955 w 17102"/>
              <a:gd name="connsiteY1" fmla="*/ 1110 h 10612"/>
              <a:gd name="connsiteX2" fmla="*/ 11326 w 17102"/>
              <a:gd name="connsiteY2" fmla="*/ 1593 h 10612"/>
              <a:gd name="connsiteX3" fmla="*/ 12334 w 17102"/>
              <a:gd name="connsiteY3" fmla="*/ 2106 h 10612"/>
              <a:gd name="connsiteX4" fmla="*/ 12787 w 17102"/>
              <a:gd name="connsiteY4" fmla="*/ 2844 h 10612"/>
              <a:gd name="connsiteX5" fmla="*/ 12193 w 17102"/>
              <a:gd name="connsiteY5" fmla="*/ 3456 h 10612"/>
              <a:gd name="connsiteX6" fmla="*/ 10469 w 17102"/>
              <a:gd name="connsiteY6" fmla="*/ 3991 h 10612"/>
              <a:gd name="connsiteX7" fmla="*/ 7999 w 17102"/>
              <a:gd name="connsiteY7" fmla="*/ 4906 h 10612"/>
              <a:gd name="connsiteX8" fmla="*/ 7102 w 17102"/>
              <a:gd name="connsiteY8" fmla="*/ 5591 h 10612"/>
              <a:gd name="connsiteX9" fmla="*/ 8322 w 17102"/>
              <a:gd name="connsiteY9" fmla="*/ 6424 h 10612"/>
              <a:gd name="connsiteX10" fmla="*/ 11326 w 17102"/>
              <a:gd name="connsiteY10" fmla="*/ 7950 h 10612"/>
              <a:gd name="connsiteX11" fmla="*/ 13080 w 17102"/>
              <a:gd name="connsiteY11" fmla="*/ 9388 h 10612"/>
              <a:gd name="connsiteX12" fmla="*/ 12556 w 17102"/>
              <a:gd name="connsiteY12" fmla="*/ 10612 h 10612"/>
              <a:gd name="connsiteX13" fmla="*/ 17102 w 17102"/>
              <a:gd name="connsiteY13" fmla="*/ 10612 h 10612"/>
              <a:gd name="connsiteX14" fmla="*/ 9176 w 17102"/>
              <a:gd name="connsiteY14" fmla="*/ 178 h 10612"/>
              <a:gd name="connsiteX15" fmla="*/ 0 w 17102"/>
              <a:gd name="connsiteY15" fmla="*/ 7 h 10612"/>
              <a:gd name="connsiteX16" fmla="*/ 1690 w 17102"/>
              <a:gd name="connsiteY16" fmla="*/ 442 h 10612"/>
              <a:gd name="connsiteX17" fmla="*/ 7777 w 17102"/>
              <a:gd name="connsiteY17" fmla="*/ 828 h 10612"/>
              <a:gd name="connsiteX0" fmla="*/ 7777 w 17102"/>
              <a:gd name="connsiteY0" fmla="*/ 828 h 10612"/>
              <a:gd name="connsiteX1" fmla="*/ 9955 w 17102"/>
              <a:gd name="connsiteY1" fmla="*/ 1110 h 10612"/>
              <a:gd name="connsiteX2" fmla="*/ 11326 w 17102"/>
              <a:gd name="connsiteY2" fmla="*/ 1593 h 10612"/>
              <a:gd name="connsiteX3" fmla="*/ 12334 w 17102"/>
              <a:gd name="connsiteY3" fmla="*/ 2106 h 10612"/>
              <a:gd name="connsiteX4" fmla="*/ 12787 w 17102"/>
              <a:gd name="connsiteY4" fmla="*/ 2844 h 10612"/>
              <a:gd name="connsiteX5" fmla="*/ 12193 w 17102"/>
              <a:gd name="connsiteY5" fmla="*/ 3456 h 10612"/>
              <a:gd name="connsiteX6" fmla="*/ 10469 w 17102"/>
              <a:gd name="connsiteY6" fmla="*/ 3991 h 10612"/>
              <a:gd name="connsiteX7" fmla="*/ 7999 w 17102"/>
              <a:gd name="connsiteY7" fmla="*/ 4906 h 10612"/>
              <a:gd name="connsiteX8" fmla="*/ 7102 w 17102"/>
              <a:gd name="connsiteY8" fmla="*/ 5591 h 10612"/>
              <a:gd name="connsiteX9" fmla="*/ 8322 w 17102"/>
              <a:gd name="connsiteY9" fmla="*/ 6424 h 10612"/>
              <a:gd name="connsiteX10" fmla="*/ 11326 w 17102"/>
              <a:gd name="connsiteY10" fmla="*/ 7950 h 10612"/>
              <a:gd name="connsiteX11" fmla="*/ 13080 w 17102"/>
              <a:gd name="connsiteY11" fmla="*/ 9388 h 10612"/>
              <a:gd name="connsiteX12" fmla="*/ 12556 w 17102"/>
              <a:gd name="connsiteY12" fmla="*/ 10612 h 10612"/>
              <a:gd name="connsiteX13" fmla="*/ 17102 w 17102"/>
              <a:gd name="connsiteY13" fmla="*/ 10612 h 10612"/>
              <a:gd name="connsiteX14" fmla="*/ 11946 w 17102"/>
              <a:gd name="connsiteY14" fmla="*/ 4286 h 10612"/>
              <a:gd name="connsiteX15" fmla="*/ 9176 w 17102"/>
              <a:gd name="connsiteY15" fmla="*/ 178 h 10612"/>
              <a:gd name="connsiteX16" fmla="*/ 0 w 17102"/>
              <a:gd name="connsiteY16" fmla="*/ 7 h 10612"/>
              <a:gd name="connsiteX17" fmla="*/ 1690 w 17102"/>
              <a:gd name="connsiteY17" fmla="*/ 442 h 10612"/>
              <a:gd name="connsiteX18" fmla="*/ 7777 w 17102"/>
              <a:gd name="connsiteY18" fmla="*/ 828 h 10612"/>
              <a:gd name="connsiteX0" fmla="*/ 7777 w 17102"/>
              <a:gd name="connsiteY0" fmla="*/ 828 h 10612"/>
              <a:gd name="connsiteX1" fmla="*/ 9955 w 17102"/>
              <a:gd name="connsiteY1" fmla="*/ 1110 h 10612"/>
              <a:gd name="connsiteX2" fmla="*/ 11326 w 17102"/>
              <a:gd name="connsiteY2" fmla="*/ 1593 h 10612"/>
              <a:gd name="connsiteX3" fmla="*/ 12334 w 17102"/>
              <a:gd name="connsiteY3" fmla="*/ 2106 h 10612"/>
              <a:gd name="connsiteX4" fmla="*/ 12787 w 17102"/>
              <a:gd name="connsiteY4" fmla="*/ 2844 h 10612"/>
              <a:gd name="connsiteX5" fmla="*/ 12193 w 17102"/>
              <a:gd name="connsiteY5" fmla="*/ 3456 h 10612"/>
              <a:gd name="connsiteX6" fmla="*/ 10469 w 17102"/>
              <a:gd name="connsiteY6" fmla="*/ 3991 h 10612"/>
              <a:gd name="connsiteX7" fmla="*/ 7999 w 17102"/>
              <a:gd name="connsiteY7" fmla="*/ 4906 h 10612"/>
              <a:gd name="connsiteX8" fmla="*/ 7102 w 17102"/>
              <a:gd name="connsiteY8" fmla="*/ 5591 h 10612"/>
              <a:gd name="connsiteX9" fmla="*/ 8322 w 17102"/>
              <a:gd name="connsiteY9" fmla="*/ 6424 h 10612"/>
              <a:gd name="connsiteX10" fmla="*/ 11326 w 17102"/>
              <a:gd name="connsiteY10" fmla="*/ 7950 h 10612"/>
              <a:gd name="connsiteX11" fmla="*/ 13080 w 17102"/>
              <a:gd name="connsiteY11" fmla="*/ 9388 h 10612"/>
              <a:gd name="connsiteX12" fmla="*/ 12556 w 17102"/>
              <a:gd name="connsiteY12" fmla="*/ 10612 h 10612"/>
              <a:gd name="connsiteX13" fmla="*/ 17102 w 17102"/>
              <a:gd name="connsiteY13" fmla="*/ 10612 h 10612"/>
              <a:gd name="connsiteX14" fmla="*/ 13487 w 17102"/>
              <a:gd name="connsiteY14" fmla="*/ 1694 h 10612"/>
              <a:gd name="connsiteX15" fmla="*/ 9176 w 17102"/>
              <a:gd name="connsiteY15" fmla="*/ 178 h 10612"/>
              <a:gd name="connsiteX16" fmla="*/ 0 w 17102"/>
              <a:gd name="connsiteY16" fmla="*/ 7 h 10612"/>
              <a:gd name="connsiteX17" fmla="*/ 1690 w 17102"/>
              <a:gd name="connsiteY17" fmla="*/ 442 h 10612"/>
              <a:gd name="connsiteX18" fmla="*/ 7777 w 17102"/>
              <a:gd name="connsiteY18" fmla="*/ 828 h 10612"/>
              <a:gd name="connsiteX0" fmla="*/ 7777 w 14306"/>
              <a:gd name="connsiteY0" fmla="*/ 828 h 10612"/>
              <a:gd name="connsiteX1" fmla="*/ 9955 w 14306"/>
              <a:gd name="connsiteY1" fmla="*/ 1110 h 10612"/>
              <a:gd name="connsiteX2" fmla="*/ 11326 w 14306"/>
              <a:gd name="connsiteY2" fmla="*/ 1593 h 10612"/>
              <a:gd name="connsiteX3" fmla="*/ 12334 w 14306"/>
              <a:gd name="connsiteY3" fmla="*/ 2106 h 10612"/>
              <a:gd name="connsiteX4" fmla="*/ 12787 w 14306"/>
              <a:gd name="connsiteY4" fmla="*/ 2844 h 10612"/>
              <a:gd name="connsiteX5" fmla="*/ 12193 w 14306"/>
              <a:gd name="connsiteY5" fmla="*/ 3456 h 10612"/>
              <a:gd name="connsiteX6" fmla="*/ 10469 w 14306"/>
              <a:gd name="connsiteY6" fmla="*/ 3991 h 10612"/>
              <a:gd name="connsiteX7" fmla="*/ 7999 w 14306"/>
              <a:gd name="connsiteY7" fmla="*/ 4906 h 10612"/>
              <a:gd name="connsiteX8" fmla="*/ 7102 w 14306"/>
              <a:gd name="connsiteY8" fmla="*/ 5591 h 10612"/>
              <a:gd name="connsiteX9" fmla="*/ 8322 w 14306"/>
              <a:gd name="connsiteY9" fmla="*/ 6424 h 10612"/>
              <a:gd name="connsiteX10" fmla="*/ 11326 w 14306"/>
              <a:gd name="connsiteY10" fmla="*/ 7950 h 10612"/>
              <a:gd name="connsiteX11" fmla="*/ 13080 w 14306"/>
              <a:gd name="connsiteY11" fmla="*/ 9388 h 10612"/>
              <a:gd name="connsiteX12" fmla="*/ 12556 w 14306"/>
              <a:gd name="connsiteY12" fmla="*/ 10612 h 10612"/>
              <a:gd name="connsiteX13" fmla="*/ 14212 w 14306"/>
              <a:gd name="connsiteY13" fmla="*/ 4275 h 10612"/>
              <a:gd name="connsiteX14" fmla="*/ 13487 w 14306"/>
              <a:gd name="connsiteY14" fmla="*/ 1694 h 10612"/>
              <a:gd name="connsiteX15" fmla="*/ 9176 w 14306"/>
              <a:gd name="connsiteY15" fmla="*/ 178 h 10612"/>
              <a:gd name="connsiteX16" fmla="*/ 0 w 14306"/>
              <a:gd name="connsiteY16" fmla="*/ 7 h 10612"/>
              <a:gd name="connsiteX17" fmla="*/ 1690 w 14306"/>
              <a:gd name="connsiteY17" fmla="*/ 442 h 10612"/>
              <a:gd name="connsiteX18" fmla="*/ 7777 w 14306"/>
              <a:gd name="connsiteY18" fmla="*/ 828 h 10612"/>
              <a:gd name="connsiteX0" fmla="*/ 7777 w 14306"/>
              <a:gd name="connsiteY0" fmla="*/ 828 h 9388"/>
              <a:gd name="connsiteX1" fmla="*/ 9955 w 14306"/>
              <a:gd name="connsiteY1" fmla="*/ 1110 h 9388"/>
              <a:gd name="connsiteX2" fmla="*/ 11326 w 14306"/>
              <a:gd name="connsiteY2" fmla="*/ 1593 h 9388"/>
              <a:gd name="connsiteX3" fmla="*/ 12334 w 14306"/>
              <a:gd name="connsiteY3" fmla="*/ 2106 h 9388"/>
              <a:gd name="connsiteX4" fmla="*/ 12787 w 14306"/>
              <a:gd name="connsiteY4" fmla="*/ 2844 h 9388"/>
              <a:gd name="connsiteX5" fmla="*/ 12193 w 14306"/>
              <a:gd name="connsiteY5" fmla="*/ 3456 h 9388"/>
              <a:gd name="connsiteX6" fmla="*/ 10469 w 14306"/>
              <a:gd name="connsiteY6" fmla="*/ 3991 h 9388"/>
              <a:gd name="connsiteX7" fmla="*/ 7999 w 14306"/>
              <a:gd name="connsiteY7" fmla="*/ 4906 h 9388"/>
              <a:gd name="connsiteX8" fmla="*/ 7102 w 14306"/>
              <a:gd name="connsiteY8" fmla="*/ 5591 h 9388"/>
              <a:gd name="connsiteX9" fmla="*/ 8322 w 14306"/>
              <a:gd name="connsiteY9" fmla="*/ 6424 h 9388"/>
              <a:gd name="connsiteX10" fmla="*/ 11326 w 14306"/>
              <a:gd name="connsiteY10" fmla="*/ 7950 h 9388"/>
              <a:gd name="connsiteX11" fmla="*/ 13080 w 14306"/>
              <a:gd name="connsiteY11" fmla="*/ 9388 h 9388"/>
              <a:gd name="connsiteX12" fmla="*/ 14212 w 14306"/>
              <a:gd name="connsiteY12" fmla="*/ 4275 h 9388"/>
              <a:gd name="connsiteX13" fmla="*/ 13487 w 14306"/>
              <a:gd name="connsiteY13" fmla="*/ 1694 h 9388"/>
              <a:gd name="connsiteX14" fmla="*/ 9176 w 14306"/>
              <a:gd name="connsiteY14" fmla="*/ 178 h 9388"/>
              <a:gd name="connsiteX15" fmla="*/ 0 w 14306"/>
              <a:gd name="connsiteY15" fmla="*/ 7 h 9388"/>
              <a:gd name="connsiteX16" fmla="*/ 1690 w 14306"/>
              <a:gd name="connsiteY16" fmla="*/ 442 h 9388"/>
              <a:gd name="connsiteX17" fmla="*/ 7777 w 14306"/>
              <a:gd name="connsiteY17" fmla="*/ 828 h 9388"/>
              <a:gd name="connsiteX0" fmla="*/ 5436 w 10000"/>
              <a:gd name="connsiteY0" fmla="*/ 882 h 8468"/>
              <a:gd name="connsiteX1" fmla="*/ 6959 w 10000"/>
              <a:gd name="connsiteY1" fmla="*/ 1182 h 8468"/>
              <a:gd name="connsiteX2" fmla="*/ 7917 w 10000"/>
              <a:gd name="connsiteY2" fmla="*/ 1697 h 8468"/>
              <a:gd name="connsiteX3" fmla="*/ 8622 w 10000"/>
              <a:gd name="connsiteY3" fmla="*/ 2243 h 8468"/>
              <a:gd name="connsiteX4" fmla="*/ 8938 w 10000"/>
              <a:gd name="connsiteY4" fmla="*/ 3029 h 8468"/>
              <a:gd name="connsiteX5" fmla="*/ 8523 w 10000"/>
              <a:gd name="connsiteY5" fmla="*/ 3681 h 8468"/>
              <a:gd name="connsiteX6" fmla="*/ 7318 w 10000"/>
              <a:gd name="connsiteY6" fmla="*/ 4251 h 8468"/>
              <a:gd name="connsiteX7" fmla="*/ 5591 w 10000"/>
              <a:gd name="connsiteY7" fmla="*/ 5226 h 8468"/>
              <a:gd name="connsiteX8" fmla="*/ 4964 w 10000"/>
              <a:gd name="connsiteY8" fmla="*/ 5955 h 8468"/>
              <a:gd name="connsiteX9" fmla="*/ 5817 w 10000"/>
              <a:gd name="connsiteY9" fmla="*/ 6843 h 8468"/>
              <a:gd name="connsiteX10" fmla="*/ 7917 w 10000"/>
              <a:gd name="connsiteY10" fmla="*/ 8468 h 8468"/>
              <a:gd name="connsiteX11" fmla="*/ 9934 w 10000"/>
              <a:gd name="connsiteY11" fmla="*/ 4554 h 8468"/>
              <a:gd name="connsiteX12" fmla="*/ 9428 w 10000"/>
              <a:gd name="connsiteY12" fmla="*/ 1804 h 8468"/>
              <a:gd name="connsiteX13" fmla="*/ 6414 w 10000"/>
              <a:gd name="connsiteY13" fmla="*/ 190 h 8468"/>
              <a:gd name="connsiteX14" fmla="*/ 0 w 10000"/>
              <a:gd name="connsiteY14" fmla="*/ 7 h 8468"/>
              <a:gd name="connsiteX15" fmla="*/ 1181 w 10000"/>
              <a:gd name="connsiteY15" fmla="*/ 471 h 8468"/>
              <a:gd name="connsiteX16" fmla="*/ 5436 w 10000"/>
              <a:gd name="connsiteY16" fmla="*/ 882 h 8468"/>
              <a:gd name="connsiteX0" fmla="*/ 5436 w 10000"/>
              <a:gd name="connsiteY0" fmla="*/ 1043 h 8082"/>
              <a:gd name="connsiteX1" fmla="*/ 6959 w 10000"/>
              <a:gd name="connsiteY1" fmla="*/ 1397 h 8082"/>
              <a:gd name="connsiteX2" fmla="*/ 7917 w 10000"/>
              <a:gd name="connsiteY2" fmla="*/ 2005 h 8082"/>
              <a:gd name="connsiteX3" fmla="*/ 8622 w 10000"/>
              <a:gd name="connsiteY3" fmla="*/ 2650 h 8082"/>
              <a:gd name="connsiteX4" fmla="*/ 8938 w 10000"/>
              <a:gd name="connsiteY4" fmla="*/ 3578 h 8082"/>
              <a:gd name="connsiteX5" fmla="*/ 8523 w 10000"/>
              <a:gd name="connsiteY5" fmla="*/ 4348 h 8082"/>
              <a:gd name="connsiteX6" fmla="*/ 7318 w 10000"/>
              <a:gd name="connsiteY6" fmla="*/ 5021 h 8082"/>
              <a:gd name="connsiteX7" fmla="*/ 5591 w 10000"/>
              <a:gd name="connsiteY7" fmla="*/ 6172 h 8082"/>
              <a:gd name="connsiteX8" fmla="*/ 4964 w 10000"/>
              <a:gd name="connsiteY8" fmla="*/ 7033 h 8082"/>
              <a:gd name="connsiteX9" fmla="*/ 5817 w 10000"/>
              <a:gd name="connsiteY9" fmla="*/ 8082 h 8082"/>
              <a:gd name="connsiteX10" fmla="*/ 9934 w 10000"/>
              <a:gd name="connsiteY10" fmla="*/ 5379 h 8082"/>
              <a:gd name="connsiteX11" fmla="*/ 9428 w 10000"/>
              <a:gd name="connsiteY11" fmla="*/ 2131 h 8082"/>
              <a:gd name="connsiteX12" fmla="*/ 6414 w 10000"/>
              <a:gd name="connsiteY12" fmla="*/ 225 h 8082"/>
              <a:gd name="connsiteX13" fmla="*/ 0 w 10000"/>
              <a:gd name="connsiteY13" fmla="*/ 9 h 8082"/>
              <a:gd name="connsiteX14" fmla="*/ 1181 w 10000"/>
              <a:gd name="connsiteY14" fmla="*/ 557 h 8082"/>
              <a:gd name="connsiteX15" fmla="*/ 5436 w 10000"/>
              <a:gd name="connsiteY15" fmla="*/ 1043 h 8082"/>
              <a:gd name="connsiteX0" fmla="*/ 5436 w 10000"/>
              <a:gd name="connsiteY0" fmla="*/ 1291 h 10000"/>
              <a:gd name="connsiteX1" fmla="*/ 6959 w 10000"/>
              <a:gd name="connsiteY1" fmla="*/ 1729 h 10000"/>
              <a:gd name="connsiteX2" fmla="*/ 8366 w 10000"/>
              <a:gd name="connsiteY2" fmla="*/ 2421 h 10000"/>
              <a:gd name="connsiteX3" fmla="*/ 8622 w 10000"/>
              <a:gd name="connsiteY3" fmla="*/ 3279 h 10000"/>
              <a:gd name="connsiteX4" fmla="*/ 8938 w 10000"/>
              <a:gd name="connsiteY4" fmla="*/ 4427 h 10000"/>
              <a:gd name="connsiteX5" fmla="*/ 8523 w 10000"/>
              <a:gd name="connsiteY5" fmla="*/ 5380 h 10000"/>
              <a:gd name="connsiteX6" fmla="*/ 7318 w 10000"/>
              <a:gd name="connsiteY6" fmla="*/ 6213 h 10000"/>
              <a:gd name="connsiteX7" fmla="*/ 5591 w 10000"/>
              <a:gd name="connsiteY7" fmla="*/ 7637 h 10000"/>
              <a:gd name="connsiteX8" fmla="*/ 4964 w 10000"/>
              <a:gd name="connsiteY8" fmla="*/ 8702 h 10000"/>
              <a:gd name="connsiteX9" fmla="*/ 5817 w 10000"/>
              <a:gd name="connsiteY9" fmla="*/ 10000 h 10000"/>
              <a:gd name="connsiteX10" fmla="*/ 9934 w 10000"/>
              <a:gd name="connsiteY10" fmla="*/ 6656 h 10000"/>
              <a:gd name="connsiteX11" fmla="*/ 9428 w 10000"/>
              <a:gd name="connsiteY11" fmla="*/ 2637 h 10000"/>
              <a:gd name="connsiteX12" fmla="*/ 6414 w 10000"/>
              <a:gd name="connsiteY12" fmla="*/ 278 h 10000"/>
              <a:gd name="connsiteX13" fmla="*/ 0 w 10000"/>
              <a:gd name="connsiteY13" fmla="*/ 11 h 10000"/>
              <a:gd name="connsiteX14" fmla="*/ 1181 w 10000"/>
              <a:gd name="connsiteY14" fmla="*/ 689 h 10000"/>
              <a:gd name="connsiteX15" fmla="*/ 5436 w 10000"/>
              <a:gd name="connsiteY15" fmla="*/ 1291 h 10000"/>
              <a:gd name="connsiteX0" fmla="*/ 5436 w 10000"/>
              <a:gd name="connsiteY0" fmla="*/ 1291 h 10000"/>
              <a:gd name="connsiteX1" fmla="*/ 6959 w 10000"/>
              <a:gd name="connsiteY1" fmla="*/ 1729 h 10000"/>
              <a:gd name="connsiteX2" fmla="*/ 8366 w 10000"/>
              <a:gd name="connsiteY2" fmla="*/ 2421 h 10000"/>
              <a:gd name="connsiteX3" fmla="*/ 9035 w 10000"/>
              <a:gd name="connsiteY3" fmla="*/ 3291 h 10000"/>
              <a:gd name="connsiteX4" fmla="*/ 8622 w 10000"/>
              <a:gd name="connsiteY4" fmla="*/ 3279 h 10000"/>
              <a:gd name="connsiteX5" fmla="*/ 8938 w 10000"/>
              <a:gd name="connsiteY5" fmla="*/ 4427 h 10000"/>
              <a:gd name="connsiteX6" fmla="*/ 8523 w 10000"/>
              <a:gd name="connsiteY6" fmla="*/ 5380 h 10000"/>
              <a:gd name="connsiteX7" fmla="*/ 7318 w 10000"/>
              <a:gd name="connsiteY7" fmla="*/ 6213 h 10000"/>
              <a:gd name="connsiteX8" fmla="*/ 5591 w 10000"/>
              <a:gd name="connsiteY8" fmla="*/ 7637 h 10000"/>
              <a:gd name="connsiteX9" fmla="*/ 4964 w 10000"/>
              <a:gd name="connsiteY9" fmla="*/ 8702 h 10000"/>
              <a:gd name="connsiteX10" fmla="*/ 5817 w 10000"/>
              <a:gd name="connsiteY10" fmla="*/ 10000 h 10000"/>
              <a:gd name="connsiteX11" fmla="*/ 9934 w 10000"/>
              <a:gd name="connsiteY11" fmla="*/ 6656 h 10000"/>
              <a:gd name="connsiteX12" fmla="*/ 9428 w 10000"/>
              <a:gd name="connsiteY12" fmla="*/ 2637 h 10000"/>
              <a:gd name="connsiteX13" fmla="*/ 6414 w 10000"/>
              <a:gd name="connsiteY13" fmla="*/ 278 h 10000"/>
              <a:gd name="connsiteX14" fmla="*/ 0 w 10000"/>
              <a:gd name="connsiteY14" fmla="*/ 11 h 10000"/>
              <a:gd name="connsiteX15" fmla="*/ 1181 w 10000"/>
              <a:gd name="connsiteY15" fmla="*/ 689 h 10000"/>
              <a:gd name="connsiteX16" fmla="*/ 5436 w 10000"/>
              <a:gd name="connsiteY16" fmla="*/ 1291 h 10000"/>
              <a:gd name="connsiteX0" fmla="*/ 5436 w 10000"/>
              <a:gd name="connsiteY0" fmla="*/ 1291 h 10000"/>
              <a:gd name="connsiteX1" fmla="*/ 6959 w 10000"/>
              <a:gd name="connsiteY1" fmla="*/ 1729 h 10000"/>
              <a:gd name="connsiteX2" fmla="*/ 8366 w 10000"/>
              <a:gd name="connsiteY2" fmla="*/ 2421 h 10000"/>
              <a:gd name="connsiteX3" fmla="*/ 9035 w 10000"/>
              <a:gd name="connsiteY3" fmla="*/ 3291 h 10000"/>
              <a:gd name="connsiteX4" fmla="*/ 9093 w 10000"/>
              <a:gd name="connsiteY4" fmla="*/ 3544 h 10000"/>
              <a:gd name="connsiteX5" fmla="*/ 8938 w 10000"/>
              <a:gd name="connsiteY5" fmla="*/ 4427 h 10000"/>
              <a:gd name="connsiteX6" fmla="*/ 8523 w 10000"/>
              <a:gd name="connsiteY6" fmla="*/ 5380 h 10000"/>
              <a:gd name="connsiteX7" fmla="*/ 7318 w 10000"/>
              <a:gd name="connsiteY7" fmla="*/ 6213 h 10000"/>
              <a:gd name="connsiteX8" fmla="*/ 5591 w 10000"/>
              <a:gd name="connsiteY8" fmla="*/ 7637 h 10000"/>
              <a:gd name="connsiteX9" fmla="*/ 4964 w 10000"/>
              <a:gd name="connsiteY9" fmla="*/ 8702 h 10000"/>
              <a:gd name="connsiteX10" fmla="*/ 5817 w 10000"/>
              <a:gd name="connsiteY10" fmla="*/ 10000 h 10000"/>
              <a:gd name="connsiteX11" fmla="*/ 9934 w 10000"/>
              <a:gd name="connsiteY11" fmla="*/ 6656 h 10000"/>
              <a:gd name="connsiteX12" fmla="*/ 9428 w 10000"/>
              <a:gd name="connsiteY12" fmla="*/ 2637 h 10000"/>
              <a:gd name="connsiteX13" fmla="*/ 6414 w 10000"/>
              <a:gd name="connsiteY13" fmla="*/ 278 h 10000"/>
              <a:gd name="connsiteX14" fmla="*/ 0 w 10000"/>
              <a:gd name="connsiteY14" fmla="*/ 11 h 10000"/>
              <a:gd name="connsiteX15" fmla="*/ 1181 w 10000"/>
              <a:gd name="connsiteY15" fmla="*/ 689 h 10000"/>
              <a:gd name="connsiteX16" fmla="*/ 5436 w 10000"/>
              <a:gd name="connsiteY16" fmla="*/ 1291 h 10000"/>
              <a:gd name="connsiteX0" fmla="*/ 5436 w 10000"/>
              <a:gd name="connsiteY0" fmla="*/ 1291 h 10000"/>
              <a:gd name="connsiteX1" fmla="*/ 6959 w 10000"/>
              <a:gd name="connsiteY1" fmla="*/ 1729 h 10000"/>
              <a:gd name="connsiteX2" fmla="*/ 8366 w 10000"/>
              <a:gd name="connsiteY2" fmla="*/ 2421 h 10000"/>
              <a:gd name="connsiteX3" fmla="*/ 9035 w 10000"/>
              <a:gd name="connsiteY3" fmla="*/ 3291 h 10000"/>
              <a:gd name="connsiteX4" fmla="*/ 9093 w 10000"/>
              <a:gd name="connsiteY4" fmla="*/ 3544 h 10000"/>
              <a:gd name="connsiteX5" fmla="*/ 9207 w 10000"/>
              <a:gd name="connsiteY5" fmla="*/ 4644 h 10000"/>
              <a:gd name="connsiteX6" fmla="*/ 8523 w 10000"/>
              <a:gd name="connsiteY6" fmla="*/ 5380 h 10000"/>
              <a:gd name="connsiteX7" fmla="*/ 7318 w 10000"/>
              <a:gd name="connsiteY7" fmla="*/ 6213 h 10000"/>
              <a:gd name="connsiteX8" fmla="*/ 5591 w 10000"/>
              <a:gd name="connsiteY8" fmla="*/ 7637 h 10000"/>
              <a:gd name="connsiteX9" fmla="*/ 4964 w 10000"/>
              <a:gd name="connsiteY9" fmla="*/ 8702 h 10000"/>
              <a:gd name="connsiteX10" fmla="*/ 5817 w 10000"/>
              <a:gd name="connsiteY10" fmla="*/ 10000 h 10000"/>
              <a:gd name="connsiteX11" fmla="*/ 9934 w 10000"/>
              <a:gd name="connsiteY11" fmla="*/ 6656 h 10000"/>
              <a:gd name="connsiteX12" fmla="*/ 9428 w 10000"/>
              <a:gd name="connsiteY12" fmla="*/ 2637 h 10000"/>
              <a:gd name="connsiteX13" fmla="*/ 6414 w 10000"/>
              <a:gd name="connsiteY13" fmla="*/ 278 h 10000"/>
              <a:gd name="connsiteX14" fmla="*/ 0 w 10000"/>
              <a:gd name="connsiteY14" fmla="*/ 11 h 10000"/>
              <a:gd name="connsiteX15" fmla="*/ 1181 w 10000"/>
              <a:gd name="connsiteY15" fmla="*/ 689 h 10000"/>
              <a:gd name="connsiteX16" fmla="*/ 5436 w 10000"/>
              <a:gd name="connsiteY16" fmla="*/ 1291 h 10000"/>
              <a:gd name="connsiteX0" fmla="*/ 5279 w 10000"/>
              <a:gd name="connsiteY0" fmla="*/ 1026 h 10000"/>
              <a:gd name="connsiteX1" fmla="*/ 6959 w 10000"/>
              <a:gd name="connsiteY1" fmla="*/ 1729 h 10000"/>
              <a:gd name="connsiteX2" fmla="*/ 8366 w 10000"/>
              <a:gd name="connsiteY2" fmla="*/ 2421 h 10000"/>
              <a:gd name="connsiteX3" fmla="*/ 9035 w 10000"/>
              <a:gd name="connsiteY3" fmla="*/ 3291 h 10000"/>
              <a:gd name="connsiteX4" fmla="*/ 9093 w 10000"/>
              <a:gd name="connsiteY4" fmla="*/ 3544 h 10000"/>
              <a:gd name="connsiteX5" fmla="*/ 9207 w 10000"/>
              <a:gd name="connsiteY5" fmla="*/ 4644 h 10000"/>
              <a:gd name="connsiteX6" fmla="*/ 8523 w 10000"/>
              <a:gd name="connsiteY6" fmla="*/ 5380 h 10000"/>
              <a:gd name="connsiteX7" fmla="*/ 7318 w 10000"/>
              <a:gd name="connsiteY7" fmla="*/ 6213 h 10000"/>
              <a:gd name="connsiteX8" fmla="*/ 5591 w 10000"/>
              <a:gd name="connsiteY8" fmla="*/ 7637 h 10000"/>
              <a:gd name="connsiteX9" fmla="*/ 4964 w 10000"/>
              <a:gd name="connsiteY9" fmla="*/ 8702 h 10000"/>
              <a:gd name="connsiteX10" fmla="*/ 5817 w 10000"/>
              <a:gd name="connsiteY10" fmla="*/ 10000 h 10000"/>
              <a:gd name="connsiteX11" fmla="*/ 9934 w 10000"/>
              <a:gd name="connsiteY11" fmla="*/ 6656 h 10000"/>
              <a:gd name="connsiteX12" fmla="*/ 9428 w 10000"/>
              <a:gd name="connsiteY12" fmla="*/ 2637 h 10000"/>
              <a:gd name="connsiteX13" fmla="*/ 6414 w 10000"/>
              <a:gd name="connsiteY13" fmla="*/ 278 h 10000"/>
              <a:gd name="connsiteX14" fmla="*/ 0 w 10000"/>
              <a:gd name="connsiteY14" fmla="*/ 11 h 10000"/>
              <a:gd name="connsiteX15" fmla="*/ 1181 w 10000"/>
              <a:gd name="connsiteY15" fmla="*/ 689 h 10000"/>
              <a:gd name="connsiteX16" fmla="*/ 5279 w 10000"/>
              <a:gd name="connsiteY16" fmla="*/ 1026 h 10000"/>
              <a:gd name="connsiteX0" fmla="*/ 5279 w 9934"/>
              <a:gd name="connsiteY0" fmla="*/ 1102 h 10076"/>
              <a:gd name="connsiteX1" fmla="*/ 6959 w 9934"/>
              <a:gd name="connsiteY1" fmla="*/ 1805 h 10076"/>
              <a:gd name="connsiteX2" fmla="*/ 8366 w 9934"/>
              <a:gd name="connsiteY2" fmla="*/ 2497 h 10076"/>
              <a:gd name="connsiteX3" fmla="*/ 9035 w 9934"/>
              <a:gd name="connsiteY3" fmla="*/ 3367 h 10076"/>
              <a:gd name="connsiteX4" fmla="*/ 9093 w 9934"/>
              <a:gd name="connsiteY4" fmla="*/ 3620 h 10076"/>
              <a:gd name="connsiteX5" fmla="*/ 9207 w 9934"/>
              <a:gd name="connsiteY5" fmla="*/ 4720 h 10076"/>
              <a:gd name="connsiteX6" fmla="*/ 8523 w 9934"/>
              <a:gd name="connsiteY6" fmla="*/ 5456 h 10076"/>
              <a:gd name="connsiteX7" fmla="*/ 7318 w 9934"/>
              <a:gd name="connsiteY7" fmla="*/ 6289 h 10076"/>
              <a:gd name="connsiteX8" fmla="*/ 5591 w 9934"/>
              <a:gd name="connsiteY8" fmla="*/ 7713 h 10076"/>
              <a:gd name="connsiteX9" fmla="*/ 4964 w 9934"/>
              <a:gd name="connsiteY9" fmla="*/ 8778 h 10076"/>
              <a:gd name="connsiteX10" fmla="*/ 5817 w 9934"/>
              <a:gd name="connsiteY10" fmla="*/ 10076 h 10076"/>
              <a:gd name="connsiteX11" fmla="*/ 9934 w 9934"/>
              <a:gd name="connsiteY11" fmla="*/ 6732 h 10076"/>
              <a:gd name="connsiteX12" fmla="*/ 9428 w 9934"/>
              <a:gd name="connsiteY12" fmla="*/ 2713 h 10076"/>
              <a:gd name="connsiteX13" fmla="*/ 7830 w 9934"/>
              <a:gd name="connsiteY13" fmla="*/ 42 h 10076"/>
              <a:gd name="connsiteX14" fmla="*/ 0 w 9934"/>
              <a:gd name="connsiteY14" fmla="*/ 87 h 10076"/>
              <a:gd name="connsiteX15" fmla="*/ 1181 w 9934"/>
              <a:gd name="connsiteY15" fmla="*/ 765 h 10076"/>
              <a:gd name="connsiteX16" fmla="*/ 5279 w 9934"/>
              <a:gd name="connsiteY16" fmla="*/ 1102 h 10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934" h="10076">
                <a:moveTo>
                  <a:pt x="5279" y="1102"/>
                </a:moveTo>
                <a:lnTo>
                  <a:pt x="6959" y="1805"/>
                </a:lnTo>
                <a:lnTo>
                  <a:pt x="8366" y="2497"/>
                </a:lnTo>
                <a:cubicBezTo>
                  <a:pt x="8645" y="2737"/>
                  <a:pt x="8992" y="3224"/>
                  <a:pt x="9035" y="3367"/>
                </a:cubicBezTo>
                <a:cubicBezTo>
                  <a:pt x="9078" y="3510"/>
                  <a:pt x="9042" y="3411"/>
                  <a:pt x="9093" y="3620"/>
                </a:cubicBezTo>
                <a:cubicBezTo>
                  <a:pt x="9198" y="4003"/>
                  <a:pt x="9102" y="4337"/>
                  <a:pt x="9207" y="4720"/>
                </a:cubicBezTo>
                <a:lnTo>
                  <a:pt x="8523" y="5456"/>
                </a:lnTo>
                <a:lnTo>
                  <a:pt x="7318" y="6289"/>
                </a:lnTo>
                <a:lnTo>
                  <a:pt x="5591" y="7713"/>
                </a:lnTo>
                <a:lnTo>
                  <a:pt x="4964" y="8778"/>
                </a:lnTo>
                <a:lnTo>
                  <a:pt x="5817" y="10076"/>
                </a:lnTo>
                <a:lnTo>
                  <a:pt x="9934" y="6732"/>
                </a:lnTo>
                <a:cubicBezTo>
                  <a:pt x="9863" y="5091"/>
                  <a:pt x="9779" y="3828"/>
                  <a:pt x="9428" y="2713"/>
                </a:cubicBezTo>
                <a:cubicBezTo>
                  <a:pt x="9077" y="1598"/>
                  <a:pt x="9222" y="1152"/>
                  <a:pt x="7830" y="42"/>
                </a:cubicBezTo>
                <a:cubicBezTo>
                  <a:pt x="5692" y="-47"/>
                  <a:pt x="2902" y="20"/>
                  <a:pt x="0" y="87"/>
                </a:cubicBezTo>
                <a:lnTo>
                  <a:pt x="1181" y="765"/>
                </a:lnTo>
                <a:cubicBezTo>
                  <a:pt x="3318" y="821"/>
                  <a:pt x="3861" y="901"/>
                  <a:pt x="5279" y="110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latin typeface="Gotham Light"/>
              <a:cs typeface="Gotham Light"/>
            </a:endParaRPr>
          </a:p>
        </p:txBody>
      </p:sp>
      <p:sp useBgFill="1">
        <p:nvSpPr>
          <p:cNvPr id="8" name="Freeform 35">
            <a:extLst>
              <a:ext uri="{FF2B5EF4-FFF2-40B4-BE49-F238E27FC236}">
                <a16:creationId xmlns:a16="http://schemas.microsoft.com/office/drawing/2014/main" id="{3BE7BEDC-34BE-8ABB-7D56-782D9F73193F}"/>
              </a:ext>
            </a:extLst>
          </p:cNvPr>
          <p:cNvSpPr>
            <a:spLocks/>
          </p:cNvSpPr>
          <p:nvPr/>
        </p:nvSpPr>
        <p:spPr bwMode="auto">
          <a:xfrm>
            <a:off x="3593287" y="653045"/>
            <a:ext cx="2871224" cy="5368415"/>
          </a:xfrm>
          <a:custGeom>
            <a:avLst/>
            <a:gdLst>
              <a:gd name="T0" fmla="*/ 901 w 1398"/>
              <a:gd name="T1" fmla="*/ 142 h 4117"/>
              <a:gd name="T2" fmla="*/ 627 w 1398"/>
              <a:gd name="T3" fmla="*/ 341 h 4117"/>
              <a:gd name="T4" fmla="*/ 477 w 1398"/>
              <a:gd name="T5" fmla="*/ 611 h 4117"/>
              <a:gd name="T6" fmla="*/ 477 w 1398"/>
              <a:gd name="T7" fmla="*/ 950 h 4117"/>
              <a:gd name="T8" fmla="*/ 608 w 1398"/>
              <a:gd name="T9" fmla="*/ 1279 h 4117"/>
              <a:gd name="T10" fmla="*/ 690 w 1398"/>
              <a:gd name="T11" fmla="*/ 1853 h 4117"/>
              <a:gd name="T12" fmla="*/ 1176 w 1398"/>
              <a:gd name="T13" fmla="*/ 1888 h 4117"/>
              <a:gd name="T14" fmla="*/ 1398 w 1398"/>
              <a:gd name="T15" fmla="*/ 2588 h 4117"/>
              <a:gd name="T16" fmla="*/ 1042 w 1398"/>
              <a:gd name="T17" fmla="*/ 3142 h 4117"/>
              <a:gd name="T18" fmla="*/ 901 w 1398"/>
              <a:gd name="T19" fmla="*/ 3441 h 4117"/>
              <a:gd name="T20" fmla="*/ 690 w 1398"/>
              <a:gd name="T21" fmla="*/ 4117 h 4117"/>
              <a:gd name="T22" fmla="*/ 0 w 1398"/>
              <a:gd name="T23" fmla="*/ 4117 h 4117"/>
              <a:gd name="T24" fmla="*/ 0 w 1398"/>
              <a:gd name="T25" fmla="*/ 0 h 4117"/>
              <a:gd name="T26" fmla="*/ 699 w 1398"/>
              <a:gd name="T27" fmla="*/ 0 h 4117"/>
              <a:gd name="T28" fmla="*/ 901 w 1398"/>
              <a:gd name="T29" fmla="*/ 142 h 4117"/>
              <a:gd name="connsiteX0" fmla="*/ 6445 w 10000"/>
              <a:gd name="connsiteY0" fmla="*/ 353 h 10008"/>
              <a:gd name="connsiteX1" fmla="*/ 4485 w 10000"/>
              <a:gd name="connsiteY1" fmla="*/ 836 h 10008"/>
              <a:gd name="connsiteX2" fmla="*/ 3412 w 10000"/>
              <a:gd name="connsiteY2" fmla="*/ 1492 h 10008"/>
              <a:gd name="connsiteX3" fmla="*/ 3412 w 10000"/>
              <a:gd name="connsiteY3" fmla="*/ 2316 h 10008"/>
              <a:gd name="connsiteX4" fmla="*/ 4349 w 10000"/>
              <a:gd name="connsiteY4" fmla="*/ 3115 h 10008"/>
              <a:gd name="connsiteX5" fmla="*/ 4936 w 10000"/>
              <a:gd name="connsiteY5" fmla="*/ 4509 h 10008"/>
              <a:gd name="connsiteX6" fmla="*/ 8412 w 10000"/>
              <a:gd name="connsiteY6" fmla="*/ 4594 h 10008"/>
              <a:gd name="connsiteX7" fmla="*/ 10000 w 10000"/>
              <a:gd name="connsiteY7" fmla="*/ 6294 h 10008"/>
              <a:gd name="connsiteX8" fmla="*/ 7454 w 10000"/>
              <a:gd name="connsiteY8" fmla="*/ 7640 h 10008"/>
              <a:gd name="connsiteX9" fmla="*/ 6445 w 10000"/>
              <a:gd name="connsiteY9" fmla="*/ 8366 h 10008"/>
              <a:gd name="connsiteX10" fmla="*/ 4936 w 10000"/>
              <a:gd name="connsiteY10" fmla="*/ 10008 h 10008"/>
              <a:gd name="connsiteX11" fmla="*/ 0 w 10000"/>
              <a:gd name="connsiteY11" fmla="*/ 10008 h 10008"/>
              <a:gd name="connsiteX12" fmla="*/ 2871 w 10000"/>
              <a:gd name="connsiteY12" fmla="*/ 0 h 10008"/>
              <a:gd name="connsiteX13" fmla="*/ 5000 w 10000"/>
              <a:gd name="connsiteY13" fmla="*/ 8 h 10008"/>
              <a:gd name="connsiteX14" fmla="*/ 6445 w 10000"/>
              <a:gd name="connsiteY14" fmla="*/ 353 h 10008"/>
              <a:gd name="connsiteX0" fmla="*/ 4599 w 8154"/>
              <a:gd name="connsiteY0" fmla="*/ 353 h 10008"/>
              <a:gd name="connsiteX1" fmla="*/ 2639 w 8154"/>
              <a:gd name="connsiteY1" fmla="*/ 836 h 10008"/>
              <a:gd name="connsiteX2" fmla="*/ 1566 w 8154"/>
              <a:gd name="connsiteY2" fmla="*/ 1492 h 10008"/>
              <a:gd name="connsiteX3" fmla="*/ 1566 w 8154"/>
              <a:gd name="connsiteY3" fmla="*/ 2316 h 10008"/>
              <a:gd name="connsiteX4" fmla="*/ 2503 w 8154"/>
              <a:gd name="connsiteY4" fmla="*/ 3115 h 10008"/>
              <a:gd name="connsiteX5" fmla="*/ 3090 w 8154"/>
              <a:gd name="connsiteY5" fmla="*/ 4509 h 10008"/>
              <a:gd name="connsiteX6" fmla="*/ 6566 w 8154"/>
              <a:gd name="connsiteY6" fmla="*/ 4594 h 10008"/>
              <a:gd name="connsiteX7" fmla="*/ 8154 w 8154"/>
              <a:gd name="connsiteY7" fmla="*/ 6294 h 10008"/>
              <a:gd name="connsiteX8" fmla="*/ 5608 w 8154"/>
              <a:gd name="connsiteY8" fmla="*/ 7640 h 10008"/>
              <a:gd name="connsiteX9" fmla="*/ 4599 w 8154"/>
              <a:gd name="connsiteY9" fmla="*/ 8366 h 10008"/>
              <a:gd name="connsiteX10" fmla="*/ 3090 w 8154"/>
              <a:gd name="connsiteY10" fmla="*/ 10008 h 10008"/>
              <a:gd name="connsiteX11" fmla="*/ 0 w 8154"/>
              <a:gd name="connsiteY11" fmla="*/ 3733 h 10008"/>
              <a:gd name="connsiteX12" fmla="*/ 1025 w 8154"/>
              <a:gd name="connsiteY12" fmla="*/ 0 h 10008"/>
              <a:gd name="connsiteX13" fmla="*/ 3154 w 8154"/>
              <a:gd name="connsiteY13" fmla="*/ 8 h 10008"/>
              <a:gd name="connsiteX14" fmla="*/ 4599 w 8154"/>
              <a:gd name="connsiteY14" fmla="*/ 353 h 10008"/>
              <a:gd name="connsiteX0" fmla="*/ 5640 w 10000"/>
              <a:gd name="connsiteY0" fmla="*/ 353 h 8359"/>
              <a:gd name="connsiteX1" fmla="*/ 3236 w 10000"/>
              <a:gd name="connsiteY1" fmla="*/ 835 h 8359"/>
              <a:gd name="connsiteX2" fmla="*/ 1921 w 10000"/>
              <a:gd name="connsiteY2" fmla="*/ 1491 h 8359"/>
              <a:gd name="connsiteX3" fmla="*/ 1921 w 10000"/>
              <a:gd name="connsiteY3" fmla="*/ 2314 h 8359"/>
              <a:gd name="connsiteX4" fmla="*/ 3070 w 10000"/>
              <a:gd name="connsiteY4" fmla="*/ 3113 h 8359"/>
              <a:gd name="connsiteX5" fmla="*/ 3790 w 10000"/>
              <a:gd name="connsiteY5" fmla="*/ 4505 h 8359"/>
              <a:gd name="connsiteX6" fmla="*/ 8052 w 10000"/>
              <a:gd name="connsiteY6" fmla="*/ 4590 h 8359"/>
              <a:gd name="connsiteX7" fmla="*/ 10000 w 10000"/>
              <a:gd name="connsiteY7" fmla="*/ 6289 h 8359"/>
              <a:gd name="connsiteX8" fmla="*/ 6878 w 10000"/>
              <a:gd name="connsiteY8" fmla="*/ 7634 h 8359"/>
              <a:gd name="connsiteX9" fmla="*/ 5640 w 10000"/>
              <a:gd name="connsiteY9" fmla="*/ 8359 h 8359"/>
              <a:gd name="connsiteX10" fmla="*/ 2085 w 10000"/>
              <a:gd name="connsiteY10" fmla="*/ 5624 h 8359"/>
              <a:gd name="connsiteX11" fmla="*/ 0 w 10000"/>
              <a:gd name="connsiteY11" fmla="*/ 3730 h 8359"/>
              <a:gd name="connsiteX12" fmla="*/ 1257 w 10000"/>
              <a:gd name="connsiteY12" fmla="*/ 0 h 8359"/>
              <a:gd name="connsiteX13" fmla="*/ 3868 w 10000"/>
              <a:gd name="connsiteY13" fmla="*/ 8 h 8359"/>
              <a:gd name="connsiteX14" fmla="*/ 5640 w 10000"/>
              <a:gd name="connsiteY14" fmla="*/ 353 h 8359"/>
              <a:gd name="connsiteX0" fmla="*/ 5640 w 10000"/>
              <a:gd name="connsiteY0" fmla="*/ 422 h 9133"/>
              <a:gd name="connsiteX1" fmla="*/ 3236 w 10000"/>
              <a:gd name="connsiteY1" fmla="*/ 999 h 9133"/>
              <a:gd name="connsiteX2" fmla="*/ 1921 w 10000"/>
              <a:gd name="connsiteY2" fmla="*/ 1784 h 9133"/>
              <a:gd name="connsiteX3" fmla="*/ 1921 w 10000"/>
              <a:gd name="connsiteY3" fmla="*/ 2768 h 9133"/>
              <a:gd name="connsiteX4" fmla="*/ 3070 w 10000"/>
              <a:gd name="connsiteY4" fmla="*/ 3724 h 9133"/>
              <a:gd name="connsiteX5" fmla="*/ 3790 w 10000"/>
              <a:gd name="connsiteY5" fmla="*/ 5389 h 9133"/>
              <a:gd name="connsiteX6" fmla="*/ 8052 w 10000"/>
              <a:gd name="connsiteY6" fmla="*/ 5491 h 9133"/>
              <a:gd name="connsiteX7" fmla="*/ 10000 w 10000"/>
              <a:gd name="connsiteY7" fmla="*/ 7524 h 9133"/>
              <a:gd name="connsiteX8" fmla="*/ 6878 w 10000"/>
              <a:gd name="connsiteY8" fmla="*/ 9133 h 9133"/>
              <a:gd name="connsiteX9" fmla="*/ 4438 w 10000"/>
              <a:gd name="connsiteY9" fmla="*/ 7142 h 9133"/>
              <a:gd name="connsiteX10" fmla="*/ 2085 w 10000"/>
              <a:gd name="connsiteY10" fmla="*/ 6728 h 9133"/>
              <a:gd name="connsiteX11" fmla="*/ 0 w 10000"/>
              <a:gd name="connsiteY11" fmla="*/ 4462 h 9133"/>
              <a:gd name="connsiteX12" fmla="*/ 1257 w 10000"/>
              <a:gd name="connsiteY12" fmla="*/ 0 h 9133"/>
              <a:gd name="connsiteX13" fmla="*/ 3868 w 10000"/>
              <a:gd name="connsiteY13" fmla="*/ 10 h 9133"/>
              <a:gd name="connsiteX14" fmla="*/ 5640 w 10000"/>
              <a:gd name="connsiteY14" fmla="*/ 422 h 9133"/>
              <a:gd name="connsiteX0" fmla="*/ 5640 w 10000"/>
              <a:gd name="connsiteY0" fmla="*/ 462 h 8238"/>
              <a:gd name="connsiteX1" fmla="*/ 3236 w 10000"/>
              <a:gd name="connsiteY1" fmla="*/ 1094 h 8238"/>
              <a:gd name="connsiteX2" fmla="*/ 1921 w 10000"/>
              <a:gd name="connsiteY2" fmla="*/ 1953 h 8238"/>
              <a:gd name="connsiteX3" fmla="*/ 1921 w 10000"/>
              <a:gd name="connsiteY3" fmla="*/ 3031 h 8238"/>
              <a:gd name="connsiteX4" fmla="*/ 3070 w 10000"/>
              <a:gd name="connsiteY4" fmla="*/ 4078 h 8238"/>
              <a:gd name="connsiteX5" fmla="*/ 3790 w 10000"/>
              <a:gd name="connsiteY5" fmla="*/ 5901 h 8238"/>
              <a:gd name="connsiteX6" fmla="*/ 8052 w 10000"/>
              <a:gd name="connsiteY6" fmla="*/ 6012 h 8238"/>
              <a:gd name="connsiteX7" fmla="*/ 10000 w 10000"/>
              <a:gd name="connsiteY7" fmla="*/ 8238 h 8238"/>
              <a:gd name="connsiteX8" fmla="*/ 7633 w 10000"/>
              <a:gd name="connsiteY8" fmla="*/ 7499 h 8238"/>
              <a:gd name="connsiteX9" fmla="*/ 4438 w 10000"/>
              <a:gd name="connsiteY9" fmla="*/ 7820 h 8238"/>
              <a:gd name="connsiteX10" fmla="*/ 2085 w 10000"/>
              <a:gd name="connsiteY10" fmla="*/ 7367 h 8238"/>
              <a:gd name="connsiteX11" fmla="*/ 0 w 10000"/>
              <a:gd name="connsiteY11" fmla="*/ 4886 h 8238"/>
              <a:gd name="connsiteX12" fmla="*/ 1257 w 10000"/>
              <a:gd name="connsiteY12" fmla="*/ 0 h 8238"/>
              <a:gd name="connsiteX13" fmla="*/ 3868 w 10000"/>
              <a:gd name="connsiteY13" fmla="*/ 11 h 8238"/>
              <a:gd name="connsiteX14" fmla="*/ 5640 w 10000"/>
              <a:gd name="connsiteY14" fmla="*/ 462 h 8238"/>
              <a:gd name="connsiteX0" fmla="*/ 12570 w 12570"/>
              <a:gd name="connsiteY0" fmla="*/ 0 h 10189"/>
              <a:gd name="connsiteX1" fmla="*/ 3236 w 12570"/>
              <a:gd name="connsiteY1" fmla="*/ 1517 h 10189"/>
              <a:gd name="connsiteX2" fmla="*/ 1921 w 12570"/>
              <a:gd name="connsiteY2" fmla="*/ 2560 h 10189"/>
              <a:gd name="connsiteX3" fmla="*/ 1921 w 12570"/>
              <a:gd name="connsiteY3" fmla="*/ 3868 h 10189"/>
              <a:gd name="connsiteX4" fmla="*/ 3070 w 12570"/>
              <a:gd name="connsiteY4" fmla="*/ 5139 h 10189"/>
              <a:gd name="connsiteX5" fmla="*/ 3790 w 12570"/>
              <a:gd name="connsiteY5" fmla="*/ 7352 h 10189"/>
              <a:gd name="connsiteX6" fmla="*/ 8052 w 12570"/>
              <a:gd name="connsiteY6" fmla="*/ 7487 h 10189"/>
              <a:gd name="connsiteX7" fmla="*/ 10000 w 12570"/>
              <a:gd name="connsiteY7" fmla="*/ 10189 h 10189"/>
              <a:gd name="connsiteX8" fmla="*/ 7633 w 12570"/>
              <a:gd name="connsiteY8" fmla="*/ 9292 h 10189"/>
              <a:gd name="connsiteX9" fmla="*/ 4438 w 12570"/>
              <a:gd name="connsiteY9" fmla="*/ 9682 h 10189"/>
              <a:gd name="connsiteX10" fmla="*/ 2085 w 12570"/>
              <a:gd name="connsiteY10" fmla="*/ 9132 h 10189"/>
              <a:gd name="connsiteX11" fmla="*/ 0 w 12570"/>
              <a:gd name="connsiteY11" fmla="*/ 6120 h 10189"/>
              <a:gd name="connsiteX12" fmla="*/ 1257 w 12570"/>
              <a:gd name="connsiteY12" fmla="*/ 189 h 10189"/>
              <a:gd name="connsiteX13" fmla="*/ 3868 w 12570"/>
              <a:gd name="connsiteY13" fmla="*/ 202 h 10189"/>
              <a:gd name="connsiteX14" fmla="*/ 12570 w 12570"/>
              <a:gd name="connsiteY14" fmla="*/ 0 h 10189"/>
              <a:gd name="connsiteX0" fmla="*/ 12570 w 12570"/>
              <a:gd name="connsiteY0" fmla="*/ 0 h 10189"/>
              <a:gd name="connsiteX1" fmla="*/ 3236 w 12570"/>
              <a:gd name="connsiteY1" fmla="*/ 1517 h 10189"/>
              <a:gd name="connsiteX2" fmla="*/ 1921 w 12570"/>
              <a:gd name="connsiteY2" fmla="*/ 2560 h 10189"/>
              <a:gd name="connsiteX3" fmla="*/ 1921 w 12570"/>
              <a:gd name="connsiteY3" fmla="*/ 3868 h 10189"/>
              <a:gd name="connsiteX4" fmla="*/ 3070 w 12570"/>
              <a:gd name="connsiteY4" fmla="*/ 5139 h 10189"/>
              <a:gd name="connsiteX5" fmla="*/ 3790 w 12570"/>
              <a:gd name="connsiteY5" fmla="*/ 7352 h 10189"/>
              <a:gd name="connsiteX6" fmla="*/ 8052 w 12570"/>
              <a:gd name="connsiteY6" fmla="*/ 7487 h 10189"/>
              <a:gd name="connsiteX7" fmla="*/ 10000 w 12570"/>
              <a:gd name="connsiteY7" fmla="*/ 10189 h 10189"/>
              <a:gd name="connsiteX8" fmla="*/ 7633 w 12570"/>
              <a:gd name="connsiteY8" fmla="*/ 9292 h 10189"/>
              <a:gd name="connsiteX9" fmla="*/ 4438 w 12570"/>
              <a:gd name="connsiteY9" fmla="*/ 9682 h 10189"/>
              <a:gd name="connsiteX10" fmla="*/ 2085 w 12570"/>
              <a:gd name="connsiteY10" fmla="*/ 9132 h 10189"/>
              <a:gd name="connsiteX11" fmla="*/ 0 w 12570"/>
              <a:gd name="connsiteY11" fmla="*/ 6120 h 10189"/>
              <a:gd name="connsiteX12" fmla="*/ 1257 w 12570"/>
              <a:gd name="connsiteY12" fmla="*/ 189 h 10189"/>
              <a:gd name="connsiteX13" fmla="*/ 3868 w 12570"/>
              <a:gd name="connsiteY13" fmla="*/ 202 h 10189"/>
              <a:gd name="connsiteX14" fmla="*/ 12570 w 12570"/>
              <a:gd name="connsiteY14" fmla="*/ 0 h 10189"/>
              <a:gd name="connsiteX0" fmla="*/ 12570 w 12570"/>
              <a:gd name="connsiteY0" fmla="*/ 0 h 10189"/>
              <a:gd name="connsiteX1" fmla="*/ 3236 w 12570"/>
              <a:gd name="connsiteY1" fmla="*/ 1517 h 10189"/>
              <a:gd name="connsiteX2" fmla="*/ 1921 w 12570"/>
              <a:gd name="connsiteY2" fmla="*/ 2560 h 10189"/>
              <a:gd name="connsiteX3" fmla="*/ 1921 w 12570"/>
              <a:gd name="connsiteY3" fmla="*/ 3868 h 10189"/>
              <a:gd name="connsiteX4" fmla="*/ 3070 w 12570"/>
              <a:gd name="connsiteY4" fmla="*/ 5139 h 10189"/>
              <a:gd name="connsiteX5" fmla="*/ 3790 w 12570"/>
              <a:gd name="connsiteY5" fmla="*/ 7352 h 10189"/>
              <a:gd name="connsiteX6" fmla="*/ 8052 w 12570"/>
              <a:gd name="connsiteY6" fmla="*/ 7487 h 10189"/>
              <a:gd name="connsiteX7" fmla="*/ 10000 w 12570"/>
              <a:gd name="connsiteY7" fmla="*/ 10189 h 10189"/>
              <a:gd name="connsiteX8" fmla="*/ 7633 w 12570"/>
              <a:gd name="connsiteY8" fmla="*/ 9292 h 10189"/>
              <a:gd name="connsiteX9" fmla="*/ 4438 w 12570"/>
              <a:gd name="connsiteY9" fmla="*/ 9682 h 10189"/>
              <a:gd name="connsiteX10" fmla="*/ 2085 w 12570"/>
              <a:gd name="connsiteY10" fmla="*/ 9132 h 10189"/>
              <a:gd name="connsiteX11" fmla="*/ 0 w 12570"/>
              <a:gd name="connsiteY11" fmla="*/ 6120 h 10189"/>
              <a:gd name="connsiteX12" fmla="*/ 1257 w 12570"/>
              <a:gd name="connsiteY12" fmla="*/ 189 h 10189"/>
              <a:gd name="connsiteX13" fmla="*/ 4008 w 12570"/>
              <a:gd name="connsiteY13" fmla="*/ 141 h 10189"/>
              <a:gd name="connsiteX14" fmla="*/ 12570 w 12570"/>
              <a:gd name="connsiteY14" fmla="*/ 0 h 10189"/>
              <a:gd name="connsiteX0" fmla="*/ 12570 w 12570"/>
              <a:gd name="connsiteY0" fmla="*/ 0 h 10189"/>
              <a:gd name="connsiteX1" fmla="*/ 3236 w 12570"/>
              <a:gd name="connsiteY1" fmla="*/ 1517 h 10189"/>
              <a:gd name="connsiteX2" fmla="*/ 1921 w 12570"/>
              <a:gd name="connsiteY2" fmla="*/ 2560 h 10189"/>
              <a:gd name="connsiteX3" fmla="*/ 1921 w 12570"/>
              <a:gd name="connsiteY3" fmla="*/ 3868 h 10189"/>
              <a:gd name="connsiteX4" fmla="*/ 3070 w 12570"/>
              <a:gd name="connsiteY4" fmla="*/ 5139 h 10189"/>
              <a:gd name="connsiteX5" fmla="*/ 3790 w 12570"/>
              <a:gd name="connsiteY5" fmla="*/ 7352 h 10189"/>
              <a:gd name="connsiteX6" fmla="*/ 8052 w 12570"/>
              <a:gd name="connsiteY6" fmla="*/ 7487 h 10189"/>
              <a:gd name="connsiteX7" fmla="*/ 10000 w 12570"/>
              <a:gd name="connsiteY7" fmla="*/ 10189 h 10189"/>
              <a:gd name="connsiteX8" fmla="*/ 7633 w 12570"/>
              <a:gd name="connsiteY8" fmla="*/ 9292 h 10189"/>
              <a:gd name="connsiteX9" fmla="*/ 4438 w 12570"/>
              <a:gd name="connsiteY9" fmla="*/ 9682 h 10189"/>
              <a:gd name="connsiteX10" fmla="*/ 2085 w 12570"/>
              <a:gd name="connsiteY10" fmla="*/ 9132 h 10189"/>
              <a:gd name="connsiteX11" fmla="*/ 0 w 12570"/>
              <a:gd name="connsiteY11" fmla="*/ 6120 h 10189"/>
              <a:gd name="connsiteX12" fmla="*/ 1257 w 12570"/>
              <a:gd name="connsiteY12" fmla="*/ 189 h 10189"/>
              <a:gd name="connsiteX13" fmla="*/ 4008 w 12570"/>
              <a:gd name="connsiteY13" fmla="*/ 141 h 10189"/>
              <a:gd name="connsiteX14" fmla="*/ 12570 w 12570"/>
              <a:gd name="connsiteY14" fmla="*/ 0 h 10189"/>
              <a:gd name="connsiteX0" fmla="*/ 12570 w 12570"/>
              <a:gd name="connsiteY0" fmla="*/ 400 h 10589"/>
              <a:gd name="connsiteX1" fmla="*/ 3236 w 12570"/>
              <a:gd name="connsiteY1" fmla="*/ 1917 h 10589"/>
              <a:gd name="connsiteX2" fmla="*/ 1921 w 12570"/>
              <a:gd name="connsiteY2" fmla="*/ 2960 h 10589"/>
              <a:gd name="connsiteX3" fmla="*/ 1921 w 12570"/>
              <a:gd name="connsiteY3" fmla="*/ 4268 h 10589"/>
              <a:gd name="connsiteX4" fmla="*/ 3070 w 12570"/>
              <a:gd name="connsiteY4" fmla="*/ 5539 h 10589"/>
              <a:gd name="connsiteX5" fmla="*/ 3790 w 12570"/>
              <a:gd name="connsiteY5" fmla="*/ 7752 h 10589"/>
              <a:gd name="connsiteX6" fmla="*/ 8052 w 12570"/>
              <a:gd name="connsiteY6" fmla="*/ 7887 h 10589"/>
              <a:gd name="connsiteX7" fmla="*/ 10000 w 12570"/>
              <a:gd name="connsiteY7" fmla="*/ 10589 h 10589"/>
              <a:gd name="connsiteX8" fmla="*/ 7633 w 12570"/>
              <a:gd name="connsiteY8" fmla="*/ 9692 h 10589"/>
              <a:gd name="connsiteX9" fmla="*/ 4438 w 12570"/>
              <a:gd name="connsiteY9" fmla="*/ 10082 h 10589"/>
              <a:gd name="connsiteX10" fmla="*/ 2085 w 12570"/>
              <a:gd name="connsiteY10" fmla="*/ 9532 h 10589"/>
              <a:gd name="connsiteX11" fmla="*/ 0 w 12570"/>
              <a:gd name="connsiteY11" fmla="*/ 6520 h 10589"/>
              <a:gd name="connsiteX12" fmla="*/ 1257 w 12570"/>
              <a:gd name="connsiteY12" fmla="*/ 589 h 10589"/>
              <a:gd name="connsiteX13" fmla="*/ 4008 w 12570"/>
              <a:gd name="connsiteY13" fmla="*/ 541 h 10589"/>
              <a:gd name="connsiteX14" fmla="*/ 12570 w 12570"/>
              <a:gd name="connsiteY14" fmla="*/ 400 h 10589"/>
              <a:gd name="connsiteX0" fmla="*/ 12570 w 12570"/>
              <a:gd name="connsiteY0" fmla="*/ 1366 h 11555"/>
              <a:gd name="connsiteX1" fmla="*/ 3236 w 12570"/>
              <a:gd name="connsiteY1" fmla="*/ 2883 h 11555"/>
              <a:gd name="connsiteX2" fmla="*/ 1921 w 12570"/>
              <a:gd name="connsiteY2" fmla="*/ 3926 h 11555"/>
              <a:gd name="connsiteX3" fmla="*/ 1921 w 12570"/>
              <a:gd name="connsiteY3" fmla="*/ 5234 h 11555"/>
              <a:gd name="connsiteX4" fmla="*/ 3070 w 12570"/>
              <a:gd name="connsiteY4" fmla="*/ 6505 h 11555"/>
              <a:gd name="connsiteX5" fmla="*/ 3790 w 12570"/>
              <a:gd name="connsiteY5" fmla="*/ 8718 h 11555"/>
              <a:gd name="connsiteX6" fmla="*/ 8052 w 12570"/>
              <a:gd name="connsiteY6" fmla="*/ 8853 h 11555"/>
              <a:gd name="connsiteX7" fmla="*/ 10000 w 12570"/>
              <a:gd name="connsiteY7" fmla="*/ 11555 h 11555"/>
              <a:gd name="connsiteX8" fmla="*/ 7633 w 12570"/>
              <a:gd name="connsiteY8" fmla="*/ 10658 h 11555"/>
              <a:gd name="connsiteX9" fmla="*/ 4438 w 12570"/>
              <a:gd name="connsiteY9" fmla="*/ 11048 h 11555"/>
              <a:gd name="connsiteX10" fmla="*/ 2085 w 12570"/>
              <a:gd name="connsiteY10" fmla="*/ 10498 h 11555"/>
              <a:gd name="connsiteX11" fmla="*/ 0 w 12570"/>
              <a:gd name="connsiteY11" fmla="*/ 7486 h 11555"/>
              <a:gd name="connsiteX12" fmla="*/ 1257 w 12570"/>
              <a:gd name="connsiteY12" fmla="*/ 1555 h 11555"/>
              <a:gd name="connsiteX13" fmla="*/ 12392 w 12570"/>
              <a:gd name="connsiteY13" fmla="*/ 351 h 11555"/>
              <a:gd name="connsiteX14" fmla="*/ 12570 w 12570"/>
              <a:gd name="connsiteY14" fmla="*/ 1366 h 11555"/>
              <a:gd name="connsiteX0" fmla="*/ 12570 w 12570"/>
              <a:gd name="connsiteY0" fmla="*/ 1016 h 11205"/>
              <a:gd name="connsiteX1" fmla="*/ 3236 w 12570"/>
              <a:gd name="connsiteY1" fmla="*/ 2533 h 11205"/>
              <a:gd name="connsiteX2" fmla="*/ 1921 w 12570"/>
              <a:gd name="connsiteY2" fmla="*/ 3576 h 11205"/>
              <a:gd name="connsiteX3" fmla="*/ 1921 w 12570"/>
              <a:gd name="connsiteY3" fmla="*/ 4884 h 11205"/>
              <a:gd name="connsiteX4" fmla="*/ 3070 w 12570"/>
              <a:gd name="connsiteY4" fmla="*/ 6155 h 11205"/>
              <a:gd name="connsiteX5" fmla="*/ 3790 w 12570"/>
              <a:gd name="connsiteY5" fmla="*/ 8368 h 11205"/>
              <a:gd name="connsiteX6" fmla="*/ 8052 w 12570"/>
              <a:gd name="connsiteY6" fmla="*/ 8503 h 11205"/>
              <a:gd name="connsiteX7" fmla="*/ 10000 w 12570"/>
              <a:gd name="connsiteY7" fmla="*/ 11205 h 11205"/>
              <a:gd name="connsiteX8" fmla="*/ 7633 w 12570"/>
              <a:gd name="connsiteY8" fmla="*/ 10308 h 11205"/>
              <a:gd name="connsiteX9" fmla="*/ 4438 w 12570"/>
              <a:gd name="connsiteY9" fmla="*/ 10698 h 11205"/>
              <a:gd name="connsiteX10" fmla="*/ 2085 w 12570"/>
              <a:gd name="connsiteY10" fmla="*/ 10148 h 11205"/>
              <a:gd name="connsiteX11" fmla="*/ 0 w 12570"/>
              <a:gd name="connsiteY11" fmla="*/ 7136 h 11205"/>
              <a:gd name="connsiteX12" fmla="*/ 1257 w 12570"/>
              <a:gd name="connsiteY12" fmla="*/ 1205 h 11205"/>
              <a:gd name="connsiteX13" fmla="*/ 12392 w 12570"/>
              <a:gd name="connsiteY13" fmla="*/ 1 h 11205"/>
              <a:gd name="connsiteX14" fmla="*/ 12570 w 12570"/>
              <a:gd name="connsiteY14" fmla="*/ 1016 h 11205"/>
              <a:gd name="connsiteX0" fmla="*/ 12570 w 12987"/>
              <a:gd name="connsiteY0" fmla="*/ 1016 h 11205"/>
              <a:gd name="connsiteX1" fmla="*/ 3236 w 12987"/>
              <a:gd name="connsiteY1" fmla="*/ 2533 h 11205"/>
              <a:gd name="connsiteX2" fmla="*/ 1921 w 12987"/>
              <a:gd name="connsiteY2" fmla="*/ 3576 h 11205"/>
              <a:gd name="connsiteX3" fmla="*/ 1921 w 12987"/>
              <a:gd name="connsiteY3" fmla="*/ 4884 h 11205"/>
              <a:gd name="connsiteX4" fmla="*/ 3070 w 12987"/>
              <a:gd name="connsiteY4" fmla="*/ 6155 h 11205"/>
              <a:gd name="connsiteX5" fmla="*/ 3790 w 12987"/>
              <a:gd name="connsiteY5" fmla="*/ 8368 h 11205"/>
              <a:gd name="connsiteX6" fmla="*/ 8052 w 12987"/>
              <a:gd name="connsiteY6" fmla="*/ 8503 h 11205"/>
              <a:gd name="connsiteX7" fmla="*/ 10000 w 12987"/>
              <a:gd name="connsiteY7" fmla="*/ 11205 h 11205"/>
              <a:gd name="connsiteX8" fmla="*/ 7633 w 12987"/>
              <a:gd name="connsiteY8" fmla="*/ 10308 h 11205"/>
              <a:gd name="connsiteX9" fmla="*/ 4438 w 12987"/>
              <a:gd name="connsiteY9" fmla="*/ 10698 h 11205"/>
              <a:gd name="connsiteX10" fmla="*/ 2085 w 12987"/>
              <a:gd name="connsiteY10" fmla="*/ 10148 h 11205"/>
              <a:gd name="connsiteX11" fmla="*/ 0 w 12987"/>
              <a:gd name="connsiteY11" fmla="*/ 7136 h 11205"/>
              <a:gd name="connsiteX12" fmla="*/ 1257 w 12987"/>
              <a:gd name="connsiteY12" fmla="*/ 1205 h 11205"/>
              <a:gd name="connsiteX13" fmla="*/ 12392 w 12987"/>
              <a:gd name="connsiteY13" fmla="*/ 1 h 11205"/>
              <a:gd name="connsiteX14" fmla="*/ 12570 w 12987"/>
              <a:gd name="connsiteY14" fmla="*/ 1016 h 11205"/>
              <a:gd name="connsiteX0" fmla="*/ 12570 w 13623"/>
              <a:gd name="connsiteY0" fmla="*/ 1016 h 11205"/>
              <a:gd name="connsiteX1" fmla="*/ 3236 w 13623"/>
              <a:gd name="connsiteY1" fmla="*/ 2533 h 11205"/>
              <a:gd name="connsiteX2" fmla="*/ 1921 w 13623"/>
              <a:gd name="connsiteY2" fmla="*/ 3576 h 11205"/>
              <a:gd name="connsiteX3" fmla="*/ 1921 w 13623"/>
              <a:gd name="connsiteY3" fmla="*/ 4884 h 11205"/>
              <a:gd name="connsiteX4" fmla="*/ 3070 w 13623"/>
              <a:gd name="connsiteY4" fmla="*/ 6155 h 11205"/>
              <a:gd name="connsiteX5" fmla="*/ 3790 w 13623"/>
              <a:gd name="connsiteY5" fmla="*/ 8368 h 11205"/>
              <a:gd name="connsiteX6" fmla="*/ 8052 w 13623"/>
              <a:gd name="connsiteY6" fmla="*/ 8503 h 11205"/>
              <a:gd name="connsiteX7" fmla="*/ 10000 w 13623"/>
              <a:gd name="connsiteY7" fmla="*/ 11205 h 11205"/>
              <a:gd name="connsiteX8" fmla="*/ 7633 w 13623"/>
              <a:gd name="connsiteY8" fmla="*/ 10308 h 11205"/>
              <a:gd name="connsiteX9" fmla="*/ 4438 w 13623"/>
              <a:gd name="connsiteY9" fmla="*/ 10698 h 11205"/>
              <a:gd name="connsiteX10" fmla="*/ 2085 w 13623"/>
              <a:gd name="connsiteY10" fmla="*/ 10148 h 11205"/>
              <a:gd name="connsiteX11" fmla="*/ 0 w 13623"/>
              <a:gd name="connsiteY11" fmla="*/ 7136 h 11205"/>
              <a:gd name="connsiteX12" fmla="*/ 1257 w 13623"/>
              <a:gd name="connsiteY12" fmla="*/ 1205 h 11205"/>
              <a:gd name="connsiteX13" fmla="*/ 12392 w 13623"/>
              <a:gd name="connsiteY13" fmla="*/ 1 h 11205"/>
              <a:gd name="connsiteX14" fmla="*/ 12570 w 13623"/>
              <a:gd name="connsiteY14" fmla="*/ 1016 h 11205"/>
              <a:gd name="connsiteX0" fmla="*/ 12570 w 13623"/>
              <a:gd name="connsiteY0" fmla="*/ 1016 h 11205"/>
              <a:gd name="connsiteX1" fmla="*/ 3236 w 13623"/>
              <a:gd name="connsiteY1" fmla="*/ 2533 h 11205"/>
              <a:gd name="connsiteX2" fmla="*/ 1921 w 13623"/>
              <a:gd name="connsiteY2" fmla="*/ 3576 h 11205"/>
              <a:gd name="connsiteX3" fmla="*/ 1921 w 13623"/>
              <a:gd name="connsiteY3" fmla="*/ 4884 h 11205"/>
              <a:gd name="connsiteX4" fmla="*/ 3070 w 13623"/>
              <a:gd name="connsiteY4" fmla="*/ 6155 h 11205"/>
              <a:gd name="connsiteX5" fmla="*/ 3790 w 13623"/>
              <a:gd name="connsiteY5" fmla="*/ 8368 h 11205"/>
              <a:gd name="connsiteX6" fmla="*/ 8052 w 13623"/>
              <a:gd name="connsiteY6" fmla="*/ 8503 h 11205"/>
              <a:gd name="connsiteX7" fmla="*/ 10000 w 13623"/>
              <a:gd name="connsiteY7" fmla="*/ 11205 h 11205"/>
              <a:gd name="connsiteX8" fmla="*/ 7633 w 13623"/>
              <a:gd name="connsiteY8" fmla="*/ 10308 h 11205"/>
              <a:gd name="connsiteX9" fmla="*/ 4438 w 13623"/>
              <a:gd name="connsiteY9" fmla="*/ 10698 h 11205"/>
              <a:gd name="connsiteX10" fmla="*/ 2085 w 13623"/>
              <a:gd name="connsiteY10" fmla="*/ 10148 h 11205"/>
              <a:gd name="connsiteX11" fmla="*/ 0 w 13623"/>
              <a:gd name="connsiteY11" fmla="*/ 7136 h 11205"/>
              <a:gd name="connsiteX12" fmla="*/ 1257 w 13623"/>
              <a:gd name="connsiteY12" fmla="*/ 1205 h 11205"/>
              <a:gd name="connsiteX13" fmla="*/ 12392 w 13623"/>
              <a:gd name="connsiteY13" fmla="*/ 1 h 11205"/>
              <a:gd name="connsiteX14" fmla="*/ 12570 w 13623"/>
              <a:gd name="connsiteY14" fmla="*/ 1016 h 11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3623" h="11205">
                <a:moveTo>
                  <a:pt x="12570" y="1016"/>
                </a:moveTo>
                <a:cubicBezTo>
                  <a:pt x="5630" y="1461"/>
                  <a:pt x="5145" y="1855"/>
                  <a:pt x="3236" y="2533"/>
                </a:cubicBezTo>
                <a:lnTo>
                  <a:pt x="1921" y="3576"/>
                </a:lnTo>
                <a:lnTo>
                  <a:pt x="1921" y="4884"/>
                </a:lnTo>
                <a:lnTo>
                  <a:pt x="3070" y="6155"/>
                </a:lnTo>
                <a:lnTo>
                  <a:pt x="3790" y="8368"/>
                </a:lnTo>
                <a:lnTo>
                  <a:pt x="8052" y="8503"/>
                </a:lnTo>
                <a:lnTo>
                  <a:pt x="10000" y="11205"/>
                </a:lnTo>
                <a:lnTo>
                  <a:pt x="7633" y="10308"/>
                </a:lnTo>
                <a:lnTo>
                  <a:pt x="4438" y="10698"/>
                </a:lnTo>
                <a:lnTo>
                  <a:pt x="2085" y="10148"/>
                </a:lnTo>
                <a:lnTo>
                  <a:pt x="0" y="7136"/>
                </a:lnTo>
                <a:lnTo>
                  <a:pt x="1257" y="1205"/>
                </a:lnTo>
                <a:cubicBezTo>
                  <a:pt x="2174" y="1189"/>
                  <a:pt x="7926" y="-32"/>
                  <a:pt x="12392" y="1"/>
                </a:cubicBezTo>
                <a:cubicBezTo>
                  <a:pt x="13653" y="191"/>
                  <a:pt x="14300" y="801"/>
                  <a:pt x="12570" y="1016"/>
                </a:cubicBezTo>
                <a:close/>
              </a:path>
            </a:pathLst>
          </a:custGeom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latin typeface="Gotham Light"/>
              <a:cs typeface="Gotham Light"/>
            </a:endParaRPr>
          </a:p>
        </p:txBody>
      </p:sp>
      <p:sp>
        <p:nvSpPr>
          <p:cNvPr id="9" name="Freeform 36">
            <a:extLst>
              <a:ext uri="{FF2B5EF4-FFF2-40B4-BE49-F238E27FC236}">
                <a16:creationId xmlns:a16="http://schemas.microsoft.com/office/drawing/2014/main" id="{513DDFF3-B55E-3377-9CCF-F5C5C81C6DA8}"/>
              </a:ext>
            </a:extLst>
          </p:cNvPr>
          <p:cNvSpPr>
            <a:spLocks noEditPoints="1"/>
          </p:cNvSpPr>
          <p:nvPr/>
        </p:nvSpPr>
        <p:spPr bwMode="auto">
          <a:xfrm>
            <a:off x="3702453" y="1003632"/>
            <a:ext cx="4304268" cy="5877693"/>
          </a:xfrm>
          <a:custGeom>
            <a:avLst/>
            <a:gdLst>
              <a:gd name="T0" fmla="*/ 913 w 1589"/>
              <a:gd name="T1" fmla="*/ 29 h 2169"/>
              <a:gd name="T2" fmla="*/ 126 w 1589"/>
              <a:gd name="T3" fmla="*/ 393 h 2169"/>
              <a:gd name="T4" fmla="*/ 89 w 1589"/>
              <a:gd name="T5" fmla="*/ 690 h 2169"/>
              <a:gd name="T6" fmla="*/ 103 w 1589"/>
              <a:gd name="T7" fmla="*/ 930 h 2169"/>
              <a:gd name="T8" fmla="*/ 20 w 1589"/>
              <a:gd name="T9" fmla="*/ 1132 h 2169"/>
              <a:gd name="T10" fmla="*/ 99 w 1589"/>
              <a:gd name="T11" fmla="*/ 1174 h 2169"/>
              <a:gd name="T12" fmla="*/ 69 w 1589"/>
              <a:gd name="T13" fmla="*/ 1255 h 2169"/>
              <a:gd name="T14" fmla="*/ 107 w 1589"/>
              <a:gd name="T15" fmla="*/ 1335 h 2169"/>
              <a:gd name="T16" fmla="*/ 90 w 1589"/>
              <a:gd name="T17" fmla="*/ 1427 h 2169"/>
              <a:gd name="T18" fmla="*/ 153 w 1589"/>
              <a:gd name="T19" fmla="*/ 1482 h 2169"/>
              <a:gd name="T20" fmla="*/ 229 w 1589"/>
              <a:gd name="T21" fmla="*/ 1642 h 2169"/>
              <a:gd name="T22" fmla="*/ 583 w 1589"/>
              <a:gd name="T23" fmla="*/ 1567 h 2169"/>
              <a:gd name="T24" fmla="*/ 675 w 1589"/>
              <a:gd name="T25" fmla="*/ 1816 h 2169"/>
              <a:gd name="T26" fmla="*/ 630 w 1589"/>
              <a:gd name="T27" fmla="*/ 2057 h 2169"/>
              <a:gd name="T28" fmla="*/ 696 w 1589"/>
              <a:gd name="T29" fmla="*/ 2163 h 2169"/>
              <a:gd name="T30" fmla="*/ 1299 w 1589"/>
              <a:gd name="T31" fmla="*/ 1653 h 2169"/>
              <a:gd name="T32" fmla="*/ 1589 w 1589"/>
              <a:gd name="T33" fmla="*/ 633 h 2169"/>
              <a:gd name="T34" fmla="*/ 1216 w 1589"/>
              <a:gd name="T35" fmla="*/ 1223 h 2169"/>
              <a:gd name="T36" fmla="*/ 1103 w 1589"/>
              <a:gd name="T37" fmla="*/ 1202 h 2169"/>
              <a:gd name="T38" fmla="*/ 1051 w 1589"/>
              <a:gd name="T39" fmla="*/ 1111 h 2169"/>
              <a:gd name="T40" fmla="*/ 975 w 1589"/>
              <a:gd name="T41" fmla="*/ 1004 h 2169"/>
              <a:gd name="T42" fmla="*/ 818 w 1589"/>
              <a:gd name="T43" fmla="*/ 995 h 2169"/>
              <a:gd name="T44" fmla="*/ 630 w 1589"/>
              <a:gd name="T45" fmla="*/ 887 h 2169"/>
              <a:gd name="T46" fmla="*/ 551 w 1589"/>
              <a:gd name="T47" fmla="*/ 808 h 2169"/>
              <a:gd name="T48" fmla="*/ 442 w 1589"/>
              <a:gd name="T49" fmla="*/ 755 h 2169"/>
              <a:gd name="T50" fmla="*/ 341 w 1589"/>
              <a:gd name="T51" fmla="*/ 708 h 2169"/>
              <a:gd name="T52" fmla="*/ 171 w 1589"/>
              <a:gd name="T53" fmla="*/ 590 h 2169"/>
              <a:gd name="T54" fmla="*/ 198 w 1589"/>
              <a:gd name="T55" fmla="*/ 482 h 2169"/>
              <a:gd name="T56" fmla="*/ 244 w 1589"/>
              <a:gd name="T57" fmla="*/ 409 h 2169"/>
              <a:gd name="T58" fmla="*/ 370 w 1589"/>
              <a:gd name="T59" fmla="*/ 283 h 2169"/>
              <a:gd name="T60" fmla="*/ 457 w 1589"/>
              <a:gd name="T61" fmla="*/ 211 h 2169"/>
              <a:gd name="T62" fmla="*/ 592 w 1589"/>
              <a:gd name="T63" fmla="*/ 147 h 2169"/>
              <a:gd name="T64" fmla="*/ 782 w 1589"/>
              <a:gd name="T65" fmla="*/ 96 h 2169"/>
              <a:gd name="T66" fmla="*/ 936 w 1589"/>
              <a:gd name="T67" fmla="*/ 87 h 2169"/>
              <a:gd name="T68" fmla="*/ 1105 w 1589"/>
              <a:gd name="T69" fmla="*/ 108 h 2169"/>
              <a:gd name="T70" fmla="*/ 1373 w 1589"/>
              <a:gd name="T71" fmla="*/ 309 h 2169"/>
              <a:gd name="T72" fmla="*/ 1523 w 1589"/>
              <a:gd name="T73" fmla="*/ 620 h 2169"/>
              <a:gd name="T74" fmla="*/ 1529 w 1589"/>
              <a:gd name="T75" fmla="*/ 754 h 2169"/>
              <a:gd name="T76" fmla="*/ 1439 w 1589"/>
              <a:gd name="T77" fmla="*/ 910 h 2169"/>
              <a:gd name="T78" fmla="*/ 1297 w 1589"/>
              <a:gd name="T79" fmla="*/ 1105 h 2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589" h="2169">
                <a:moveTo>
                  <a:pt x="1589" y="633"/>
                </a:moveTo>
                <a:cubicBezTo>
                  <a:pt x="1589" y="257"/>
                  <a:pt x="1275" y="0"/>
                  <a:pt x="913" y="29"/>
                </a:cubicBezTo>
                <a:cubicBezTo>
                  <a:pt x="552" y="57"/>
                  <a:pt x="378" y="162"/>
                  <a:pt x="302" y="210"/>
                </a:cubicBezTo>
                <a:cubicBezTo>
                  <a:pt x="226" y="257"/>
                  <a:pt x="152" y="341"/>
                  <a:pt x="126" y="393"/>
                </a:cubicBezTo>
                <a:cubicBezTo>
                  <a:pt x="99" y="445"/>
                  <a:pt x="83" y="542"/>
                  <a:pt x="80" y="587"/>
                </a:cubicBezTo>
                <a:cubicBezTo>
                  <a:pt x="77" y="632"/>
                  <a:pt x="82" y="660"/>
                  <a:pt x="89" y="690"/>
                </a:cubicBezTo>
                <a:cubicBezTo>
                  <a:pt x="96" y="720"/>
                  <a:pt x="126" y="769"/>
                  <a:pt x="135" y="806"/>
                </a:cubicBezTo>
                <a:cubicBezTo>
                  <a:pt x="143" y="842"/>
                  <a:pt x="120" y="904"/>
                  <a:pt x="103" y="930"/>
                </a:cubicBezTo>
                <a:cubicBezTo>
                  <a:pt x="87" y="955"/>
                  <a:pt x="29" y="1039"/>
                  <a:pt x="15" y="1060"/>
                </a:cubicBezTo>
                <a:cubicBezTo>
                  <a:pt x="0" y="1081"/>
                  <a:pt x="10" y="1109"/>
                  <a:pt x="20" y="1132"/>
                </a:cubicBezTo>
                <a:cubicBezTo>
                  <a:pt x="30" y="1156"/>
                  <a:pt x="67" y="1165"/>
                  <a:pt x="75" y="1168"/>
                </a:cubicBezTo>
                <a:cubicBezTo>
                  <a:pt x="83" y="1171"/>
                  <a:pt x="96" y="1171"/>
                  <a:pt x="99" y="1174"/>
                </a:cubicBezTo>
                <a:cubicBezTo>
                  <a:pt x="101" y="1177"/>
                  <a:pt x="97" y="1202"/>
                  <a:pt x="92" y="1217"/>
                </a:cubicBezTo>
                <a:cubicBezTo>
                  <a:pt x="88" y="1231"/>
                  <a:pt x="74" y="1247"/>
                  <a:pt x="69" y="1255"/>
                </a:cubicBezTo>
                <a:cubicBezTo>
                  <a:pt x="64" y="1264"/>
                  <a:pt x="72" y="1292"/>
                  <a:pt x="80" y="1309"/>
                </a:cubicBezTo>
                <a:cubicBezTo>
                  <a:pt x="87" y="1326"/>
                  <a:pt x="107" y="1335"/>
                  <a:pt x="107" y="1335"/>
                </a:cubicBezTo>
                <a:cubicBezTo>
                  <a:pt x="107" y="1335"/>
                  <a:pt x="79" y="1358"/>
                  <a:pt x="80" y="1384"/>
                </a:cubicBezTo>
                <a:cubicBezTo>
                  <a:pt x="80" y="1410"/>
                  <a:pt x="84" y="1423"/>
                  <a:pt x="90" y="1427"/>
                </a:cubicBezTo>
                <a:cubicBezTo>
                  <a:pt x="95" y="1431"/>
                  <a:pt x="127" y="1439"/>
                  <a:pt x="135" y="1451"/>
                </a:cubicBezTo>
                <a:cubicBezTo>
                  <a:pt x="143" y="1462"/>
                  <a:pt x="151" y="1473"/>
                  <a:pt x="153" y="1482"/>
                </a:cubicBezTo>
                <a:cubicBezTo>
                  <a:pt x="154" y="1488"/>
                  <a:pt x="150" y="1502"/>
                  <a:pt x="149" y="1511"/>
                </a:cubicBezTo>
                <a:cubicBezTo>
                  <a:pt x="145" y="1553"/>
                  <a:pt x="162" y="1638"/>
                  <a:pt x="229" y="1642"/>
                </a:cubicBezTo>
                <a:cubicBezTo>
                  <a:pt x="282" y="1645"/>
                  <a:pt x="365" y="1614"/>
                  <a:pt x="396" y="1607"/>
                </a:cubicBezTo>
                <a:cubicBezTo>
                  <a:pt x="426" y="1601"/>
                  <a:pt x="559" y="1551"/>
                  <a:pt x="583" y="1567"/>
                </a:cubicBezTo>
                <a:cubicBezTo>
                  <a:pt x="608" y="1584"/>
                  <a:pt x="612" y="1609"/>
                  <a:pt x="619" y="1632"/>
                </a:cubicBezTo>
                <a:cubicBezTo>
                  <a:pt x="627" y="1656"/>
                  <a:pt x="665" y="1773"/>
                  <a:pt x="675" y="1816"/>
                </a:cubicBezTo>
                <a:cubicBezTo>
                  <a:pt x="685" y="1858"/>
                  <a:pt x="708" y="1934"/>
                  <a:pt x="714" y="1957"/>
                </a:cubicBezTo>
                <a:cubicBezTo>
                  <a:pt x="675" y="1967"/>
                  <a:pt x="635" y="2046"/>
                  <a:pt x="630" y="2057"/>
                </a:cubicBezTo>
                <a:cubicBezTo>
                  <a:pt x="609" y="2163"/>
                  <a:pt x="609" y="2163"/>
                  <a:pt x="609" y="2163"/>
                </a:cubicBezTo>
                <a:cubicBezTo>
                  <a:pt x="609" y="2163"/>
                  <a:pt x="697" y="2169"/>
                  <a:pt x="696" y="2163"/>
                </a:cubicBezTo>
                <a:cubicBezTo>
                  <a:pt x="695" y="2158"/>
                  <a:pt x="1263" y="1721"/>
                  <a:pt x="1263" y="1721"/>
                </a:cubicBezTo>
                <a:cubicBezTo>
                  <a:pt x="1299" y="1653"/>
                  <a:pt x="1299" y="1653"/>
                  <a:pt x="1299" y="1653"/>
                </a:cubicBezTo>
                <a:cubicBezTo>
                  <a:pt x="1219" y="1406"/>
                  <a:pt x="1279" y="1307"/>
                  <a:pt x="1355" y="1193"/>
                </a:cubicBezTo>
                <a:cubicBezTo>
                  <a:pt x="1426" y="1087"/>
                  <a:pt x="1589" y="1008"/>
                  <a:pt x="1589" y="633"/>
                </a:cubicBezTo>
                <a:close/>
                <a:moveTo>
                  <a:pt x="1297" y="1119"/>
                </a:moveTo>
                <a:cubicBezTo>
                  <a:pt x="1297" y="1169"/>
                  <a:pt x="1263" y="1211"/>
                  <a:pt x="1216" y="1223"/>
                </a:cubicBezTo>
                <a:cubicBezTo>
                  <a:pt x="1208" y="1245"/>
                  <a:pt x="1187" y="1261"/>
                  <a:pt x="1162" y="1261"/>
                </a:cubicBezTo>
                <a:cubicBezTo>
                  <a:pt x="1129" y="1261"/>
                  <a:pt x="1103" y="1234"/>
                  <a:pt x="1103" y="1202"/>
                </a:cubicBezTo>
                <a:cubicBezTo>
                  <a:pt x="1103" y="1197"/>
                  <a:pt x="1104" y="1191"/>
                  <a:pt x="1106" y="1186"/>
                </a:cubicBezTo>
                <a:cubicBezTo>
                  <a:pt x="1074" y="1176"/>
                  <a:pt x="1051" y="1146"/>
                  <a:pt x="1051" y="1111"/>
                </a:cubicBezTo>
                <a:cubicBezTo>
                  <a:pt x="1051" y="1107"/>
                  <a:pt x="1052" y="1103"/>
                  <a:pt x="1052" y="1099"/>
                </a:cubicBezTo>
                <a:cubicBezTo>
                  <a:pt x="1010" y="1087"/>
                  <a:pt x="978" y="1050"/>
                  <a:pt x="975" y="1004"/>
                </a:cubicBezTo>
                <a:cubicBezTo>
                  <a:pt x="946" y="1001"/>
                  <a:pt x="920" y="993"/>
                  <a:pt x="895" y="981"/>
                </a:cubicBezTo>
                <a:cubicBezTo>
                  <a:pt x="871" y="990"/>
                  <a:pt x="845" y="995"/>
                  <a:pt x="818" y="995"/>
                </a:cubicBezTo>
                <a:cubicBezTo>
                  <a:pt x="738" y="995"/>
                  <a:pt x="668" y="952"/>
                  <a:pt x="631" y="887"/>
                </a:cubicBezTo>
                <a:cubicBezTo>
                  <a:pt x="631" y="887"/>
                  <a:pt x="630" y="887"/>
                  <a:pt x="630" y="887"/>
                </a:cubicBezTo>
                <a:cubicBezTo>
                  <a:pt x="586" y="887"/>
                  <a:pt x="551" y="852"/>
                  <a:pt x="551" y="809"/>
                </a:cubicBezTo>
                <a:cubicBezTo>
                  <a:pt x="551" y="809"/>
                  <a:pt x="551" y="809"/>
                  <a:pt x="551" y="808"/>
                </a:cubicBezTo>
                <a:cubicBezTo>
                  <a:pt x="549" y="809"/>
                  <a:pt x="547" y="809"/>
                  <a:pt x="545" y="809"/>
                </a:cubicBezTo>
                <a:cubicBezTo>
                  <a:pt x="502" y="809"/>
                  <a:pt x="465" y="787"/>
                  <a:pt x="442" y="755"/>
                </a:cubicBezTo>
                <a:cubicBezTo>
                  <a:pt x="433" y="758"/>
                  <a:pt x="424" y="760"/>
                  <a:pt x="414" y="760"/>
                </a:cubicBezTo>
                <a:cubicBezTo>
                  <a:pt x="380" y="760"/>
                  <a:pt x="352" y="738"/>
                  <a:pt x="341" y="708"/>
                </a:cubicBezTo>
                <a:cubicBezTo>
                  <a:pt x="327" y="713"/>
                  <a:pt x="312" y="716"/>
                  <a:pt x="297" y="716"/>
                </a:cubicBezTo>
                <a:cubicBezTo>
                  <a:pt x="227" y="716"/>
                  <a:pt x="171" y="660"/>
                  <a:pt x="171" y="590"/>
                </a:cubicBezTo>
                <a:cubicBezTo>
                  <a:pt x="171" y="559"/>
                  <a:pt x="183" y="530"/>
                  <a:pt x="202" y="508"/>
                </a:cubicBezTo>
                <a:cubicBezTo>
                  <a:pt x="199" y="500"/>
                  <a:pt x="198" y="491"/>
                  <a:pt x="198" y="482"/>
                </a:cubicBezTo>
                <a:cubicBezTo>
                  <a:pt x="198" y="450"/>
                  <a:pt x="217" y="422"/>
                  <a:pt x="244" y="410"/>
                </a:cubicBezTo>
                <a:cubicBezTo>
                  <a:pt x="244" y="410"/>
                  <a:pt x="244" y="409"/>
                  <a:pt x="244" y="409"/>
                </a:cubicBezTo>
                <a:cubicBezTo>
                  <a:pt x="244" y="340"/>
                  <a:pt x="300" y="283"/>
                  <a:pt x="370" y="283"/>
                </a:cubicBezTo>
                <a:cubicBezTo>
                  <a:pt x="370" y="283"/>
                  <a:pt x="370" y="283"/>
                  <a:pt x="370" y="283"/>
                </a:cubicBezTo>
                <a:cubicBezTo>
                  <a:pt x="370" y="282"/>
                  <a:pt x="370" y="281"/>
                  <a:pt x="370" y="280"/>
                </a:cubicBezTo>
                <a:cubicBezTo>
                  <a:pt x="370" y="236"/>
                  <a:pt x="414" y="211"/>
                  <a:pt x="457" y="211"/>
                </a:cubicBezTo>
                <a:cubicBezTo>
                  <a:pt x="470" y="211"/>
                  <a:pt x="481" y="214"/>
                  <a:pt x="492" y="219"/>
                </a:cubicBezTo>
                <a:cubicBezTo>
                  <a:pt x="514" y="181"/>
                  <a:pt x="545" y="147"/>
                  <a:pt x="592" y="147"/>
                </a:cubicBezTo>
                <a:cubicBezTo>
                  <a:pt x="609" y="147"/>
                  <a:pt x="626" y="151"/>
                  <a:pt x="641" y="157"/>
                </a:cubicBezTo>
                <a:cubicBezTo>
                  <a:pt x="679" y="125"/>
                  <a:pt x="728" y="96"/>
                  <a:pt x="782" y="96"/>
                </a:cubicBezTo>
                <a:cubicBezTo>
                  <a:pt x="817" y="96"/>
                  <a:pt x="841" y="99"/>
                  <a:pt x="871" y="114"/>
                </a:cubicBezTo>
                <a:cubicBezTo>
                  <a:pt x="888" y="105"/>
                  <a:pt x="916" y="87"/>
                  <a:pt x="936" y="87"/>
                </a:cubicBezTo>
                <a:cubicBezTo>
                  <a:pt x="980" y="87"/>
                  <a:pt x="1011" y="86"/>
                  <a:pt x="1033" y="120"/>
                </a:cubicBezTo>
                <a:cubicBezTo>
                  <a:pt x="1046" y="111"/>
                  <a:pt x="1088" y="108"/>
                  <a:pt x="1105" y="108"/>
                </a:cubicBezTo>
                <a:cubicBezTo>
                  <a:pt x="1139" y="108"/>
                  <a:pt x="1188" y="156"/>
                  <a:pt x="1199" y="186"/>
                </a:cubicBezTo>
                <a:cubicBezTo>
                  <a:pt x="1279" y="152"/>
                  <a:pt x="1357" y="225"/>
                  <a:pt x="1373" y="309"/>
                </a:cubicBezTo>
                <a:cubicBezTo>
                  <a:pt x="1432" y="305"/>
                  <a:pt x="1485" y="391"/>
                  <a:pt x="1462" y="442"/>
                </a:cubicBezTo>
                <a:cubicBezTo>
                  <a:pt x="1513" y="483"/>
                  <a:pt x="1523" y="549"/>
                  <a:pt x="1523" y="620"/>
                </a:cubicBezTo>
                <a:cubicBezTo>
                  <a:pt x="1523" y="645"/>
                  <a:pt x="1519" y="669"/>
                  <a:pt x="1512" y="692"/>
                </a:cubicBezTo>
                <a:cubicBezTo>
                  <a:pt x="1522" y="710"/>
                  <a:pt x="1529" y="731"/>
                  <a:pt x="1529" y="754"/>
                </a:cubicBezTo>
                <a:cubicBezTo>
                  <a:pt x="1529" y="814"/>
                  <a:pt x="1487" y="864"/>
                  <a:pt x="1432" y="877"/>
                </a:cubicBezTo>
                <a:cubicBezTo>
                  <a:pt x="1437" y="887"/>
                  <a:pt x="1439" y="898"/>
                  <a:pt x="1439" y="910"/>
                </a:cubicBezTo>
                <a:cubicBezTo>
                  <a:pt x="1439" y="946"/>
                  <a:pt x="1415" y="976"/>
                  <a:pt x="1383" y="985"/>
                </a:cubicBezTo>
                <a:cubicBezTo>
                  <a:pt x="1381" y="1040"/>
                  <a:pt x="1346" y="1087"/>
                  <a:pt x="1297" y="1105"/>
                </a:cubicBezTo>
                <a:cubicBezTo>
                  <a:pt x="1297" y="1110"/>
                  <a:pt x="1297" y="1114"/>
                  <a:pt x="1297" y="1119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3175">
            <a:solidFill>
              <a:schemeClr val="tx1">
                <a:lumMod val="60000"/>
                <a:lumOff val="40000"/>
              </a:schemeClr>
            </a:solidFill>
          </a:ln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ln>
                <a:solidFill>
                  <a:schemeClr val="accent2"/>
                </a:solidFill>
              </a:ln>
              <a:latin typeface="Gotham Light"/>
              <a:cs typeface="Gotham Light"/>
            </a:endParaRPr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470CEE66-6867-ADC9-70B1-0B666BA54322}"/>
              </a:ext>
            </a:extLst>
          </p:cNvPr>
          <p:cNvSpPr/>
          <p:nvPr/>
        </p:nvSpPr>
        <p:spPr>
          <a:xfrm>
            <a:off x="3280868" y="2467850"/>
            <a:ext cx="1813856" cy="335721"/>
          </a:xfrm>
          <a:custGeom>
            <a:avLst/>
            <a:gdLst>
              <a:gd name="connsiteX0" fmla="*/ 0 w 1258957"/>
              <a:gd name="connsiteY0" fmla="*/ 251791 h 251791"/>
              <a:gd name="connsiteX1" fmla="*/ 516835 w 1258957"/>
              <a:gd name="connsiteY1" fmla="*/ 251791 h 251791"/>
              <a:gd name="connsiteX2" fmla="*/ 1258957 w 1258957"/>
              <a:gd name="connsiteY2" fmla="*/ 0 h 251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58957" h="251791">
                <a:moveTo>
                  <a:pt x="0" y="251791"/>
                </a:moveTo>
                <a:lnTo>
                  <a:pt x="516835" y="251791"/>
                </a:lnTo>
                <a:lnTo>
                  <a:pt x="1258957" y="0"/>
                </a:lnTo>
              </a:path>
            </a:pathLst>
          </a:custGeom>
          <a:noFill/>
          <a:ln>
            <a:solidFill>
              <a:schemeClr val="tx1"/>
            </a:solidFill>
            <a:tailEnd type="oval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10" name="Freeform 37">
            <a:extLst>
              <a:ext uri="{FF2B5EF4-FFF2-40B4-BE49-F238E27FC236}">
                <a16:creationId xmlns:a16="http://schemas.microsoft.com/office/drawing/2014/main" id="{46F4A041-CCCF-BCBC-04A0-B2F622C036C2}"/>
              </a:ext>
            </a:extLst>
          </p:cNvPr>
          <p:cNvSpPr>
            <a:spLocks/>
          </p:cNvSpPr>
          <p:nvPr/>
        </p:nvSpPr>
        <p:spPr bwMode="auto">
          <a:xfrm>
            <a:off x="4124005" y="5483549"/>
            <a:ext cx="4211823" cy="3736652"/>
          </a:xfrm>
          <a:custGeom>
            <a:avLst/>
            <a:gdLst>
              <a:gd name="T0" fmla="*/ 1178 w 1554"/>
              <a:gd name="T1" fmla="*/ 59 h 1379"/>
              <a:gd name="T2" fmla="*/ 1171 w 1554"/>
              <a:gd name="T3" fmla="*/ 26 h 1379"/>
              <a:gd name="T4" fmla="*/ 1149 w 1554"/>
              <a:gd name="T5" fmla="*/ 0 h 1379"/>
              <a:gd name="T6" fmla="*/ 1120 w 1554"/>
              <a:gd name="T7" fmla="*/ 7 h 1379"/>
              <a:gd name="T8" fmla="*/ 1085 w 1554"/>
              <a:gd name="T9" fmla="*/ 8 h 1379"/>
              <a:gd name="T10" fmla="*/ 1038 w 1554"/>
              <a:gd name="T11" fmla="*/ 24 h 1379"/>
              <a:gd name="T12" fmla="*/ 960 w 1554"/>
              <a:gd name="T13" fmla="*/ 59 h 1379"/>
              <a:gd name="T14" fmla="*/ 902 w 1554"/>
              <a:gd name="T15" fmla="*/ 98 h 1379"/>
              <a:gd name="T16" fmla="*/ 864 w 1554"/>
              <a:gd name="T17" fmla="*/ 118 h 1379"/>
              <a:gd name="T18" fmla="*/ 757 w 1554"/>
              <a:gd name="T19" fmla="*/ 209 h 1379"/>
              <a:gd name="T20" fmla="*/ 653 w 1554"/>
              <a:gd name="T21" fmla="*/ 295 h 1379"/>
              <a:gd name="T22" fmla="*/ 607 w 1554"/>
              <a:gd name="T23" fmla="*/ 352 h 1379"/>
              <a:gd name="T24" fmla="*/ 543 w 1554"/>
              <a:gd name="T25" fmla="*/ 404 h 1379"/>
              <a:gd name="T26" fmla="*/ 502 w 1554"/>
              <a:gd name="T27" fmla="*/ 444 h 1379"/>
              <a:gd name="T28" fmla="*/ 469 w 1554"/>
              <a:gd name="T29" fmla="*/ 479 h 1379"/>
              <a:gd name="T30" fmla="*/ 528 w 1554"/>
              <a:gd name="T31" fmla="*/ 366 h 1379"/>
              <a:gd name="T32" fmla="*/ 558 w 1554"/>
              <a:gd name="T33" fmla="*/ 304 h 1379"/>
              <a:gd name="T34" fmla="*/ 524 w 1554"/>
              <a:gd name="T35" fmla="*/ 181 h 1379"/>
              <a:gd name="T36" fmla="*/ 406 w 1554"/>
              <a:gd name="T37" fmla="*/ 272 h 1379"/>
              <a:gd name="T38" fmla="*/ 379 w 1554"/>
              <a:gd name="T39" fmla="*/ 397 h 1379"/>
              <a:gd name="T40" fmla="*/ 263 w 1554"/>
              <a:gd name="T41" fmla="*/ 581 h 1379"/>
              <a:gd name="T42" fmla="*/ 214 w 1554"/>
              <a:gd name="T43" fmla="*/ 697 h 1379"/>
              <a:gd name="T44" fmla="*/ 133 w 1554"/>
              <a:gd name="T45" fmla="*/ 878 h 1379"/>
              <a:gd name="T46" fmla="*/ 77 w 1554"/>
              <a:gd name="T47" fmla="*/ 1078 h 1379"/>
              <a:gd name="T48" fmla="*/ 0 w 1554"/>
              <a:gd name="T49" fmla="*/ 1293 h 1379"/>
              <a:gd name="T50" fmla="*/ 1477 w 1554"/>
              <a:gd name="T51" fmla="*/ 1379 h 1379"/>
              <a:gd name="T52" fmla="*/ 1495 w 1554"/>
              <a:gd name="T53" fmla="*/ 1298 h 1379"/>
              <a:gd name="T54" fmla="*/ 1509 w 1554"/>
              <a:gd name="T55" fmla="*/ 1188 h 1379"/>
              <a:gd name="T56" fmla="*/ 1503 w 1554"/>
              <a:gd name="T57" fmla="*/ 1122 h 1379"/>
              <a:gd name="T58" fmla="*/ 1542 w 1554"/>
              <a:gd name="T59" fmla="*/ 1006 h 1379"/>
              <a:gd name="T60" fmla="*/ 1542 w 1554"/>
              <a:gd name="T61" fmla="*/ 953 h 1379"/>
              <a:gd name="T62" fmla="*/ 1543 w 1554"/>
              <a:gd name="T63" fmla="*/ 898 h 1379"/>
              <a:gd name="T64" fmla="*/ 1537 w 1554"/>
              <a:gd name="T65" fmla="*/ 841 h 1379"/>
              <a:gd name="T66" fmla="*/ 1509 w 1554"/>
              <a:gd name="T67" fmla="*/ 764 h 1379"/>
              <a:gd name="T68" fmla="*/ 1472 w 1554"/>
              <a:gd name="T69" fmla="*/ 716 h 1379"/>
              <a:gd name="T70" fmla="*/ 1468 w 1554"/>
              <a:gd name="T71" fmla="*/ 673 h 1379"/>
              <a:gd name="T72" fmla="*/ 1427 w 1554"/>
              <a:gd name="T73" fmla="*/ 574 h 1379"/>
              <a:gd name="T74" fmla="*/ 1399 w 1554"/>
              <a:gd name="T75" fmla="*/ 550 h 1379"/>
              <a:gd name="T76" fmla="*/ 1405 w 1554"/>
              <a:gd name="T77" fmla="*/ 495 h 1379"/>
              <a:gd name="T78" fmla="*/ 1384 w 1554"/>
              <a:gd name="T79" fmla="*/ 448 h 1379"/>
              <a:gd name="T80" fmla="*/ 1352 w 1554"/>
              <a:gd name="T81" fmla="*/ 359 h 1379"/>
              <a:gd name="T82" fmla="*/ 1314 w 1554"/>
              <a:gd name="T83" fmla="*/ 287 h 1379"/>
              <a:gd name="T84" fmla="*/ 1245 w 1554"/>
              <a:gd name="T85" fmla="*/ 181 h 1379"/>
              <a:gd name="T86" fmla="*/ 1237 w 1554"/>
              <a:gd name="T87" fmla="*/ 145 h 1379"/>
              <a:gd name="T88" fmla="*/ 1241 w 1554"/>
              <a:gd name="T89" fmla="*/ 81 h 1379"/>
              <a:gd name="T90" fmla="*/ 1178 w 1554"/>
              <a:gd name="T91" fmla="*/ 59 h 13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554" h="1379">
                <a:moveTo>
                  <a:pt x="1178" y="59"/>
                </a:moveTo>
                <a:cubicBezTo>
                  <a:pt x="1178" y="59"/>
                  <a:pt x="1176" y="36"/>
                  <a:pt x="1171" y="26"/>
                </a:cubicBezTo>
                <a:cubicBezTo>
                  <a:pt x="1167" y="16"/>
                  <a:pt x="1166" y="0"/>
                  <a:pt x="1149" y="0"/>
                </a:cubicBezTo>
                <a:cubicBezTo>
                  <a:pt x="1132" y="0"/>
                  <a:pt x="1126" y="6"/>
                  <a:pt x="1120" y="7"/>
                </a:cubicBezTo>
                <a:cubicBezTo>
                  <a:pt x="1113" y="8"/>
                  <a:pt x="1099" y="7"/>
                  <a:pt x="1085" y="8"/>
                </a:cubicBezTo>
                <a:cubicBezTo>
                  <a:pt x="1070" y="9"/>
                  <a:pt x="1065" y="19"/>
                  <a:pt x="1038" y="24"/>
                </a:cubicBezTo>
                <a:cubicBezTo>
                  <a:pt x="1011" y="28"/>
                  <a:pt x="975" y="46"/>
                  <a:pt x="960" y="59"/>
                </a:cubicBezTo>
                <a:cubicBezTo>
                  <a:pt x="944" y="71"/>
                  <a:pt x="914" y="88"/>
                  <a:pt x="902" y="98"/>
                </a:cubicBezTo>
                <a:cubicBezTo>
                  <a:pt x="890" y="108"/>
                  <a:pt x="875" y="104"/>
                  <a:pt x="864" y="118"/>
                </a:cubicBezTo>
                <a:cubicBezTo>
                  <a:pt x="852" y="133"/>
                  <a:pt x="779" y="187"/>
                  <a:pt x="757" y="209"/>
                </a:cubicBezTo>
                <a:cubicBezTo>
                  <a:pt x="734" y="230"/>
                  <a:pt x="663" y="268"/>
                  <a:pt x="653" y="295"/>
                </a:cubicBezTo>
                <a:cubicBezTo>
                  <a:pt x="643" y="323"/>
                  <a:pt x="627" y="345"/>
                  <a:pt x="607" y="352"/>
                </a:cubicBezTo>
                <a:cubicBezTo>
                  <a:pt x="586" y="359"/>
                  <a:pt x="551" y="388"/>
                  <a:pt x="543" y="404"/>
                </a:cubicBezTo>
                <a:cubicBezTo>
                  <a:pt x="536" y="419"/>
                  <a:pt x="513" y="428"/>
                  <a:pt x="502" y="444"/>
                </a:cubicBezTo>
                <a:cubicBezTo>
                  <a:pt x="490" y="460"/>
                  <a:pt x="469" y="479"/>
                  <a:pt x="469" y="479"/>
                </a:cubicBezTo>
                <a:cubicBezTo>
                  <a:pt x="469" y="479"/>
                  <a:pt x="514" y="385"/>
                  <a:pt x="528" y="366"/>
                </a:cubicBezTo>
                <a:cubicBezTo>
                  <a:pt x="541" y="348"/>
                  <a:pt x="546" y="314"/>
                  <a:pt x="558" y="304"/>
                </a:cubicBezTo>
                <a:cubicBezTo>
                  <a:pt x="552" y="279"/>
                  <a:pt x="534" y="216"/>
                  <a:pt x="524" y="181"/>
                </a:cubicBezTo>
                <a:cubicBezTo>
                  <a:pt x="483" y="203"/>
                  <a:pt x="418" y="248"/>
                  <a:pt x="406" y="272"/>
                </a:cubicBezTo>
                <a:cubicBezTo>
                  <a:pt x="394" y="295"/>
                  <a:pt x="382" y="373"/>
                  <a:pt x="379" y="397"/>
                </a:cubicBezTo>
                <a:cubicBezTo>
                  <a:pt x="345" y="416"/>
                  <a:pt x="272" y="552"/>
                  <a:pt x="263" y="581"/>
                </a:cubicBezTo>
                <a:cubicBezTo>
                  <a:pt x="254" y="609"/>
                  <a:pt x="219" y="652"/>
                  <a:pt x="214" y="697"/>
                </a:cubicBezTo>
                <a:cubicBezTo>
                  <a:pt x="208" y="743"/>
                  <a:pt x="151" y="831"/>
                  <a:pt x="133" y="878"/>
                </a:cubicBezTo>
                <a:cubicBezTo>
                  <a:pt x="115" y="924"/>
                  <a:pt x="87" y="1041"/>
                  <a:pt x="77" y="1078"/>
                </a:cubicBezTo>
                <a:cubicBezTo>
                  <a:pt x="67" y="1115"/>
                  <a:pt x="0" y="1293"/>
                  <a:pt x="0" y="1293"/>
                </a:cubicBezTo>
                <a:cubicBezTo>
                  <a:pt x="1477" y="1379"/>
                  <a:pt x="1477" y="1379"/>
                  <a:pt x="1477" y="1379"/>
                </a:cubicBezTo>
                <a:cubicBezTo>
                  <a:pt x="1477" y="1379"/>
                  <a:pt x="1493" y="1335"/>
                  <a:pt x="1495" y="1298"/>
                </a:cubicBezTo>
                <a:cubicBezTo>
                  <a:pt x="1497" y="1262"/>
                  <a:pt x="1510" y="1219"/>
                  <a:pt x="1509" y="1188"/>
                </a:cubicBezTo>
                <a:cubicBezTo>
                  <a:pt x="1508" y="1158"/>
                  <a:pt x="1500" y="1150"/>
                  <a:pt x="1503" y="1122"/>
                </a:cubicBezTo>
                <a:cubicBezTo>
                  <a:pt x="1507" y="1094"/>
                  <a:pt x="1539" y="1032"/>
                  <a:pt x="1542" y="1006"/>
                </a:cubicBezTo>
                <a:cubicBezTo>
                  <a:pt x="1544" y="980"/>
                  <a:pt x="1541" y="973"/>
                  <a:pt x="1542" y="953"/>
                </a:cubicBezTo>
                <a:cubicBezTo>
                  <a:pt x="1543" y="933"/>
                  <a:pt x="1554" y="910"/>
                  <a:pt x="1543" y="898"/>
                </a:cubicBezTo>
                <a:cubicBezTo>
                  <a:pt x="1531" y="886"/>
                  <a:pt x="1542" y="860"/>
                  <a:pt x="1537" y="841"/>
                </a:cubicBezTo>
                <a:cubicBezTo>
                  <a:pt x="1532" y="822"/>
                  <a:pt x="1527" y="782"/>
                  <a:pt x="1509" y="764"/>
                </a:cubicBezTo>
                <a:cubicBezTo>
                  <a:pt x="1491" y="745"/>
                  <a:pt x="1468" y="725"/>
                  <a:pt x="1472" y="716"/>
                </a:cubicBezTo>
                <a:cubicBezTo>
                  <a:pt x="1475" y="706"/>
                  <a:pt x="1474" y="692"/>
                  <a:pt x="1468" y="673"/>
                </a:cubicBezTo>
                <a:cubicBezTo>
                  <a:pt x="1461" y="653"/>
                  <a:pt x="1434" y="584"/>
                  <a:pt x="1427" y="574"/>
                </a:cubicBezTo>
                <a:cubicBezTo>
                  <a:pt x="1420" y="565"/>
                  <a:pt x="1405" y="559"/>
                  <a:pt x="1399" y="550"/>
                </a:cubicBezTo>
                <a:cubicBezTo>
                  <a:pt x="1394" y="541"/>
                  <a:pt x="1409" y="513"/>
                  <a:pt x="1405" y="495"/>
                </a:cubicBezTo>
                <a:cubicBezTo>
                  <a:pt x="1402" y="477"/>
                  <a:pt x="1391" y="468"/>
                  <a:pt x="1384" y="448"/>
                </a:cubicBezTo>
                <a:cubicBezTo>
                  <a:pt x="1369" y="411"/>
                  <a:pt x="1351" y="375"/>
                  <a:pt x="1352" y="359"/>
                </a:cubicBezTo>
                <a:cubicBezTo>
                  <a:pt x="1352" y="342"/>
                  <a:pt x="1319" y="311"/>
                  <a:pt x="1314" y="287"/>
                </a:cubicBezTo>
                <a:cubicBezTo>
                  <a:pt x="1309" y="262"/>
                  <a:pt x="1251" y="201"/>
                  <a:pt x="1245" y="181"/>
                </a:cubicBezTo>
                <a:cubicBezTo>
                  <a:pt x="1239" y="161"/>
                  <a:pt x="1233" y="161"/>
                  <a:pt x="1237" y="145"/>
                </a:cubicBezTo>
                <a:cubicBezTo>
                  <a:pt x="1241" y="130"/>
                  <a:pt x="1255" y="98"/>
                  <a:pt x="1241" y="81"/>
                </a:cubicBezTo>
                <a:cubicBezTo>
                  <a:pt x="1228" y="64"/>
                  <a:pt x="1197" y="59"/>
                  <a:pt x="1178" y="59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3175">
            <a:solidFill>
              <a:schemeClr val="tx1">
                <a:lumMod val="60000"/>
                <a:lumOff val="40000"/>
              </a:schemeClr>
            </a:solidFill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ln>
                <a:solidFill>
                  <a:schemeClr val="accent2"/>
                </a:solidFill>
              </a:ln>
              <a:latin typeface="Gotham Light"/>
              <a:cs typeface="Gotham Ligh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58BC71-2B46-C307-39EE-8828286ADD14}"/>
              </a:ext>
            </a:extLst>
          </p:cNvPr>
          <p:cNvSpPr/>
          <p:nvPr/>
        </p:nvSpPr>
        <p:spPr>
          <a:xfrm>
            <a:off x="9130453" y="848360"/>
            <a:ext cx="2743200" cy="78848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87000"/>
              </a:lnSpc>
            </a:pPr>
            <a:r>
              <a:rPr lang="en-US" sz="3700"/>
              <a:t>XX%</a:t>
            </a:r>
          </a:p>
          <a:p>
            <a:pPr>
              <a:lnSpc>
                <a:spcPct val="87000"/>
              </a:lnSpc>
            </a:pPr>
            <a:r>
              <a:rPr lang="en-US" sz="1450"/>
              <a:t>Willingness to persist</a:t>
            </a:r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FCBAE1-7DC5-18D4-3A20-22770E47B8D3}"/>
              </a:ext>
            </a:extLst>
          </p:cNvPr>
          <p:cNvSpPr/>
          <p:nvPr/>
        </p:nvSpPr>
        <p:spPr>
          <a:xfrm>
            <a:off x="-230293" y="2369989"/>
            <a:ext cx="2743200" cy="78848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r">
              <a:lnSpc>
                <a:spcPct val="87000"/>
              </a:lnSpc>
            </a:pPr>
            <a:r>
              <a:rPr lang="en-US" sz="3700"/>
              <a:t>YY%</a:t>
            </a:r>
            <a:endParaRPr lang="en-US" sz="3733"/>
          </a:p>
          <a:p>
            <a:pPr algn="r">
              <a:lnSpc>
                <a:spcPct val="87000"/>
              </a:lnSpc>
            </a:pPr>
            <a:r>
              <a:rPr lang="en-US" sz="1450"/>
              <a:t>Willingness to persist</a:t>
            </a:r>
            <a:endParaRPr lang="en-US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7A88455F-560C-1C98-7CE4-12F5AC56A560}"/>
              </a:ext>
            </a:extLst>
          </p:cNvPr>
          <p:cNvSpPr/>
          <p:nvPr/>
        </p:nvSpPr>
        <p:spPr>
          <a:xfrm>
            <a:off x="6979477" y="1270280"/>
            <a:ext cx="1350915" cy="897187"/>
          </a:xfrm>
          <a:custGeom>
            <a:avLst/>
            <a:gdLst>
              <a:gd name="connsiteX0" fmla="*/ 1197113 w 1197113"/>
              <a:gd name="connsiteY0" fmla="*/ 0 h 658191"/>
              <a:gd name="connsiteX1" fmla="*/ 454991 w 1197113"/>
              <a:gd name="connsiteY1" fmla="*/ 0 h 658191"/>
              <a:gd name="connsiteX2" fmla="*/ 0 w 1197113"/>
              <a:gd name="connsiteY2" fmla="*/ 658191 h 658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97113" h="658191">
                <a:moveTo>
                  <a:pt x="1197113" y="0"/>
                </a:moveTo>
                <a:lnTo>
                  <a:pt x="454991" y="0"/>
                </a:lnTo>
                <a:lnTo>
                  <a:pt x="0" y="658191"/>
                </a:lnTo>
              </a:path>
            </a:pathLst>
          </a:custGeom>
          <a:noFill/>
          <a:ln>
            <a:solidFill>
              <a:schemeClr val="tx1"/>
            </a:solidFill>
            <a:tailEnd type="oval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FC28159-1A99-79A0-AF25-299FD72AA89F}"/>
              </a:ext>
            </a:extLst>
          </p:cNvPr>
          <p:cNvGrpSpPr/>
          <p:nvPr/>
        </p:nvGrpSpPr>
        <p:grpSpPr>
          <a:xfrm>
            <a:off x="8347102" y="891784"/>
            <a:ext cx="753095" cy="753088"/>
            <a:chOff x="4848383" y="-1159084"/>
            <a:chExt cx="564821" cy="564816"/>
          </a:xfrm>
        </p:grpSpPr>
        <p:sp>
          <p:nvSpPr>
            <p:cNvPr id="32" name="Oval 12">
              <a:extLst>
                <a:ext uri="{FF2B5EF4-FFF2-40B4-BE49-F238E27FC236}">
                  <a16:creationId xmlns:a16="http://schemas.microsoft.com/office/drawing/2014/main" id="{8CCF7B4E-7444-3B4F-AA00-208B0C8A01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383" y="-1159084"/>
              <a:ext cx="564821" cy="56481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/>
            </a:p>
          </p:txBody>
        </p:sp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058E46AD-06C0-C86D-C1BA-7D3403EC18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82564" y="-1014354"/>
              <a:ext cx="296458" cy="275356"/>
            </a:xfrm>
            <a:custGeom>
              <a:avLst/>
              <a:gdLst>
                <a:gd name="T0" fmla="*/ 314 w 628"/>
                <a:gd name="T1" fmla="*/ 583 h 583"/>
                <a:gd name="T2" fmla="*/ 0 w 628"/>
                <a:gd name="T3" fmla="*/ 194 h 583"/>
                <a:gd name="T4" fmla="*/ 160 w 628"/>
                <a:gd name="T5" fmla="*/ 0 h 583"/>
                <a:gd name="T6" fmla="*/ 314 w 628"/>
                <a:gd name="T7" fmla="*/ 84 h 583"/>
                <a:gd name="T8" fmla="*/ 467 w 628"/>
                <a:gd name="T9" fmla="*/ 0 h 583"/>
                <a:gd name="T10" fmla="*/ 628 w 628"/>
                <a:gd name="T11" fmla="*/ 194 h 583"/>
                <a:gd name="T12" fmla="*/ 314 w 628"/>
                <a:gd name="T13" fmla="*/ 583 h 583"/>
                <a:gd name="T14" fmla="*/ 160 w 628"/>
                <a:gd name="T15" fmla="*/ 14 h 583"/>
                <a:gd name="T16" fmla="*/ 14 w 628"/>
                <a:gd name="T17" fmla="*/ 194 h 583"/>
                <a:gd name="T18" fmla="*/ 140 w 628"/>
                <a:gd name="T19" fmla="*/ 458 h 583"/>
                <a:gd name="T20" fmla="*/ 314 w 628"/>
                <a:gd name="T21" fmla="*/ 569 h 583"/>
                <a:gd name="T22" fmla="*/ 488 w 628"/>
                <a:gd name="T23" fmla="*/ 458 h 583"/>
                <a:gd name="T24" fmla="*/ 614 w 628"/>
                <a:gd name="T25" fmla="*/ 194 h 583"/>
                <a:gd name="T26" fmla="*/ 467 w 628"/>
                <a:gd name="T27" fmla="*/ 14 h 583"/>
                <a:gd name="T28" fmla="*/ 321 w 628"/>
                <a:gd name="T29" fmla="*/ 116 h 583"/>
                <a:gd name="T30" fmla="*/ 314 w 628"/>
                <a:gd name="T31" fmla="*/ 123 h 583"/>
                <a:gd name="T32" fmla="*/ 307 w 628"/>
                <a:gd name="T33" fmla="*/ 116 h 583"/>
                <a:gd name="T34" fmla="*/ 160 w 628"/>
                <a:gd name="T35" fmla="*/ 14 h 5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28" h="583">
                  <a:moveTo>
                    <a:pt x="314" y="583"/>
                  </a:moveTo>
                  <a:cubicBezTo>
                    <a:pt x="239" y="583"/>
                    <a:pt x="0" y="403"/>
                    <a:pt x="0" y="194"/>
                  </a:cubicBezTo>
                  <a:cubicBezTo>
                    <a:pt x="0" y="102"/>
                    <a:pt x="68" y="0"/>
                    <a:pt x="160" y="0"/>
                  </a:cubicBezTo>
                  <a:cubicBezTo>
                    <a:pt x="230" y="0"/>
                    <a:pt x="294" y="37"/>
                    <a:pt x="314" y="84"/>
                  </a:cubicBezTo>
                  <a:cubicBezTo>
                    <a:pt x="335" y="37"/>
                    <a:pt x="398" y="0"/>
                    <a:pt x="467" y="0"/>
                  </a:cubicBezTo>
                  <a:cubicBezTo>
                    <a:pt x="559" y="0"/>
                    <a:pt x="628" y="102"/>
                    <a:pt x="628" y="194"/>
                  </a:cubicBezTo>
                  <a:cubicBezTo>
                    <a:pt x="628" y="403"/>
                    <a:pt x="388" y="583"/>
                    <a:pt x="314" y="583"/>
                  </a:cubicBezTo>
                  <a:close/>
                  <a:moveTo>
                    <a:pt x="160" y="14"/>
                  </a:moveTo>
                  <a:cubicBezTo>
                    <a:pt x="91" y="14"/>
                    <a:pt x="14" y="91"/>
                    <a:pt x="14" y="194"/>
                  </a:cubicBezTo>
                  <a:cubicBezTo>
                    <a:pt x="14" y="312"/>
                    <a:pt x="93" y="410"/>
                    <a:pt x="140" y="458"/>
                  </a:cubicBezTo>
                  <a:cubicBezTo>
                    <a:pt x="207" y="526"/>
                    <a:pt x="282" y="569"/>
                    <a:pt x="314" y="569"/>
                  </a:cubicBezTo>
                  <a:cubicBezTo>
                    <a:pt x="345" y="569"/>
                    <a:pt x="421" y="526"/>
                    <a:pt x="488" y="458"/>
                  </a:cubicBezTo>
                  <a:cubicBezTo>
                    <a:pt x="535" y="410"/>
                    <a:pt x="614" y="312"/>
                    <a:pt x="614" y="194"/>
                  </a:cubicBezTo>
                  <a:cubicBezTo>
                    <a:pt x="614" y="91"/>
                    <a:pt x="536" y="14"/>
                    <a:pt x="467" y="14"/>
                  </a:cubicBezTo>
                  <a:cubicBezTo>
                    <a:pt x="383" y="14"/>
                    <a:pt x="321" y="68"/>
                    <a:pt x="321" y="116"/>
                  </a:cubicBezTo>
                  <a:cubicBezTo>
                    <a:pt x="321" y="120"/>
                    <a:pt x="318" y="123"/>
                    <a:pt x="314" y="123"/>
                  </a:cubicBezTo>
                  <a:cubicBezTo>
                    <a:pt x="310" y="123"/>
                    <a:pt x="307" y="120"/>
                    <a:pt x="307" y="116"/>
                  </a:cubicBezTo>
                  <a:cubicBezTo>
                    <a:pt x="307" y="58"/>
                    <a:pt x="229" y="14"/>
                    <a:pt x="160" y="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/>
            </a:p>
          </p:txBody>
        </p:sp>
      </p:grpSp>
      <p:grpSp>
        <p:nvGrpSpPr>
          <p:cNvPr id="38" name="Group 37" hidden="1">
            <a:extLst>
              <a:ext uri="{FF2B5EF4-FFF2-40B4-BE49-F238E27FC236}">
                <a16:creationId xmlns:a16="http://schemas.microsoft.com/office/drawing/2014/main" id="{51C94634-E775-8FE3-47C8-592941C9AC1E}"/>
              </a:ext>
            </a:extLst>
          </p:cNvPr>
          <p:cNvGrpSpPr/>
          <p:nvPr/>
        </p:nvGrpSpPr>
        <p:grpSpPr>
          <a:xfrm>
            <a:off x="3316238" y="347715"/>
            <a:ext cx="753095" cy="753087"/>
            <a:chOff x="1140024" y="-1159083"/>
            <a:chExt cx="564821" cy="564815"/>
          </a:xfrm>
        </p:grpSpPr>
        <p:sp>
          <p:nvSpPr>
            <p:cNvPr id="33" name="Oval 12">
              <a:extLst>
                <a:ext uri="{FF2B5EF4-FFF2-40B4-BE49-F238E27FC236}">
                  <a16:creationId xmlns:a16="http://schemas.microsoft.com/office/drawing/2014/main" id="{5B28C3E5-6D92-1B4E-E354-387FA6C99C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024" y="-1159083"/>
              <a:ext cx="564821" cy="56481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bg2">
                  <a:lumMod val="75000"/>
                </a:schemeClr>
              </a:solidFill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/>
            </a:p>
          </p:txBody>
        </p:sp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3D73B491-64E5-29D3-C96A-851D9738C3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06051" y="-1029242"/>
              <a:ext cx="232766" cy="305132"/>
            </a:xfrm>
            <a:custGeom>
              <a:avLst/>
              <a:gdLst>
                <a:gd name="T0" fmla="*/ 451 w 493"/>
                <a:gd name="T1" fmla="*/ 579 h 646"/>
                <a:gd name="T2" fmla="*/ 285 w 493"/>
                <a:gd name="T3" fmla="*/ 321 h 646"/>
                <a:gd name="T4" fmla="*/ 419 w 493"/>
                <a:gd name="T5" fmla="*/ 174 h 646"/>
                <a:gd name="T6" fmla="*/ 424 w 493"/>
                <a:gd name="T7" fmla="*/ 165 h 646"/>
                <a:gd name="T8" fmla="*/ 460 w 493"/>
                <a:gd name="T9" fmla="*/ 67 h 646"/>
                <a:gd name="T10" fmla="*/ 460 w 493"/>
                <a:gd name="T11" fmla="*/ 0 h 646"/>
                <a:gd name="T12" fmla="*/ 0 w 493"/>
                <a:gd name="T13" fmla="*/ 33 h 646"/>
                <a:gd name="T14" fmla="*/ 44 w 493"/>
                <a:gd name="T15" fmla="*/ 67 h 646"/>
                <a:gd name="T16" fmla="*/ 73 w 493"/>
                <a:gd name="T17" fmla="*/ 166 h 646"/>
                <a:gd name="T18" fmla="*/ 211 w 493"/>
                <a:gd name="T19" fmla="*/ 317 h 646"/>
                <a:gd name="T20" fmla="*/ 211 w 493"/>
                <a:gd name="T21" fmla="*/ 332 h 646"/>
                <a:gd name="T22" fmla="*/ 34 w 493"/>
                <a:gd name="T23" fmla="*/ 579 h 646"/>
                <a:gd name="T24" fmla="*/ 34 w 493"/>
                <a:gd name="T25" fmla="*/ 646 h 646"/>
                <a:gd name="T26" fmla="*/ 493 w 493"/>
                <a:gd name="T27" fmla="*/ 612 h 646"/>
                <a:gd name="T28" fmla="*/ 404 w 493"/>
                <a:gd name="T29" fmla="*/ 479 h 646"/>
                <a:gd name="T30" fmla="*/ 285 w 493"/>
                <a:gd name="T31" fmla="*/ 348 h 646"/>
                <a:gd name="T32" fmla="*/ 14 w 493"/>
                <a:gd name="T33" fmla="*/ 33 h 646"/>
                <a:gd name="T34" fmla="*/ 460 w 493"/>
                <a:gd name="T35" fmla="*/ 14 h 646"/>
                <a:gd name="T36" fmla="*/ 460 w 493"/>
                <a:gd name="T37" fmla="*/ 53 h 646"/>
                <a:gd name="T38" fmla="*/ 14 w 493"/>
                <a:gd name="T39" fmla="*/ 33 h 646"/>
                <a:gd name="T40" fmla="*/ 412 w 493"/>
                <a:gd name="T41" fmla="*/ 156 h 646"/>
                <a:gd name="T42" fmla="*/ 85 w 493"/>
                <a:gd name="T43" fmla="*/ 156 h 646"/>
                <a:gd name="T44" fmla="*/ 439 w 493"/>
                <a:gd name="T45" fmla="*/ 67 h 646"/>
                <a:gd name="T46" fmla="*/ 211 w 493"/>
                <a:gd name="T47" fmla="*/ 490 h 646"/>
                <a:gd name="T48" fmla="*/ 211 w 493"/>
                <a:gd name="T49" fmla="*/ 348 h 646"/>
                <a:gd name="T50" fmla="*/ 156 w 493"/>
                <a:gd name="T51" fmla="*/ 509 h 646"/>
                <a:gd name="T52" fmla="*/ 219 w 493"/>
                <a:gd name="T53" fmla="*/ 503 h 646"/>
                <a:gd name="T54" fmla="*/ 225 w 493"/>
                <a:gd name="T55" fmla="*/ 336 h 646"/>
                <a:gd name="T56" fmla="*/ 225 w 493"/>
                <a:gd name="T57" fmla="*/ 313 h 646"/>
                <a:gd name="T58" fmla="*/ 94 w 493"/>
                <a:gd name="T59" fmla="*/ 175 h 646"/>
                <a:gd name="T60" fmla="*/ 259 w 493"/>
                <a:gd name="T61" fmla="*/ 169 h 646"/>
                <a:gd name="T62" fmla="*/ 274 w 493"/>
                <a:gd name="T63" fmla="*/ 307 h 646"/>
                <a:gd name="T64" fmla="*/ 271 w 493"/>
                <a:gd name="T65" fmla="*/ 321 h 646"/>
                <a:gd name="T66" fmla="*/ 271 w 493"/>
                <a:gd name="T67" fmla="*/ 483 h 646"/>
                <a:gd name="T68" fmla="*/ 278 w 493"/>
                <a:gd name="T69" fmla="*/ 493 h 646"/>
                <a:gd name="T70" fmla="*/ 437 w 493"/>
                <a:gd name="T71" fmla="*/ 579 h 646"/>
                <a:gd name="T72" fmla="*/ 84 w 493"/>
                <a:gd name="T73" fmla="*/ 495 h 646"/>
                <a:gd name="T74" fmla="*/ 34 w 493"/>
                <a:gd name="T75" fmla="*/ 632 h 646"/>
                <a:gd name="T76" fmla="*/ 34 w 493"/>
                <a:gd name="T77" fmla="*/ 593 h 646"/>
                <a:gd name="T78" fmla="*/ 479 w 493"/>
                <a:gd name="T79" fmla="*/ 612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93" h="646">
                  <a:moveTo>
                    <a:pt x="460" y="579"/>
                  </a:moveTo>
                  <a:cubicBezTo>
                    <a:pt x="451" y="579"/>
                    <a:pt x="451" y="579"/>
                    <a:pt x="451" y="579"/>
                  </a:cubicBezTo>
                  <a:cubicBezTo>
                    <a:pt x="435" y="462"/>
                    <a:pt x="357" y="372"/>
                    <a:pt x="285" y="332"/>
                  </a:cubicBezTo>
                  <a:cubicBezTo>
                    <a:pt x="285" y="321"/>
                    <a:pt x="285" y="321"/>
                    <a:pt x="285" y="321"/>
                  </a:cubicBezTo>
                  <a:cubicBezTo>
                    <a:pt x="285" y="317"/>
                    <a:pt x="285" y="317"/>
                    <a:pt x="285" y="317"/>
                  </a:cubicBezTo>
                  <a:cubicBezTo>
                    <a:pt x="334" y="291"/>
                    <a:pt x="385" y="241"/>
                    <a:pt x="419" y="174"/>
                  </a:cubicBezTo>
                  <a:cubicBezTo>
                    <a:pt x="421" y="174"/>
                    <a:pt x="422" y="173"/>
                    <a:pt x="423" y="172"/>
                  </a:cubicBezTo>
                  <a:cubicBezTo>
                    <a:pt x="424" y="170"/>
                    <a:pt x="424" y="167"/>
                    <a:pt x="424" y="165"/>
                  </a:cubicBezTo>
                  <a:cubicBezTo>
                    <a:pt x="438" y="135"/>
                    <a:pt x="448" y="102"/>
                    <a:pt x="453" y="67"/>
                  </a:cubicBezTo>
                  <a:cubicBezTo>
                    <a:pt x="460" y="67"/>
                    <a:pt x="460" y="67"/>
                    <a:pt x="460" y="67"/>
                  </a:cubicBezTo>
                  <a:cubicBezTo>
                    <a:pt x="478" y="67"/>
                    <a:pt x="493" y="52"/>
                    <a:pt x="493" y="33"/>
                  </a:cubicBezTo>
                  <a:cubicBezTo>
                    <a:pt x="493" y="15"/>
                    <a:pt x="478" y="0"/>
                    <a:pt x="460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15" y="0"/>
                    <a:pt x="0" y="15"/>
                    <a:pt x="0" y="33"/>
                  </a:cubicBezTo>
                  <a:cubicBezTo>
                    <a:pt x="0" y="52"/>
                    <a:pt x="15" y="67"/>
                    <a:pt x="34" y="67"/>
                  </a:cubicBezTo>
                  <a:cubicBezTo>
                    <a:pt x="44" y="67"/>
                    <a:pt x="44" y="67"/>
                    <a:pt x="44" y="67"/>
                  </a:cubicBezTo>
                  <a:cubicBezTo>
                    <a:pt x="48" y="100"/>
                    <a:pt x="58" y="130"/>
                    <a:pt x="70" y="158"/>
                  </a:cubicBezTo>
                  <a:cubicBezTo>
                    <a:pt x="69" y="161"/>
                    <a:pt x="70" y="165"/>
                    <a:pt x="73" y="166"/>
                  </a:cubicBezTo>
                  <a:cubicBezTo>
                    <a:pt x="73" y="166"/>
                    <a:pt x="74" y="167"/>
                    <a:pt x="74" y="167"/>
                  </a:cubicBezTo>
                  <a:cubicBezTo>
                    <a:pt x="107" y="237"/>
                    <a:pt x="160" y="290"/>
                    <a:pt x="211" y="317"/>
                  </a:cubicBezTo>
                  <a:cubicBezTo>
                    <a:pt x="211" y="330"/>
                    <a:pt x="211" y="330"/>
                    <a:pt x="211" y="330"/>
                  </a:cubicBezTo>
                  <a:cubicBezTo>
                    <a:pt x="211" y="332"/>
                    <a:pt x="211" y="332"/>
                    <a:pt x="211" y="332"/>
                  </a:cubicBezTo>
                  <a:cubicBezTo>
                    <a:pt x="140" y="371"/>
                    <a:pt x="62" y="462"/>
                    <a:pt x="44" y="579"/>
                  </a:cubicBezTo>
                  <a:cubicBezTo>
                    <a:pt x="34" y="579"/>
                    <a:pt x="34" y="579"/>
                    <a:pt x="34" y="579"/>
                  </a:cubicBezTo>
                  <a:cubicBezTo>
                    <a:pt x="15" y="579"/>
                    <a:pt x="0" y="594"/>
                    <a:pt x="0" y="612"/>
                  </a:cubicBezTo>
                  <a:cubicBezTo>
                    <a:pt x="0" y="631"/>
                    <a:pt x="15" y="646"/>
                    <a:pt x="34" y="646"/>
                  </a:cubicBezTo>
                  <a:cubicBezTo>
                    <a:pt x="460" y="646"/>
                    <a:pt x="460" y="646"/>
                    <a:pt x="460" y="646"/>
                  </a:cubicBezTo>
                  <a:cubicBezTo>
                    <a:pt x="478" y="646"/>
                    <a:pt x="493" y="631"/>
                    <a:pt x="493" y="612"/>
                  </a:cubicBezTo>
                  <a:cubicBezTo>
                    <a:pt x="493" y="594"/>
                    <a:pt x="478" y="579"/>
                    <a:pt x="460" y="579"/>
                  </a:cubicBezTo>
                  <a:close/>
                  <a:moveTo>
                    <a:pt x="404" y="479"/>
                  </a:moveTo>
                  <a:cubicBezTo>
                    <a:pt x="371" y="466"/>
                    <a:pt x="329" y="470"/>
                    <a:pt x="285" y="478"/>
                  </a:cubicBezTo>
                  <a:cubicBezTo>
                    <a:pt x="285" y="348"/>
                    <a:pt x="285" y="348"/>
                    <a:pt x="285" y="348"/>
                  </a:cubicBezTo>
                  <a:cubicBezTo>
                    <a:pt x="328" y="374"/>
                    <a:pt x="373" y="420"/>
                    <a:pt x="404" y="479"/>
                  </a:cubicBezTo>
                  <a:close/>
                  <a:moveTo>
                    <a:pt x="14" y="33"/>
                  </a:moveTo>
                  <a:cubicBezTo>
                    <a:pt x="14" y="23"/>
                    <a:pt x="23" y="14"/>
                    <a:pt x="34" y="14"/>
                  </a:cubicBezTo>
                  <a:cubicBezTo>
                    <a:pt x="460" y="14"/>
                    <a:pt x="460" y="14"/>
                    <a:pt x="460" y="14"/>
                  </a:cubicBezTo>
                  <a:cubicBezTo>
                    <a:pt x="471" y="14"/>
                    <a:pt x="479" y="23"/>
                    <a:pt x="479" y="33"/>
                  </a:cubicBezTo>
                  <a:cubicBezTo>
                    <a:pt x="479" y="44"/>
                    <a:pt x="471" y="53"/>
                    <a:pt x="460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23" y="53"/>
                    <a:pt x="14" y="44"/>
                    <a:pt x="14" y="33"/>
                  </a:cubicBezTo>
                  <a:close/>
                  <a:moveTo>
                    <a:pt x="439" y="67"/>
                  </a:moveTo>
                  <a:cubicBezTo>
                    <a:pt x="434" y="99"/>
                    <a:pt x="425" y="129"/>
                    <a:pt x="412" y="156"/>
                  </a:cubicBezTo>
                  <a:cubicBezTo>
                    <a:pt x="372" y="134"/>
                    <a:pt x="315" y="145"/>
                    <a:pt x="256" y="156"/>
                  </a:cubicBezTo>
                  <a:cubicBezTo>
                    <a:pt x="196" y="167"/>
                    <a:pt x="134" y="178"/>
                    <a:pt x="85" y="156"/>
                  </a:cubicBezTo>
                  <a:cubicBezTo>
                    <a:pt x="72" y="129"/>
                    <a:pt x="63" y="99"/>
                    <a:pt x="58" y="67"/>
                  </a:cubicBezTo>
                  <a:lnTo>
                    <a:pt x="439" y="67"/>
                  </a:lnTo>
                  <a:close/>
                  <a:moveTo>
                    <a:pt x="211" y="348"/>
                  </a:moveTo>
                  <a:cubicBezTo>
                    <a:pt x="211" y="490"/>
                    <a:pt x="211" y="490"/>
                    <a:pt x="211" y="490"/>
                  </a:cubicBezTo>
                  <a:cubicBezTo>
                    <a:pt x="171" y="496"/>
                    <a:pt x="127" y="499"/>
                    <a:pt x="90" y="483"/>
                  </a:cubicBezTo>
                  <a:cubicBezTo>
                    <a:pt x="121" y="422"/>
                    <a:pt x="168" y="374"/>
                    <a:pt x="211" y="348"/>
                  </a:cubicBezTo>
                  <a:close/>
                  <a:moveTo>
                    <a:pt x="84" y="495"/>
                  </a:moveTo>
                  <a:cubicBezTo>
                    <a:pt x="107" y="505"/>
                    <a:pt x="131" y="509"/>
                    <a:pt x="156" y="509"/>
                  </a:cubicBezTo>
                  <a:cubicBezTo>
                    <a:pt x="178" y="509"/>
                    <a:pt x="199" y="506"/>
                    <a:pt x="219" y="503"/>
                  </a:cubicBezTo>
                  <a:cubicBezTo>
                    <a:pt x="219" y="503"/>
                    <a:pt x="219" y="503"/>
                    <a:pt x="219" y="503"/>
                  </a:cubicBezTo>
                  <a:cubicBezTo>
                    <a:pt x="222" y="503"/>
                    <a:pt x="225" y="500"/>
                    <a:pt x="225" y="496"/>
                  </a:cubicBezTo>
                  <a:cubicBezTo>
                    <a:pt x="225" y="336"/>
                    <a:pt x="225" y="336"/>
                    <a:pt x="225" y="336"/>
                  </a:cubicBezTo>
                  <a:cubicBezTo>
                    <a:pt x="225" y="330"/>
                    <a:pt x="225" y="330"/>
                    <a:pt x="225" y="330"/>
                  </a:cubicBezTo>
                  <a:cubicBezTo>
                    <a:pt x="225" y="313"/>
                    <a:pt x="225" y="313"/>
                    <a:pt x="225" y="313"/>
                  </a:cubicBezTo>
                  <a:cubicBezTo>
                    <a:pt x="225" y="311"/>
                    <a:pt x="224" y="308"/>
                    <a:pt x="221" y="307"/>
                  </a:cubicBezTo>
                  <a:cubicBezTo>
                    <a:pt x="177" y="284"/>
                    <a:pt x="127" y="237"/>
                    <a:pt x="94" y="175"/>
                  </a:cubicBezTo>
                  <a:cubicBezTo>
                    <a:pt x="112" y="180"/>
                    <a:pt x="131" y="183"/>
                    <a:pt x="151" y="183"/>
                  </a:cubicBezTo>
                  <a:cubicBezTo>
                    <a:pt x="186" y="183"/>
                    <a:pt x="223" y="176"/>
                    <a:pt x="259" y="169"/>
                  </a:cubicBezTo>
                  <a:cubicBezTo>
                    <a:pt x="316" y="159"/>
                    <a:pt x="370" y="149"/>
                    <a:pt x="406" y="169"/>
                  </a:cubicBezTo>
                  <a:cubicBezTo>
                    <a:pt x="372" y="234"/>
                    <a:pt x="321" y="283"/>
                    <a:pt x="274" y="307"/>
                  </a:cubicBezTo>
                  <a:cubicBezTo>
                    <a:pt x="272" y="308"/>
                    <a:pt x="271" y="311"/>
                    <a:pt x="271" y="313"/>
                  </a:cubicBezTo>
                  <a:cubicBezTo>
                    <a:pt x="271" y="321"/>
                    <a:pt x="271" y="321"/>
                    <a:pt x="271" y="321"/>
                  </a:cubicBezTo>
                  <a:cubicBezTo>
                    <a:pt x="271" y="336"/>
                    <a:pt x="271" y="336"/>
                    <a:pt x="271" y="336"/>
                  </a:cubicBezTo>
                  <a:cubicBezTo>
                    <a:pt x="271" y="483"/>
                    <a:pt x="271" y="483"/>
                    <a:pt x="271" y="483"/>
                  </a:cubicBezTo>
                  <a:cubicBezTo>
                    <a:pt x="270" y="484"/>
                    <a:pt x="270" y="486"/>
                    <a:pt x="270" y="487"/>
                  </a:cubicBezTo>
                  <a:cubicBezTo>
                    <a:pt x="271" y="491"/>
                    <a:pt x="274" y="494"/>
                    <a:pt x="278" y="493"/>
                  </a:cubicBezTo>
                  <a:cubicBezTo>
                    <a:pt x="331" y="484"/>
                    <a:pt x="381" y="477"/>
                    <a:pt x="414" y="499"/>
                  </a:cubicBezTo>
                  <a:cubicBezTo>
                    <a:pt x="425" y="524"/>
                    <a:pt x="433" y="551"/>
                    <a:pt x="437" y="579"/>
                  </a:cubicBezTo>
                  <a:cubicBezTo>
                    <a:pt x="58" y="579"/>
                    <a:pt x="58" y="579"/>
                    <a:pt x="58" y="579"/>
                  </a:cubicBezTo>
                  <a:cubicBezTo>
                    <a:pt x="63" y="549"/>
                    <a:pt x="72" y="521"/>
                    <a:pt x="84" y="495"/>
                  </a:cubicBezTo>
                  <a:close/>
                  <a:moveTo>
                    <a:pt x="460" y="632"/>
                  </a:moveTo>
                  <a:cubicBezTo>
                    <a:pt x="34" y="632"/>
                    <a:pt x="34" y="632"/>
                    <a:pt x="34" y="632"/>
                  </a:cubicBezTo>
                  <a:cubicBezTo>
                    <a:pt x="23" y="632"/>
                    <a:pt x="14" y="623"/>
                    <a:pt x="14" y="612"/>
                  </a:cubicBezTo>
                  <a:cubicBezTo>
                    <a:pt x="14" y="601"/>
                    <a:pt x="23" y="593"/>
                    <a:pt x="34" y="593"/>
                  </a:cubicBezTo>
                  <a:cubicBezTo>
                    <a:pt x="460" y="593"/>
                    <a:pt x="460" y="593"/>
                    <a:pt x="460" y="593"/>
                  </a:cubicBezTo>
                  <a:cubicBezTo>
                    <a:pt x="471" y="593"/>
                    <a:pt x="479" y="601"/>
                    <a:pt x="479" y="612"/>
                  </a:cubicBezTo>
                  <a:cubicBezTo>
                    <a:pt x="479" y="623"/>
                    <a:pt x="471" y="632"/>
                    <a:pt x="460" y="63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B3AAE40-E4D5-13DF-1E45-5D992A54AE0F}"/>
              </a:ext>
            </a:extLst>
          </p:cNvPr>
          <p:cNvGrpSpPr/>
          <p:nvPr/>
        </p:nvGrpSpPr>
        <p:grpSpPr>
          <a:xfrm>
            <a:off x="2513567" y="2427027"/>
            <a:ext cx="753095" cy="753088"/>
            <a:chOff x="3538631" y="-1159084"/>
            <a:chExt cx="564821" cy="564816"/>
          </a:xfrm>
        </p:grpSpPr>
        <p:sp>
          <p:nvSpPr>
            <p:cNvPr id="31" name="Oval 12">
              <a:extLst>
                <a:ext uri="{FF2B5EF4-FFF2-40B4-BE49-F238E27FC236}">
                  <a16:creationId xmlns:a16="http://schemas.microsoft.com/office/drawing/2014/main" id="{64793A60-8213-67D3-50BD-0016843014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1" y="-1159084"/>
              <a:ext cx="564821" cy="564816"/>
            </a:xfrm>
            <a:prstGeom prst="ellipse">
              <a:avLst/>
            </a:prstGeom>
            <a:solidFill>
              <a:schemeClr val="accent4"/>
            </a:solidFill>
            <a:ln w="9525">
              <a:solidFill>
                <a:schemeClr val="accent3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/>
            </a:p>
          </p:txBody>
        </p:sp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0E49C237-CE78-B928-2DF1-D48F8D6E70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44531" y="-1052377"/>
              <a:ext cx="353020" cy="342734"/>
            </a:xfrm>
            <a:custGeom>
              <a:avLst/>
              <a:gdLst>
                <a:gd name="T0" fmla="*/ 492 w 640"/>
                <a:gd name="T1" fmla="*/ 256 h 621"/>
                <a:gd name="T2" fmla="*/ 421 w 640"/>
                <a:gd name="T3" fmla="*/ 285 h 621"/>
                <a:gd name="T4" fmla="*/ 334 w 640"/>
                <a:gd name="T5" fmla="*/ 147 h 621"/>
                <a:gd name="T6" fmla="*/ 327 w 640"/>
                <a:gd name="T7" fmla="*/ 0 h 621"/>
                <a:gd name="T8" fmla="*/ 320 w 640"/>
                <a:gd name="T9" fmla="*/ 147 h 621"/>
                <a:gd name="T10" fmla="*/ 234 w 640"/>
                <a:gd name="T11" fmla="*/ 286 h 621"/>
                <a:gd name="T12" fmla="*/ 147 w 640"/>
                <a:gd name="T13" fmla="*/ 256 h 621"/>
                <a:gd name="T14" fmla="*/ 0 w 640"/>
                <a:gd name="T15" fmla="*/ 256 h 621"/>
                <a:gd name="T16" fmla="*/ 143 w 640"/>
                <a:gd name="T17" fmla="*/ 281 h 621"/>
                <a:gd name="T18" fmla="*/ 229 w 640"/>
                <a:gd name="T19" fmla="*/ 316 h 621"/>
                <a:gd name="T20" fmla="*/ 206 w 640"/>
                <a:gd name="T21" fmla="*/ 483 h 621"/>
                <a:gd name="T22" fmla="*/ 97 w 640"/>
                <a:gd name="T23" fmla="*/ 548 h 621"/>
                <a:gd name="T24" fmla="*/ 245 w 640"/>
                <a:gd name="T25" fmla="*/ 548 h 621"/>
                <a:gd name="T26" fmla="*/ 278 w 640"/>
                <a:gd name="T27" fmla="*/ 401 h 621"/>
                <a:gd name="T28" fmla="*/ 372 w 640"/>
                <a:gd name="T29" fmla="*/ 404 h 621"/>
                <a:gd name="T30" fmla="*/ 394 w 640"/>
                <a:gd name="T31" fmla="*/ 548 h 621"/>
                <a:gd name="T32" fmla="*/ 542 w 640"/>
                <a:gd name="T33" fmla="*/ 548 h 621"/>
                <a:gd name="T34" fmla="*/ 436 w 640"/>
                <a:gd name="T35" fmla="*/ 481 h 621"/>
                <a:gd name="T36" fmla="*/ 426 w 640"/>
                <a:gd name="T37" fmla="*/ 316 h 621"/>
                <a:gd name="T38" fmla="*/ 496 w 640"/>
                <a:gd name="T39" fmla="*/ 281 h 621"/>
                <a:gd name="T40" fmla="*/ 640 w 640"/>
                <a:gd name="T41" fmla="*/ 256 h 621"/>
                <a:gd name="T42" fmla="*/ 73 w 640"/>
                <a:gd name="T43" fmla="*/ 316 h 621"/>
                <a:gd name="T44" fmla="*/ 73 w 640"/>
                <a:gd name="T45" fmla="*/ 196 h 621"/>
                <a:gd name="T46" fmla="*/ 73 w 640"/>
                <a:gd name="T47" fmla="*/ 316 h 621"/>
                <a:gd name="T48" fmla="*/ 171 w 640"/>
                <a:gd name="T49" fmla="*/ 607 h 621"/>
                <a:gd name="T50" fmla="*/ 171 w 640"/>
                <a:gd name="T51" fmla="*/ 488 h 621"/>
                <a:gd name="T52" fmla="*/ 528 w 640"/>
                <a:gd name="T53" fmla="*/ 548 h 621"/>
                <a:gd name="T54" fmla="*/ 408 w 640"/>
                <a:gd name="T55" fmla="*/ 548 h 621"/>
                <a:gd name="T56" fmla="*/ 528 w 640"/>
                <a:gd name="T57" fmla="*/ 548 h 621"/>
                <a:gd name="T58" fmla="*/ 327 w 640"/>
                <a:gd name="T59" fmla="*/ 14 h 621"/>
                <a:gd name="T60" fmla="*/ 327 w 640"/>
                <a:gd name="T61" fmla="*/ 134 h 621"/>
                <a:gd name="T62" fmla="*/ 327 w 640"/>
                <a:gd name="T63" fmla="*/ 400 h 621"/>
                <a:gd name="T64" fmla="*/ 327 w 640"/>
                <a:gd name="T65" fmla="*/ 232 h 621"/>
                <a:gd name="T66" fmla="*/ 327 w 640"/>
                <a:gd name="T67" fmla="*/ 400 h 621"/>
                <a:gd name="T68" fmla="*/ 508 w 640"/>
                <a:gd name="T69" fmla="*/ 271 h 621"/>
                <a:gd name="T70" fmla="*/ 508 w 640"/>
                <a:gd name="T71" fmla="*/ 271 h 621"/>
                <a:gd name="T72" fmla="*/ 566 w 640"/>
                <a:gd name="T73" fmla="*/ 196 h 621"/>
                <a:gd name="T74" fmla="*/ 566 w 640"/>
                <a:gd name="T75" fmla="*/ 316 h 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40" h="621">
                  <a:moveTo>
                    <a:pt x="566" y="182"/>
                  </a:moveTo>
                  <a:cubicBezTo>
                    <a:pt x="525" y="182"/>
                    <a:pt x="492" y="215"/>
                    <a:pt x="492" y="256"/>
                  </a:cubicBezTo>
                  <a:cubicBezTo>
                    <a:pt x="492" y="260"/>
                    <a:pt x="492" y="264"/>
                    <a:pt x="493" y="267"/>
                  </a:cubicBezTo>
                  <a:cubicBezTo>
                    <a:pt x="421" y="285"/>
                    <a:pt x="421" y="285"/>
                    <a:pt x="421" y="285"/>
                  </a:cubicBezTo>
                  <a:cubicBezTo>
                    <a:pt x="408" y="248"/>
                    <a:pt x="375" y="221"/>
                    <a:pt x="334" y="218"/>
                  </a:cubicBezTo>
                  <a:cubicBezTo>
                    <a:pt x="334" y="147"/>
                    <a:pt x="334" y="147"/>
                    <a:pt x="334" y="147"/>
                  </a:cubicBezTo>
                  <a:cubicBezTo>
                    <a:pt x="372" y="144"/>
                    <a:pt x="401" y="112"/>
                    <a:pt x="401" y="74"/>
                  </a:cubicBezTo>
                  <a:cubicBezTo>
                    <a:pt x="401" y="33"/>
                    <a:pt x="368" y="0"/>
                    <a:pt x="327" y="0"/>
                  </a:cubicBezTo>
                  <a:cubicBezTo>
                    <a:pt x="287" y="0"/>
                    <a:pt x="254" y="33"/>
                    <a:pt x="254" y="74"/>
                  </a:cubicBezTo>
                  <a:cubicBezTo>
                    <a:pt x="254" y="112"/>
                    <a:pt x="283" y="144"/>
                    <a:pt x="320" y="147"/>
                  </a:cubicBezTo>
                  <a:cubicBezTo>
                    <a:pt x="320" y="218"/>
                    <a:pt x="320" y="218"/>
                    <a:pt x="320" y="218"/>
                  </a:cubicBezTo>
                  <a:cubicBezTo>
                    <a:pt x="280" y="221"/>
                    <a:pt x="246" y="249"/>
                    <a:pt x="234" y="286"/>
                  </a:cubicBezTo>
                  <a:cubicBezTo>
                    <a:pt x="146" y="267"/>
                    <a:pt x="146" y="267"/>
                    <a:pt x="146" y="267"/>
                  </a:cubicBezTo>
                  <a:cubicBezTo>
                    <a:pt x="147" y="263"/>
                    <a:pt x="147" y="260"/>
                    <a:pt x="147" y="256"/>
                  </a:cubicBezTo>
                  <a:cubicBezTo>
                    <a:pt x="147" y="215"/>
                    <a:pt x="114" y="182"/>
                    <a:pt x="73" y="182"/>
                  </a:cubicBezTo>
                  <a:cubicBezTo>
                    <a:pt x="33" y="182"/>
                    <a:pt x="0" y="215"/>
                    <a:pt x="0" y="256"/>
                  </a:cubicBezTo>
                  <a:cubicBezTo>
                    <a:pt x="0" y="297"/>
                    <a:pt x="33" y="330"/>
                    <a:pt x="73" y="330"/>
                  </a:cubicBezTo>
                  <a:cubicBezTo>
                    <a:pt x="105" y="330"/>
                    <a:pt x="133" y="309"/>
                    <a:pt x="143" y="281"/>
                  </a:cubicBezTo>
                  <a:cubicBezTo>
                    <a:pt x="230" y="300"/>
                    <a:pt x="230" y="300"/>
                    <a:pt x="230" y="300"/>
                  </a:cubicBezTo>
                  <a:cubicBezTo>
                    <a:pt x="229" y="305"/>
                    <a:pt x="229" y="311"/>
                    <a:pt x="229" y="316"/>
                  </a:cubicBezTo>
                  <a:cubicBezTo>
                    <a:pt x="229" y="348"/>
                    <a:pt x="244" y="375"/>
                    <a:pt x="267" y="394"/>
                  </a:cubicBezTo>
                  <a:cubicBezTo>
                    <a:pt x="206" y="483"/>
                    <a:pt x="206" y="483"/>
                    <a:pt x="206" y="483"/>
                  </a:cubicBezTo>
                  <a:cubicBezTo>
                    <a:pt x="196" y="477"/>
                    <a:pt x="184" y="474"/>
                    <a:pt x="171" y="474"/>
                  </a:cubicBezTo>
                  <a:cubicBezTo>
                    <a:pt x="130" y="474"/>
                    <a:pt x="97" y="507"/>
                    <a:pt x="97" y="548"/>
                  </a:cubicBezTo>
                  <a:cubicBezTo>
                    <a:pt x="97" y="588"/>
                    <a:pt x="130" y="621"/>
                    <a:pt x="171" y="621"/>
                  </a:cubicBezTo>
                  <a:cubicBezTo>
                    <a:pt x="212" y="621"/>
                    <a:pt x="245" y="588"/>
                    <a:pt x="245" y="548"/>
                  </a:cubicBezTo>
                  <a:cubicBezTo>
                    <a:pt x="245" y="525"/>
                    <a:pt x="234" y="504"/>
                    <a:pt x="218" y="491"/>
                  </a:cubicBezTo>
                  <a:cubicBezTo>
                    <a:pt x="278" y="401"/>
                    <a:pt x="278" y="401"/>
                    <a:pt x="278" y="401"/>
                  </a:cubicBezTo>
                  <a:cubicBezTo>
                    <a:pt x="293" y="410"/>
                    <a:pt x="309" y="414"/>
                    <a:pt x="327" y="414"/>
                  </a:cubicBezTo>
                  <a:cubicBezTo>
                    <a:pt x="343" y="414"/>
                    <a:pt x="359" y="411"/>
                    <a:pt x="372" y="404"/>
                  </a:cubicBezTo>
                  <a:cubicBezTo>
                    <a:pt x="424" y="489"/>
                    <a:pt x="424" y="489"/>
                    <a:pt x="424" y="489"/>
                  </a:cubicBezTo>
                  <a:cubicBezTo>
                    <a:pt x="406" y="502"/>
                    <a:pt x="394" y="523"/>
                    <a:pt x="394" y="548"/>
                  </a:cubicBezTo>
                  <a:cubicBezTo>
                    <a:pt x="394" y="588"/>
                    <a:pt x="427" y="621"/>
                    <a:pt x="468" y="621"/>
                  </a:cubicBezTo>
                  <a:cubicBezTo>
                    <a:pt x="509" y="621"/>
                    <a:pt x="542" y="588"/>
                    <a:pt x="542" y="548"/>
                  </a:cubicBezTo>
                  <a:cubicBezTo>
                    <a:pt x="542" y="507"/>
                    <a:pt x="509" y="474"/>
                    <a:pt x="468" y="474"/>
                  </a:cubicBezTo>
                  <a:cubicBezTo>
                    <a:pt x="456" y="474"/>
                    <a:pt x="446" y="477"/>
                    <a:pt x="436" y="481"/>
                  </a:cubicBezTo>
                  <a:cubicBezTo>
                    <a:pt x="384" y="396"/>
                    <a:pt x="384" y="396"/>
                    <a:pt x="384" y="396"/>
                  </a:cubicBezTo>
                  <a:cubicBezTo>
                    <a:pt x="409" y="378"/>
                    <a:pt x="426" y="349"/>
                    <a:pt x="426" y="316"/>
                  </a:cubicBezTo>
                  <a:cubicBezTo>
                    <a:pt x="426" y="310"/>
                    <a:pt x="425" y="305"/>
                    <a:pt x="424" y="299"/>
                  </a:cubicBezTo>
                  <a:cubicBezTo>
                    <a:pt x="496" y="281"/>
                    <a:pt x="496" y="281"/>
                    <a:pt x="496" y="281"/>
                  </a:cubicBezTo>
                  <a:cubicBezTo>
                    <a:pt x="507" y="309"/>
                    <a:pt x="534" y="330"/>
                    <a:pt x="566" y="330"/>
                  </a:cubicBezTo>
                  <a:cubicBezTo>
                    <a:pt x="606" y="330"/>
                    <a:pt x="640" y="297"/>
                    <a:pt x="640" y="256"/>
                  </a:cubicBezTo>
                  <a:cubicBezTo>
                    <a:pt x="640" y="215"/>
                    <a:pt x="606" y="182"/>
                    <a:pt x="566" y="182"/>
                  </a:cubicBezTo>
                  <a:close/>
                  <a:moveTo>
                    <a:pt x="73" y="316"/>
                  </a:moveTo>
                  <a:cubicBezTo>
                    <a:pt x="40" y="316"/>
                    <a:pt x="14" y="289"/>
                    <a:pt x="14" y="256"/>
                  </a:cubicBezTo>
                  <a:cubicBezTo>
                    <a:pt x="14" y="223"/>
                    <a:pt x="40" y="196"/>
                    <a:pt x="73" y="196"/>
                  </a:cubicBezTo>
                  <a:cubicBezTo>
                    <a:pt x="106" y="196"/>
                    <a:pt x="133" y="223"/>
                    <a:pt x="133" y="256"/>
                  </a:cubicBezTo>
                  <a:cubicBezTo>
                    <a:pt x="133" y="289"/>
                    <a:pt x="106" y="316"/>
                    <a:pt x="73" y="316"/>
                  </a:cubicBezTo>
                  <a:close/>
                  <a:moveTo>
                    <a:pt x="231" y="548"/>
                  </a:moveTo>
                  <a:cubicBezTo>
                    <a:pt x="231" y="581"/>
                    <a:pt x="204" y="607"/>
                    <a:pt x="171" y="607"/>
                  </a:cubicBezTo>
                  <a:cubicBezTo>
                    <a:pt x="138" y="607"/>
                    <a:pt x="111" y="581"/>
                    <a:pt x="111" y="548"/>
                  </a:cubicBezTo>
                  <a:cubicBezTo>
                    <a:pt x="111" y="515"/>
                    <a:pt x="138" y="488"/>
                    <a:pt x="171" y="488"/>
                  </a:cubicBezTo>
                  <a:cubicBezTo>
                    <a:pt x="204" y="488"/>
                    <a:pt x="231" y="515"/>
                    <a:pt x="231" y="548"/>
                  </a:cubicBezTo>
                  <a:close/>
                  <a:moveTo>
                    <a:pt x="528" y="548"/>
                  </a:moveTo>
                  <a:cubicBezTo>
                    <a:pt x="528" y="581"/>
                    <a:pt x="501" y="607"/>
                    <a:pt x="468" y="607"/>
                  </a:cubicBezTo>
                  <a:cubicBezTo>
                    <a:pt x="435" y="607"/>
                    <a:pt x="408" y="581"/>
                    <a:pt x="408" y="548"/>
                  </a:cubicBezTo>
                  <a:cubicBezTo>
                    <a:pt x="408" y="515"/>
                    <a:pt x="435" y="488"/>
                    <a:pt x="468" y="488"/>
                  </a:cubicBezTo>
                  <a:cubicBezTo>
                    <a:pt x="501" y="488"/>
                    <a:pt x="528" y="515"/>
                    <a:pt x="528" y="548"/>
                  </a:cubicBezTo>
                  <a:close/>
                  <a:moveTo>
                    <a:pt x="268" y="74"/>
                  </a:moveTo>
                  <a:cubicBezTo>
                    <a:pt x="268" y="41"/>
                    <a:pt x="294" y="14"/>
                    <a:pt x="327" y="14"/>
                  </a:cubicBezTo>
                  <a:cubicBezTo>
                    <a:pt x="360" y="14"/>
                    <a:pt x="387" y="41"/>
                    <a:pt x="387" y="74"/>
                  </a:cubicBezTo>
                  <a:cubicBezTo>
                    <a:pt x="387" y="107"/>
                    <a:pt x="360" y="134"/>
                    <a:pt x="327" y="134"/>
                  </a:cubicBezTo>
                  <a:cubicBezTo>
                    <a:pt x="294" y="134"/>
                    <a:pt x="268" y="107"/>
                    <a:pt x="268" y="74"/>
                  </a:cubicBezTo>
                  <a:close/>
                  <a:moveTo>
                    <a:pt x="327" y="400"/>
                  </a:moveTo>
                  <a:cubicBezTo>
                    <a:pt x="281" y="400"/>
                    <a:pt x="243" y="363"/>
                    <a:pt x="243" y="316"/>
                  </a:cubicBezTo>
                  <a:cubicBezTo>
                    <a:pt x="243" y="270"/>
                    <a:pt x="281" y="232"/>
                    <a:pt x="327" y="232"/>
                  </a:cubicBezTo>
                  <a:cubicBezTo>
                    <a:pt x="374" y="232"/>
                    <a:pt x="412" y="270"/>
                    <a:pt x="412" y="316"/>
                  </a:cubicBezTo>
                  <a:cubicBezTo>
                    <a:pt x="412" y="363"/>
                    <a:pt x="374" y="400"/>
                    <a:pt x="327" y="400"/>
                  </a:cubicBezTo>
                  <a:close/>
                  <a:moveTo>
                    <a:pt x="566" y="316"/>
                  </a:moveTo>
                  <a:cubicBezTo>
                    <a:pt x="538" y="316"/>
                    <a:pt x="514" y="297"/>
                    <a:pt x="508" y="271"/>
                  </a:cubicBezTo>
                  <a:cubicBezTo>
                    <a:pt x="508" y="271"/>
                    <a:pt x="508" y="271"/>
                    <a:pt x="508" y="271"/>
                  </a:cubicBezTo>
                  <a:cubicBezTo>
                    <a:pt x="508" y="271"/>
                    <a:pt x="508" y="271"/>
                    <a:pt x="508" y="271"/>
                  </a:cubicBezTo>
                  <a:cubicBezTo>
                    <a:pt x="507" y="266"/>
                    <a:pt x="506" y="261"/>
                    <a:pt x="506" y="256"/>
                  </a:cubicBezTo>
                  <a:cubicBezTo>
                    <a:pt x="506" y="223"/>
                    <a:pt x="533" y="196"/>
                    <a:pt x="566" y="196"/>
                  </a:cubicBezTo>
                  <a:cubicBezTo>
                    <a:pt x="599" y="196"/>
                    <a:pt x="626" y="223"/>
                    <a:pt x="626" y="256"/>
                  </a:cubicBezTo>
                  <a:cubicBezTo>
                    <a:pt x="626" y="289"/>
                    <a:pt x="599" y="316"/>
                    <a:pt x="566" y="31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170E23CB-1407-643F-BB22-278AB589B7F2}"/>
              </a:ext>
            </a:extLst>
          </p:cNvPr>
          <p:cNvSpPr/>
          <p:nvPr/>
        </p:nvSpPr>
        <p:spPr>
          <a:xfrm>
            <a:off x="543946" y="3439016"/>
            <a:ext cx="3048000" cy="1459246"/>
          </a:xfrm>
          <a:prstGeom prst="rect">
            <a:avLst/>
          </a:prstGeom>
        </p:spPr>
        <p:txBody>
          <a:bodyPr wrap="square" lIns="91440" tIns="45720" rIns="91440" bIns="45720" anchor="ctr" anchorCtr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100">
                <a:latin typeface="Aptos"/>
                <a:cs typeface="Arial"/>
              </a:rPr>
              <a:t>Scenario B (Luck)</a:t>
            </a:r>
            <a:endParaRPr lang="en-US"/>
          </a:p>
          <a:p>
            <a:pPr>
              <a:lnSpc>
                <a:spcPct val="95000"/>
              </a:lnSpc>
            </a:pPr>
            <a:r>
              <a:rPr lang="en-US" sz="1450">
                <a:latin typeface="Aptos"/>
                <a:cs typeface="Arial"/>
              </a:rPr>
              <a:t>You buy a lottery ticket: 5-5-6. Just needed one more 5 to win. </a:t>
            </a:r>
            <a:endParaRPr lang="en-US" sz="1450"/>
          </a:p>
          <a:p>
            <a:pPr>
              <a:lnSpc>
                <a:spcPct val="95000"/>
              </a:lnSpc>
            </a:pPr>
            <a:endParaRPr lang="en-US" sz="1450">
              <a:latin typeface="Aptos"/>
              <a:cs typeface="Arial"/>
            </a:endParaRPr>
          </a:p>
          <a:p>
            <a:pPr>
              <a:lnSpc>
                <a:spcPct val="95000"/>
              </a:lnSpc>
            </a:pPr>
            <a:r>
              <a:rPr lang="en-US" sz="1450">
                <a:latin typeface="Aptos"/>
                <a:cs typeface="Arial"/>
              </a:rPr>
              <a:t>You think: "That was close... but still random."</a:t>
            </a:r>
            <a:endParaRPr lang="en-US" sz="1450"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CC02FE-A877-AF8F-3CAE-308EE8902D97}"/>
              </a:ext>
            </a:extLst>
          </p:cNvPr>
          <p:cNvSpPr/>
          <p:nvPr/>
        </p:nvSpPr>
        <p:spPr>
          <a:xfrm>
            <a:off x="8347083" y="1802990"/>
            <a:ext cx="3048000" cy="1671227"/>
          </a:xfrm>
          <a:prstGeom prst="rect">
            <a:avLst/>
          </a:prstGeom>
        </p:spPr>
        <p:txBody>
          <a:bodyPr wrap="square" lIns="91440" tIns="45720" rIns="91440" bIns="45720" anchor="ctr" anchorCtr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100"/>
              <a:t>Scenario A (Skill)</a:t>
            </a:r>
            <a:endParaRPr lang="en-US" sz="2133"/>
          </a:p>
          <a:p>
            <a:pPr>
              <a:lnSpc>
                <a:spcPct val="95000"/>
              </a:lnSpc>
            </a:pPr>
            <a:r>
              <a:rPr lang="fr-FR" sz="1450"/>
              <a:t>You practice a basketball free </a:t>
            </a:r>
            <a:r>
              <a:rPr lang="fr-FR" sz="1450" err="1"/>
              <a:t>throw</a:t>
            </a:r>
            <a:r>
              <a:rPr lang="fr-FR" sz="1450"/>
              <a:t>. First shot hits the </a:t>
            </a:r>
            <a:r>
              <a:rPr lang="fr-FR" sz="1450" err="1"/>
              <a:t>rim</a:t>
            </a:r>
            <a:r>
              <a:rPr lang="fr-FR" sz="1450"/>
              <a:t> and </a:t>
            </a:r>
            <a:r>
              <a:rPr lang="fr-FR" sz="1450" err="1"/>
              <a:t>almost</a:t>
            </a:r>
            <a:r>
              <a:rPr lang="fr-FR" sz="1450"/>
              <a:t> </a:t>
            </a:r>
            <a:r>
              <a:rPr lang="fr-FR" sz="1450" err="1"/>
              <a:t>goes</a:t>
            </a:r>
            <a:r>
              <a:rPr lang="fr-FR" sz="1450"/>
              <a:t> in. </a:t>
            </a:r>
            <a:endParaRPr lang="en-US" sz="1450"/>
          </a:p>
          <a:p>
            <a:pPr>
              <a:lnSpc>
                <a:spcPct val="95000"/>
              </a:lnSpc>
            </a:pPr>
            <a:endParaRPr lang="fr-FR" sz="1450"/>
          </a:p>
          <a:p>
            <a:pPr>
              <a:lnSpc>
                <a:spcPct val="95000"/>
              </a:lnSpc>
            </a:pPr>
            <a:r>
              <a:rPr lang="fr-FR" sz="1450"/>
              <a:t>You </a:t>
            </a:r>
            <a:r>
              <a:rPr lang="fr-FR" sz="1450" err="1"/>
              <a:t>think</a:t>
            </a:r>
            <a:r>
              <a:rPr lang="fr-FR" sz="1450"/>
              <a:t>: "I </a:t>
            </a:r>
            <a:r>
              <a:rPr lang="fr-FR" sz="1450" err="1"/>
              <a:t>almost</a:t>
            </a:r>
            <a:r>
              <a:rPr lang="fr-FR" sz="1450"/>
              <a:t> </a:t>
            </a:r>
            <a:r>
              <a:rPr lang="fr-FR" sz="1450" err="1"/>
              <a:t>had</a:t>
            </a:r>
            <a:r>
              <a:rPr lang="fr-FR" sz="1450"/>
              <a:t> </a:t>
            </a:r>
            <a:r>
              <a:rPr lang="fr-FR" sz="1450" err="1"/>
              <a:t>it!</a:t>
            </a:r>
            <a:r>
              <a:rPr lang="fr-FR" sz="1450"/>
              <a:t> Let me </a:t>
            </a:r>
            <a:r>
              <a:rPr lang="fr-FR" sz="1450" err="1"/>
              <a:t>adjust</a:t>
            </a:r>
            <a:r>
              <a:rPr lang="fr-FR" sz="1450"/>
              <a:t> </a:t>
            </a:r>
            <a:r>
              <a:rPr lang="fr-FR" sz="1450" err="1"/>
              <a:t>my</a:t>
            </a:r>
            <a:r>
              <a:rPr lang="fr-FR" sz="1450"/>
              <a:t> </a:t>
            </a:r>
            <a:r>
              <a:rPr lang="fr-FR" sz="1450" err="1"/>
              <a:t>form</a:t>
            </a:r>
            <a:r>
              <a:rPr lang="fr-FR" sz="1450"/>
              <a:t>."</a:t>
            </a:r>
            <a:endParaRPr lang="en-US" sz="145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CA762AF-99E7-A4F0-4F65-2C975E97141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Imagine two scenarios</a:t>
            </a:r>
          </a:p>
        </p:txBody>
      </p:sp>
    </p:spTree>
    <p:extLst>
      <p:ext uri="{BB962C8B-B14F-4D97-AF65-F5344CB8AC3E}">
        <p14:creationId xmlns:p14="http://schemas.microsoft.com/office/powerpoint/2010/main" val="3907776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400"/>
                                        <p:tgtEl>
                                          <p:spTgt spid="17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400"/>
                                        <p:tgtEl>
                                          <p:spTgt spid="17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"/>
                            </p:stCondLst>
                            <p:childTnLst>
                              <p:par>
                                <p:cTn id="2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8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400"/>
                                        <p:tgtEl>
                                          <p:spTgt spid="17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7" grpId="0" uiExpand="1">
        <p:bldSub>
          <a:bldChart bld="category"/>
        </p:bldSub>
      </p:bldGraphic>
      <p:bldP spid="23" grpId="0" animBg="1"/>
      <p:bldP spid="18" grpId="0"/>
      <p:bldP spid="20" grpId="0"/>
      <p:bldP spid="22" grpId="0" animBg="1"/>
      <p:bldP spid="13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near-miss phenomenon</a:t>
            </a:r>
          </a:p>
          <a:p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3799934" y="1988840"/>
            <a:ext cx="2580253" cy="2580251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solidFill>
              <a:schemeClr val="accent1">
                <a:alpha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tx1"/>
              </a:solidFill>
            </a:endParaRPr>
          </a:p>
        </p:txBody>
      </p:sp>
      <p:sp>
        <p:nvSpPr>
          <p:cNvPr id="4" name="Oval 3"/>
          <p:cNvSpPr/>
          <p:nvPr/>
        </p:nvSpPr>
        <p:spPr>
          <a:xfrm>
            <a:off x="5638358" y="1988840"/>
            <a:ext cx="2580253" cy="2580251"/>
          </a:xfrm>
          <a:prstGeom prst="ellipse">
            <a:avLst/>
          </a:prstGeom>
          <a:solidFill>
            <a:schemeClr val="accent5">
              <a:alpha val="85000"/>
            </a:schemeClr>
          </a:solidFill>
          <a:ln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983765" y="2276181"/>
            <a:ext cx="1980312" cy="40415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2100">
                <a:solidFill>
                  <a:srgbClr val="FFFFFF"/>
                </a:solidFill>
              </a:rPr>
              <a:t>Theory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165613" y="2276181"/>
            <a:ext cx="1994616" cy="40415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2100">
                <a:solidFill>
                  <a:srgbClr val="FFFFFF"/>
                </a:solidFill>
              </a:rPr>
              <a:t>Practice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9651" y="2432964"/>
            <a:ext cx="3048000" cy="1692002"/>
          </a:xfrm>
          <a:prstGeom prst="rect">
            <a:avLst/>
          </a:prstGeom>
        </p:spPr>
        <p:txBody>
          <a:bodyPr wrap="square" lIns="91440" tIns="45720" rIns="91440" bIns="45720" anchor="ctr" anchorCtr="0">
            <a:spAutoFit/>
          </a:bodyPr>
          <a:lstStyle/>
          <a:p>
            <a:pPr algn="r">
              <a:lnSpc>
                <a:spcPct val="95000"/>
              </a:lnSpc>
            </a:pPr>
            <a:r>
              <a:rPr lang="en-US" sz="2100"/>
              <a:t>Theoretical relevance</a:t>
            </a:r>
            <a:endParaRPr lang="en-US"/>
          </a:p>
          <a:p>
            <a:pPr marL="285750" indent="-285750" algn="r">
              <a:buFont typeface="Arial"/>
              <a:buChar char="•"/>
            </a:pPr>
            <a:r>
              <a:rPr lang="fr-FR" sz="1400">
                <a:latin typeface="Arial"/>
                <a:cs typeface="Arial"/>
              </a:rPr>
              <a:t>Learning &amp; </a:t>
            </a:r>
            <a:r>
              <a:rPr lang="fr-FR" sz="1400" err="1">
                <a:latin typeface="Arial"/>
                <a:cs typeface="Arial"/>
              </a:rPr>
              <a:t>education</a:t>
            </a:r>
            <a:r>
              <a:rPr lang="fr-FR" sz="1400">
                <a:latin typeface="Arial"/>
                <a:cs typeface="Arial"/>
              </a:rPr>
              <a:t>: How </a:t>
            </a:r>
            <a:r>
              <a:rPr lang="fr-FR" sz="1400" err="1">
                <a:latin typeface="Arial"/>
                <a:cs typeface="Arial"/>
              </a:rPr>
              <a:t>should</a:t>
            </a:r>
            <a:r>
              <a:rPr lang="fr-FR" sz="1400">
                <a:latin typeface="Arial"/>
                <a:cs typeface="Arial"/>
              </a:rPr>
              <a:t> </a:t>
            </a:r>
            <a:r>
              <a:rPr lang="fr-FR" sz="1400" err="1">
                <a:latin typeface="Arial"/>
                <a:cs typeface="Arial"/>
              </a:rPr>
              <a:t>we</a:t>
            </a:r>
            <a:r>
              <a:rPr lang="fr-FR" sz="1400">
                <a:latin typeface="Arial"/>
                <a:cs typeface="Arial"/>
              </a:rPr>
              <a:t> </a:t>
            </a:r>
            <a:r>
              <a:rPr lang="fr-FR" sz="1400" err="1">
                <a:latin typeface="Arial"/>
                <a:cs typeface="Arial"/>
              </a:rPr>
              <a:t>give</a:t>
            </a:r>
            <a:r>
              <a:rPr lang="fr-FR" sz="1400">
                <a:latin typeface="Arial"/>
                <a:cs typeface="Arial"/>
              </a:rPr>
              <a:t> feedback?</a:t>
            </a:r>
            <a:endParaRPr lang="fr-FR"/>
          </a:p>
          <a:p>
            <a:pPr marL="285750" indent="-285750" algn="r">
              <a:buFont typeface="Arial"/>
              <a:buChar char="•"/>
            </a:pPr>
            <a:r>
              <a:rPr lang="fr-FR" sz="1400">
                <a:latin typeface="Arial"/>
                <a:cs typeface="Arial"/>
              </a:rPr>
              <a:t>Game design: How do </a:t>
            </a:r>
            <a:r>
              <a:rPr lang="fr-FR" sz="1400" err="1">
                <a:latin typeface="Arial"/>
                <a:cs typeface="Arial"/>
              </a:rPr>
              <a:t>games</a:t>
            </a:r>
            <a:r>
              <a:rPr lang="fr-FR" sz="1400">
                <a:latin typeface="Arial"/>
                <a:cs typeface="Arial"/>
              </a:rPr>
              <a:t> </a:t>
            </a:r>
            <a:r>
              <a:rPr lang="fr-FR" sz="1400" err="1">
                <a:latin typeface="Arial"/>
                <a:cs typeface="Arial"/>
              </a:rPr>
              <a:t>keep</a:t>
            </a:r>
            <a:r>
              <a:rPr lang="fr-FR" sz="1400">
                <a:latin typeface="Arial"/>
                <a:cs typeface="Arial"/>
              </a:rPr>
              <a:t> </a:t>
            </a:r>
            <a:r>
              <a:rPr lang="fr-FR" sz="1400" err="1">
                <a:latin typeface="Arial"/>
                <a:cs typeface="Arial"/>
              </a:rPr>
              <a:t>players</a:t>
            </a:r>
            <a:r>
              <a:rPr lang="fr-FR" sz="1400">
                <a:latin typeface="Arial"/>
                <a:cs typeface="Arial"/>
              </a:rPr>
              <a:t> </a:t>
            </a:r>
            <a:r>
              <a:rPr lang="fr-FR" sz="1400" err="1">
                <a:latin typeface="Arial"/>
                <a:cs typeface="Arial"/>
              </a:rPr>
              <a:t>engaged</a:t>
            </a:r>
            <a:r>
              <a:rPr lang="fr-FR" sz="1400">
                <a:latin typeface="Arial"/>
                <a:cs typeface="Arial"/>
              </a:rPr>
              <a:t>?</a:t>
            </a:r>
            <a:endParaRPr lang="en-US"/>
          </a:p>
          <a:p>
            <a:pPr marL="285750" indent="-285750" algn="r">
              <a:buFont typeface="Arial"/>
              <a:buChar char="•"/>
            </a:pPr>
            <a:r>
              <a:rPr lang="fr-FR" sz="1400">
                <a:latin typeface="Arial"/>
                <a:cs typeface="Arial"/>
              </a:rPr>
              <a:t>Training </a:t>
            </a:r>
            <a:r>
              <a:rPr lang="fr-FR" sz="1400" err="1">
                <a:latin typeface="Arial"/>
                <a:cs typeface="Arial"/>
              </a:rPr>
              <a:t>systems</a:t>
            </a:r>
            <a:r>
              <a:rPr lang="fr-FR" sz="1400">
                <a:latin typeface="Arial"/>
                <a:cs typeface="Arial"/>
              </a:rPr>
              <a:t>: </a:t>
            </a:r>
            <a:r>
              <a:rPr lang="fr-FR" sz="1400" err="1">
                <a:latin typeface="Arial"/>
                <a:cs typeface="Arial"/>
              </a:rPr>
              <a:t>When</a:t>
            </a:r>
            <a:r>
              <a:rPr lang="fr-FR" sz="1400">
                <a:latin typeface="Arial"/>
                <a:cs typeface="Arial"/>
              </a:rPr>
              <a:t> do people </a:t>
            </a:r>
            <a:r>
              <a:rPr lang="fr-FR" sz="1400" err="1">
                <a:latin typeface="Arial"/>
                <a:cs typeface="Arial"/>
              </a:rPr>
              <a:t>persist</a:t>
            </a:r>
            <a:r>
              <a:rPr lang="fr-FR" sz="1400">
                <a:latin typeface="Arial"/>
                <a:cs typeface="Arial"/>
              </a:rPr>
              <a:t> vs. </a:t>
            </a:r>
            <a:r>
              <a:rPr lang="fr-FR" sz="1400" err="1">
                <a:latin typeface="Arial"/>
                <a:cs typeface="Arial"/>
              </a:rPr>
              <a:t>quit</a:t>
            </a:r>
            <a:r>
              <a:rPr lang="fr-FR" sz="1400">
                <a:latin typeface="Arial"/>
                <a:cs typeface="Arial"/>
              </a:rPr>
              <a:t>?</a:t>
            </a: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541993" y="2432964"/>
            <a:ext cx="3048000" cy="1692002"/>
          </a:xfrm>
          <a:prstGeom prst="rect">
            <a:avLst/>
          </a:prstGeom>
        </p:spPr>
        <p:txBody>
          <a:bodyPr wrap="square" lIns="91440" tIns="45720" rIns="91440" bIns="45720" anchor="ctr" anchorCtr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100"/>
              <a:t>Practical relevance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Arial"/>
                <a:cs typeface="Arial"/>
              </a:rPr>
              <a:t>Tests conditional reinforcement theory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Arial"/>
                <a:cs typeface="Arial"/>
              </a:rPr>
              <a:t>Extends near-miss research beyond gambling</a:t>
            </a:r>
            <a:endParaRPr lang="en-US">
              <a:latin typeface="Aptos" panose="020B0004020202020204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Arial"/>
                <a:cs typeface="Arial"/>
              </a:rPr>
              <a:t>Examines rationality of persistence decisions</a:t>
            </a: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426584" y="4938380"/>
            <a:ext cx="3165376" cy="404150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2100">
                <a:solidFill>
                  <a:schemeClr val="bg1"/>
                </a:solidFill>
              </a:rPr>
              <a:t>Relevance</a:t>
            </a:r>
            <a:endParaRPr lang="en-US" sz="2133">
              <a:solidFill>
                <a:schemeClr val="bg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5879030" y="3182955"/>
            <a:ext cx="192021" cy="192021"/>
          </a:xfrm>
          <a:prstGeom prst="ellipse">
            <a:avLst/>
          </a:prstGeom>
          <a:solidFill>
            <a:schemeClr val="tx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cxnSp>
        <p:nvCxnSpPr>
          <p:cNvPr id="14" name="Straight Connector 13"/>
          <p:cNvCxnSpPr>
            <a:stCxn id="13" idx="4"/>
            <a:endCxn id="12" idx="0"/>
          </p:cNvCxnSpPr>
          <p:nvPr/>
        </p:nvCxnSpPr>
        <p:spPr>
          <a:xfrm>
            <a:off x="5975041" y="3374976"/>
            <a:ext cx="34231" cy="1563404"/>
          </a:xfrm>
          <a:prstGeom prst="line">
            <a:avLst/>
          </a:prstGeom>
          <a:ln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/>
          <p:cNvGrpSpPr/>
          <p:nvPr/>
        </p:nvGrpSpPr>
        <p:grpSpPr>
          <a:xfrm>
            <a:off x="6700141" y="2861052"/>
            <a:ext cx="1042097" cy="872985"/>
            <a:chOff x="119063" y="2792413"/>
            <a:chExt cx="361950" cy="303213"/>
          </a:xfrm>
        </p:grpSpPr>
        <p:sp>
          <p:nvSpPr>
            <p:cNvPr id="32" name="Freeform 31"/>
            <p:cNvSpPr>
              <a:spLocks noEditPoints="1"/>
            </p:cNvSpPr>
            <p:nvPr/>
          </p:nvSpPr>
          <p:spPr bwMode="auto">
            <a:xfrm>
              <a:off x="119063" y="2792413"/>
              <a:ext cx="361950" cy="303213"/>
            </a:xfrm>
            <a:custGeom>
              <a:avLst/>
              <a:gdLst>
                <a:gd name="T0" fmla="*/ 212 w 214"/>
                <a:gd name="T1" fmla="*/ 51 h 179"/>
                <a:gd name="T2" fmla="*/ 162 w 214"/>
                <a:gd name="T3" fmla="*/ 38 h 179"/>
                <a:gd name="T4" fmla="*/ 163 w 214"/>
                <a:gd name="T5" fmla="*/ 30 h 179"/>
                <a:gd name="T6" fmla="*/ 133 w 214"/>
                <a:gd name="T7" fmla="*/ 0 h 179"/>
                <a:gd name="T8" fmla="*/ 103 w 214"/>
                <a:gd name="T9" fmla="*/ 30 h 179"/>
                <a:gd name="T10" fmla="*/ 105 w 214"/>
                <a:gd name="T11" fmla="*/ 42 h 179"/>
                <a:gd name="T12" fmla="*/ 72 w 214"/>
                <a:gd name="T13" fmla="*/ 51 h 179"/>
                <a:gd name="T14" fmla="*/ 3 w 214"/>
                <a:gd name="T15" fmla="*/ 33 h 179"/>
                <a:gd name="T16" fmla="*/ 1 w 214"/>
                <a:gd name="T17" fmla="*/ 33 h 179"/>
                <a:gd name="T18" fmla="*/ 0 w 214"/>
                <a:gd name="T19" fmla="*/ 35 h 179"/>
                <a:gd name="T20" fmla="*/ 0 w 214"/>
                <a:gd name="T21" fmla="*/ 159 h 179"/>
                <a:gd name="T22" fmla="*/ 2 w 214"/>
                <a:gd name="T23" fmla="*/ 161 h 179"/>
                <a:gd name="T24" fmla="*/ 72 w 214"/>
                <a:gd name="T25" fmla="*/ 179 h 179"/>
                <a:gd name="T26" fmla="*/ 72 w 214"/>
                <a:gd name="T27" fmla="*/ 179 h 179"/>
                <a:gd name="T28" fmla="*/ 72 w 214"/>
                <a:gd name="T29" fmla="*/ 179 h 179"/>
                <a:gd name="T30" fmla="*/ 72 w 214"/>
                <a:gd name="T31" fmla="*/ 179 h 179"/>
                <a:gd name="T32" fmla="*/ 73 w 214"/>
                <a:gd name="T33" fmla="*/ 179 h 179"/>
                <a:gd name="T34" fmla="*/ 142 w 214"/>
                <a:gd name="T35" fmla="*/ 161 h 179"/>
                <a:gd name="T36" fmla="*/ 211 w 214"/>
                <a:gd name="T37" fmla="*/ 179 h 179"/>
                <a:gd name="T38" fmla="*/ 212 w 214"/>
                <a:gd name="T39" fmla="*/ 179 h 179"/>
                <a:gd name="T40" fmla="*/ 213 w 214"/>
                <a:gd name="T41" fmla="*/ 178 h 179"/>
                <a:gd name="T42" fmla="*/ 214 w 214"/>
                <a:gd name="T43" fmla="*/ 176 h 179"/>
                <a:gd name="T44" fmla="*/ 214 w 214"/>
                <a:gd name="T45" fmla="*/ 53 h 179"/>
                <a:gd name="T46" fmla="*/ 212 w 214"/>
                <a:gd name="T47" fmla="*/ 51 h 179"/>
                <a:gd name="T48" fmla="*/ 133 w 214"/>
                <a:gd name="T49" fmla="*/ 5 h 179"/>
                <a:gd name="T50" fmla="*/ 159 w 214"/>
                <a:gd name="T51" fmla="*/ 30 h 179"/>
                <a:gd name="T52" fmla="*/ 157 w 214"/>
                <a:gd name="T53" fmla="*/ 39 h 179"/>
                <a:gd name="T54" fmla="*/ 157 w 214"/>
                <a:gd name="T55" fmla="*/ 39 h 179"/>
                <a:gd name="T56" fmla="*/ 157 w 214"/>
                <a:gd name="T57" fmla="*/ 39 h 179"/>
                <a:gd name="T58" fmla="*/ 133 w 214"/>
                <a:gd name="T59" fmla="*/ 75 h 179"/>
                <a:gd name="T60" fmla="*/ 108 w 214"/>
                <a:gd name="T61" fmla="*/ 30 h 179"/>
                <a:gd name="T62" fmla="*/ 133 w 214"/>
                <a:gd name="T63" fmla="*/ 5 h 179"/>
                <a:gd name="T64" fmla="*/ 5 w 214"/>
                <a:gd name="T65" fmla="*/ 38 h 179"/>
                <a:gd name="T66" fmla="*/ 70 w 214"/>
                <a:gd name="T67" fmla="*/ 55 h 179"/>
                <a:gd name="T68" fmla="*/ 70 w 214"/>
                <a:gd name="T69" fmla="*/ 173 h 179"/>
                <a:gd name="T70" fmla="*/ 5 w 214"/>
                <a:gd name="T71" fmla="*/ 157 h 179"/>
                <a:gd name="T72" fmla="*/ 5 w 214"/>
                <a:gd name="T73" fmla="*/ 38 h 179"/>
                <a:gd name="T74" fmla="*/ 75 w 214"/>
                <a:gd name="T75" fmla="*/ 55 h 179"/>
                <a:gd name="T76" fmla="*/ 107 w 214"/>
                <a:gd name="T77" fmla="*/ 47 h 179"/>
                <a:gd name="T78" fmla="*/ 133 w 214"/>
                <a:gd name="T79" fmla="*/ 79 h 179"/>
                <a:gd name="T80" fmla="*/ 140 w 214"/>
                <a:gd name="T81" fmla="*/ 77 h 179"/>
                <a:gd name="T82" fmla="*/ 140 w 214"/>
                <a:gd name="T83" fmla="*/ 157 h 179"/>
                <a:gd name="T84" fmla="*/ 75 w 214"/>
                <a:gd name="T85" fmla="*/ 173 h 179"/>
                <a:gd name="T86" fmla="*/ 75 w 214"/>
                <a:gd name="T87" fmla="*/ 55 h 179"/>
                <a:gd name="T88" fmla="*/ 209 w 214"/>
                <a:gd name="T89" fmla="*/ 173 h 179"/>
                <a:gd name="T90" fmla="*/ 144 w 214"/>
                <a:gd name="T91" fmla="*/ 157 h 179"/>
                <a:gd name="T92" fmla="*/ 144 w 214"/>
                <a:gd name="T93" fmla="*/ 73 h 179"/>
                <a:gd name="T94" fmla="*/ 161 w 214"/>
                <a:gd name="T95" fmla="*/ 43 h 179"/>
                <a:gd name="T96" fmla="*/ 209 w 214"/>
                <a:gd name="T97" fmla="*/ 55 h 179"/>
                <a:gd name="T98" fmla="*/ 209 w 214"/>
                <a:gd name="T99" fmla="*/ 173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14" h="179">
                  <a:moveTo>
                    <a:pt x="212" y="51"/>
                  </a:moveTo>
                  <a:cubicBezTo>
                    <a:pt x="162" y="38"/>
                    <a:pt x="162" y="38"/>
                    <a:pt x="162" y="38"/>
                  </a:cubicBezTo>
                  <a:cubicBezTo>
                    <a:pt x="163" y="35"/>
                    <a:pt x="163" y="33"/>
                    <a:pt x="163" y="30"/>
                  </a:cubicBezTo>
                  <a:cubicBezTo>
                    <a:pt x="163" y="14"/>
                    <a:pt x="150" y="0"/>
                    <a:pt x="133" y="0"/>
                  </a:cubicBezTo>
                  <a:cubicBezTo>
                    <a:pt x="117" y="0"/>
                    <a:pt x="103" y="14"/>
                    <a:pt x="103" y="30"/>
                  </a:cubicBezTo>
                  <a:cubicBezTo>
                    <a:pt x="103" y="34"/>
                    <a:pt x="104" y="38"/>
                    <a:pt x="105" y="42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2" y="33"/>
                    <a:pt x="2" y="33"/>
                    <a:pt x="1" y="33"/>
                  </a:cubicBezTo>
                  <a:cubicBezTo>
                    <a:pt x="0" y="34"/>
                    <a:pt x="0" y="35"/>
                    <a:pt x="0" y="35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0" y="160"/>
                    <a:pt x="1" y="161"/>
                    <a:pt x="2" y="161"/>
                  </a:cubicBezTo>
                  <a:cubicBezTo>
                    <a:pt x="72" y="179"/>
                    <a:pt x="72" y="179"/>
                    <a:pt x="72" y="179"/>
                  </a:cubicBezTo>
                  <a:cubicBezTo>
                    <a:pt x="72" y="179"/>
                    <a:pt x="72" y="179"/>
                    <a:pt x="72" y="179"/>
                  </a:cubicBezTo>
                  <a:cubicBezTo>
                    <a:pt x="72" y="179"/>
                    <a:pt x="72" y="179"/>
                    <a:pt x="72" y="179"/>
                  </a:cubicBezTo>
                  <a:cubicBezTo>
                    <a:pt x="72" y="179"/>
                    <a:pt x="72" y="179"/>
                    <a:pt x="72" y="179"/>
                  </a:cubicBezTo>
                  <a:cubicBezTo>
                    <a:pt x="72" y="179"/>
                    <a:pt x="73" y="179"/>
                    <a:pt x="73" y="179"/>
                  </a:cubicBezTo>
                  <a:cubicBezTo>
                    <a:pt x="142" y="161"/>
                    <a:pt x="142" y="161"/>
                    <a:pt x="142" y="161"/>
                  </a:cubicBezTo>
                  <a:cubicBezTo>
                    <a:pt x="211" y="179"/>
                    <a:pt x="211" y="179"/>
                    <a:pt x="211" y="179"/>
                  </a:cubicBezTo>
                  <a:cubicBezTo>
                    <a:pt x="211" y="179"/>
                    <a:pt x="211" y="179"/>
                    <a:pt x="212" y="179"/>
                  </a:cubicBezTo>
                  <a:cubicBezTo>
                    <a:pt x="212" y="179"/>
                    <a:pt x="213" y="179"/>
                    <a:pt x="213" y="178"/>
                  </a:cubicBezTo>
                  <a:cubicBezTo>
                    <a:pt x="214" y="178"/>
                    <a:pt x="214" y="177"/>
                    <a:pt x="214" y="176"/>
                  </a:cubicBezTo>
                  <a:cubicBezTo>
                    <a:pt x="214" y="53"/>
                    <a:pt x="214" y="53"/>
                    <a:pt x="214" y="53"/>
                  </a:cubicBezTo>
                  <a:cubicBezTo>
                    <a:pt x="214" y="52"/>
                    <a:pt x="213" y="51"/>
                    <a:pt x="212" y="51"/>
                  </a:cubicBezTo>
                  <a:close/>
                  <a:moveTo>
                    <a:pt x="133" y="5"/>
                  </a:moveTo>
                  <a:cubicBezTo>
                    <a:pt x="147" y="5"/>
                    <a:pt x="159" y="16"/>
                    <a:pt x="159" y="30"/>
                  </a:cubicBezTo>
                  <a:cubicBezTo>
                    <a:pt x="159" y="33"/>
                    <a:pt x="158" y="36"/>
                    <a:pt x="157" y="39"/>
                  </a:cubicBezTo>
                  <a:cubicBezTo>
                    <a:pt x="157" y="39"/>
                    <a:pt x="157" y="39"/>
                    <a:pt x="157" y="39"/>
                  </a:cubicBezTo>
                  <a:cubicBezTo>
                    <a:pt x="157" y="39"/>
                    <a:pt x="157" y="39"/>
                    <a:pt x="157" y="39"/>
                  </a:cubicBezTo>
                  <a:cubicBezTo>
                    <a:pt x="153" y="55"/>
                    <a:pt x="140" y="75"/>
                    <a:pt x="133" y="75"/>
                  </a:cubicBezTo>
                  <a:cubicBezTo>
                    <a:pt x="125" y="75"/>
                    <a:pt x="108" y="45"/>
                    <a:pt x="108" y="30"/>
                  </a:cubicBezTo>
                  <a:cubicBezTo>
                    <a:pt x="108" y="16"/>
                    <a:pt x="119" y="5"/>
                    <a:pt x="133" y="5"/>
                  </a:cubicBezTo>
                  <a:close/>
                  <a:moveTo>
                    <a:pt x="5" y="38"/>
                  </a:moveTo>
                  <a:cubicBezTo>
                    <a:pt x="70" y="55"/>
                    <a:pt x="70" y="55"/>
                    <a:pt x="70" y="55"/>
                  </a:cubicBezTo>
                  <a:cubicBezTo>
                    <a:pt x="70" y="173"/>
                    <a:pt x="70" y="173"/>
                    <a:pt x="70" y="173"/>
                  </a:cubicBezTo>
                  <a:cubicBezTo>
                    <a:pt x="5" y="157"/>
                    <a:pt x="5" y="157"/>
                    <a:pt x="5" y="157"/>
                  </a:cubicBezTo>
                  <a:lnTo>
                    <a:pt x="5" y="38"/>
                  </a:lnTo>
                  <a:close/>
                  <a:moveTo>
                    <a:pt x="75" y="55"/>
                  </a:moveTo>
                  <a:cubicBezTo>
                    <a:pt x="107" y="47"/>
                    <a:pt x="107" y="47"/>
                    <a:pt x="107" y="47"/>
                  </a:cubicBezTo>
                  <a:cubicBezTo>
                    <a:pt x="112" y="62"/>
                    <a:pt x="124" y="79"/>
                    <a:pt x="133" y="79"/>
                  </a:cubicBezTo>
                  <a:cubicBezTo>
                    <a:pt x="135" y="79"/>
                    <a:pt x="137" y="79"/>
                    <a:pt x="140" y="77"/>
                  </a:cubicBezTo>
                  <a:cubicBezTo>
                    <a:pt x="140" y="157"/>
                    <a:pt x="140" y="157"/>
                    <a:pt x="140" y="157"/>
                  </a:cubicBezTo>
                  <a:cubicBezTo>
                    <a:pt x="75" y="173"/>
                    <a:pt x="75" y="173"/>
                    <a:pt x="75" y="173"/>
                  </a:cubicBezTo>
                  <a:lnTo>
                    <a:pt x="75" y="55"/>
                  </a:lnTo>
                  <a:close/>
                  <a:moveTo>
                    <a:pt x="209" y="173"/>
                  </a:moveTo>
                  <a:cubicBezTo>
                    <a:pt x="144" y="157"/>
                    <a:pt x="144" y="157"/>
                    <a:pt x="144" y="157"/>
                  </a:cubicBezTo>
                  <a:cubicBezTo>
                    <a:pt x="144" y="73"/>
                    <a:pt x="144" y="73"/>
                    <a:pt x="144" y="73"/>
                  </a:cubicBezTo>
                  <a:cubicBezTo>
                    <a:pt x="151" y="66"/>
                    <a:pt x="158" y="53"/>
                    <a:pt x="161" y="43"/>
                  </a:cubicBezTo>
                  <a:cubicBezTo>
                    <a:pt x="209" y="55"/>
                    <a:pt x="209" y="55"/>
                    <a:pt x="209" y="55"/>
                  </a:cubicBezTo>
                  <a:lnTo>
                    <a:pt x="209" y="17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/>
            </a:p>
          </p:txBody>
        </p:sp>
        <p:sp>
          <p:nvSpPr>
            <p:cNvPr id="33" name="Freeform 32"/>
            <p:cNvSpPr>
              <a:spLocks noEditPoints="1"/>
            </p:cNvSpPr>
            <p:nvPr/>
          </p:nvSpPr>
          <p:spPr bwMode="auto">
            <a:xfrm>
              <a:off x="317500" y="2817813"/>
              <a:ext cx="53975" cy="52388"/>
            </a:xfrm>
            <a:custGeom>
              <a:avLst/>
              <a:gdLst>
                <a:gd name="T0" fmla="*/ 32 w 32"/>
                <a:gd name="T1" fmla="*/ 15 h 31"/>
                <a:gd name="T2" fmla="*/ 16 w 32"/>
                <a:gd name="T3" fmla="*/ 0 h 31"/>
                <a:gd name="T4" fmla="*/ 0 w 32"/>
                <a:gd name="T5" fmla="*/ 15 h 31"/>
                <a:gd name="T6" fmla="*/ 16 w 32"/>
                <a:gd name="T7" fmla="*/ 31 h 31"/>
                <a:gd name="T8" fmla="*/ 32 w 32"/>
                <a:gd name="T9" fmla="*/ 15 h 31"/>
                <a:gd name="T10" fmla="*/ 5 w 32"/>
                <a:gd name="T11" fmla="*/ 15 h 31"/>
                <a:gd name="T12" fmla="*/ 16 w 32"/>
                <a:gd name="T13" fmla="*/ 4 h 31"/>
                <a:gd name="T14" fmla="*/ 27 w 32"/>
                <a:gd name="T15" fmla="*/ 15 h 31"/>
                <a:gd name="T16" fmla="*/ 16 w 32"/>
                <a:gd name="T17" fmla="*/ 27 h 31"/>
                <a:gd name="T18" fmla="*/ 5 w 32"/>
                <a:gd name="T1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" h="31">
                  <a:moveTo>
                    <a:pt x="32" y="15"/>
                  </a:moveTo>
                  <a:cubicBezTo>
                    <a:pt x="32" y="7"/>
                    <a:pt x="25" y="0"/>
                    <a:pt x="16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24"/>
                    <a:pt x="7" y="31"/>
                    <a:pt x="16" y="31"/>
                  </a:cubicBezTo>
                  <a:cubicBezTo>
                    <a:pt x="25" y="31"/>
                    <a:pt x="32" y="24"/>
                    <a:pt x="32" y="15"/>
                  </a:cubicBezTo>
                  <a:close/>
                  <a:moveTo>
                    <a:pt x="5" y="15"/>
                  </a:moveTo>
                  <a:cubicBezTo>
                    <a:pt x="5" y="9"/>
                    <a:pt x="10" y="4"/>
                    <a:pt x="16" y="4"/>
                  </a:cubicBezTo>
                  <a:cubicBezTo>
                    <a:pt x="22" y="4"/>
                    <a:pt x="27" y="9"/>
                    <a:pt x="27" y="15"/>
                  </a:cubicBezTo>
                  <a:cubicBezTo>
                    <a:pt x="27" y="22"/>
                    <a:pt x="22" y="27"/>
                    <a:pt x="16" y="27"/>
                  </a:cubicBezTo>
                  <a:cubicBezTo>
                    <a:pt x="10" y="27"/>
                    <a:pt x="5" y="22"/>
                    <a:pt x="5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4664224" y="2799891"/>
            <a:ext cx="654019" cy="1064773"/>
            <a:chOff x="2832100" y="2760663"/>
            <a:chExt cx="260350" cy="423863"/>
          </a:xfrm>
        </p:grpSpPr>
        <p:sp>
          <p:nvSpPr>
            <p:cNvPr id="37" name="Freeform 36"/>
            <p:cNvSpPr>
              <a:spLocks noEditPoints="1"/>
            </p:cNvSpPr>
            <p:nvPr/>
          </p:nvSpPr>
          <p:spPr bwMode="auto">
            <a:xfrm>
              <a:off x="2898775" y="3095625"/>
              <a:ext cx="123825" cy="38100"/>
            </a:xfrm>
            <a:custGeom>
              <a:avLst/>
              <a:gdLst>
                <a:gd name="T0" fmla="*/ 62 w 73"/>
                <a:gd name="T1" fmla="*/ 22 h 22"/>
                <a:gd name="T2" fmla="*/ 12 w 73"/>
                <a:gd name="T3" fmla="*/ 22 h 22"/>
                <a:gd name="T4" fmla="*/ 0 w 73"/>
                <a:gd name="T5" fmla="*/ 11 h 22"/>
                <a:gd name="T6" fmla="*/ 12 w 73"/>
                <a:gd name="T7" fmla="*/ 0 h 22"/>
                <a:gd name="T8" fmla="*/ 62 w 73"/>
                <a:gd name="T9" fmla="*/ 0 h 22"/>
                <a:gd name="T10" fmla="*/ 73 w 73"/>
                <a:gd name="T11" fmla="*/ 11 h 22"/>
                <a:gd name="T12" fmla="*/ 62 w 73"/>
                <a:gd name="T13" fmla="*/ 22 h 22"/>
                <a:gd name="T14" fmla="*/ 12 w 73"/>
                <a:gd name="T15" fmla="*/ 5 h 22"/>
                <a:gd name="T16" fmla="*/ 5 w 73"/>
                <a:gd name="T17" fmla="*/ 11 h 22"/>
                <a:gd name="T18" fmla="*/ 12 w 73"/>
                <a:gd name="T19" fmla="*/ 18 h 22"/>
                <a:gd name="T20" fmla="*/ 62 w 73"/>
                <a:gd name="T21" fmla="*/ 18 h 22"/>
                <a:gd name="T22" fmla="*/ 69 w 73"/>
                <a:gd name="T23" fmla="*/ 11 h 22"/>
                <a:gd name="T24" fmla="*/ 62 w 73"/>
                <a:gd name="T25" fmla="*/ 5 h 22"/>
                <a:gd name="T26" fmla="*/ 12 w 73"/>
                <a:gd name="T27" fmla="*/ 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3" h="22">
                  <a:moveTo>
                    <a:pt x="62" y="22"/>
                  </a:moveTo>
                  <a:cubicBezTo>
                    <a:pt x="12" y="22"/>
                    <a:pt x="12" y="22"/>
                    <a:pt x="12" y="22"/>
                  </a:cubicBezTo>
                  <a:cubicBezTo>
                    <a:pt x="6" y="22"/>
                    <a:pt x="0" y="17"/>
                    <a:pt x="0" y="11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8" y="0"/>
                    <a:pt x="73" y="5"/>
                    <a:pt x="73" y="11"/>
                  </a:cubicBezTo>
                  <a:cubicBezTo>
                    <a:pt x="73" y="17"/>
                    <a:pt x="68" y="22"/>
                    <a:pt x="62" y="22"/>
                  </a:cubicBezTo>
                  <a:close/>
                  <a:moveTo>
                    <a:pt x="12" y="5"/>
                  </a:moveTo>
                  <a:cubicBezTo>
                    <a:pt x="8" y="5"/>
                    <a:pt x="5" y="7"/>
                    <a:pt x="5" y="11"/>
                  </a:cubicBezTo>
                  <a:cubicBezTo>
                    <a:pt x="5" y="15"/>
                    <a:pt x="8" y="18"/>
                    <a:pt x="12" y="18"/>
                  </a:cubicBezTo>
                  <a:cubicBezTo>
                    <a:pt x="62" y="18"/>
                    <a:pt x="62" y="18"/>
                    <a:pt x="62" y="18"/>
                  </a:cubicBezTo>
                  <a:cubicBezTo>
                    <a:pt x="66" y="18"/>
                    <a:pt x="69" y="15"/>
                    <a:pt x="69" y="11"/>
                  </a:cubicBezTo>
                  <a:cubicBezTo>
                    <a:pt x="69" y="7"/>
                    <a:pt x="66" y="5"/>
                    <a:pt x="62" y="5"/>
                  </a:cubicBezTo>
                  <a:lnTo>
                    <a:pt x="12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/>
            </a:p>
          </p:txBody>
        </p:sp>
        <p:sp>
          <p:nvSpPr>
            <p:cNvPr id="38" name="Freeform 37"/>
            <p:cNvSpPr>
              <a:spLocks noEditPoints="1"/>
            </p:cNvSpPr>
            <p:nvPr/>
          </p:nvSpPr>
          <p:spPr bwMode="auto">
            <a:xfrm>
              <a:off x="2898775" y="3127375"/>
              <a:ext cx="123825" cy="36513"/>
            </a:xfrm>
            <a:custGeom>
              <a:avLst/>
              <a:gdLst>
                <a:gd name="T0" fmla="*/ 62 w 73"/>
                <a:gd name="T1" fmla="*/ 22 h 22"/>
                <a:gd name="T2" fmla="*/ 12 w 73"/>
                <a:gd name="T3" fmla="*/ 22 h 22"/>
                <a:gd name="T4" fmla="*/ 0 w 73"/>
                <a:gd name="T5" fmla="*/ 11 h 22"/>
                <a:gd name="T6" fmla="*/ 12 w 73"/>
                <a:gd name="T7" fmla="*/ 0 h 22"/>
                <a:gd name="T8" fmla="*/ 62 w 73"/>
                <a:gd name="T9" fmla="*/ 0 h 22"/>
                <a:gd name="T10" fmla="*/ 73 w 73"/>
                <a:gd name="T11" fmla="*/ 11 h 22"/>
                <a:gd name="T12" fmla="*/ 62 w 73"/>
                <a:gd name="T13" fmla="*/ 22 h 22"/>
                <a:gd name="T14" fmla="*/ 12 w 73"/>
                <a:gd name="T15" fmla="*/ 4 h 22"/>
                <a:gd name="T16" fmla="*/ 5 w 73"/>
                <a:gd name="T17" fmla="*/ 11 h 22"/>
                <a:gd name="T18" fmla="*/ 12 w 73"/>
                <a:gd name="T19" fmla="*/ 18 h 22"/>
                <a:gd name="T20" fmla="*/ 62 w 73"/>
                <a:gd name="T21" fmla="*/ 18 h 22"/>
                <a:gd name="T22" fmla="*/ 69 w 73"/>
                <a:gd name="T23" fmla="*/ 11 h 22"/>
                <a:gd name="T24" fmla="*/ 62 w 73"/>
                <a:gd name="T25" fmla="*/ 4 h 22"/>
                <a:gd name="T26" fmla="*/ 12 w 73"/>
                <a:gd name="T27" fmla="*/ 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3" h="22">
                  <a:moveTo>
                    <a:pt x="62" y="22"/>
                  </a:moveTo>
                  <a:cubicBezTo>
                    <a:pt x="12" y="22"/>
                    <a:pt x="12" y="22"/>
                    <a:pt x="12" y="22"/>
                  </a:cubicBezTo>
                  <a:cubicBezTo>
                    <a:pt x="6" y="22"/>
                    <a:pt x="0" y="17"/>
                    <a:pt x="0" y="11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8" y="0"/>
                    <a:pt x="73" y="5"/>
                    <a:pt x="73" y="11"/>
                  </a:cubicBezTo>
                  <a:cubicBezTo>
                    <a:pt x="73" y="17"/>
                    <a:pt x="68" y="22"/>
                    <a:pt x="62" y="22"/>
                  </a:cubicBezTo>
                  <a:close/>
                  <a:moveTo>
                    <a:pt x="12" y="4"/>
                  </a:moveTo>
                  <a:cubicBezTo>
                    <a:pt x="8" y="4"/>
                    <a:pt x="5" y="7"/>
                    <a:pt x="5" y="11"/>
                  </a:cubicBezTo>
                  <a:cubicBezTo>
                    <a:pt x="5" y="15"/>
                    <a:pt x="8" y="18"/>
                    <a:pt x="12" y="18"/>
                  </a:cubicBezTo>
                  <a:cubicBezTo>
                    <a:pt x="62" y="18"/>
                    <a:pt x="62" y="18"/>
                    <a:pt x="62" y="18"/>
                  </a:cubicBezTo>
                  <a:cubicBezTo>
                    <a:pt x="66" y="18"/>
                    <a:pt x="69" y="15"/>
                    <a:pt x="69" y="11"/>
                  </a:cubicBezTo>
                  <a:cubicBezTo>
                    <a:pt x="69" y="7"/>
                    <a:pt x="66" y="4"/>
                    <a:pt x="62" y="4"/>
                  </a:cubicBez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/>
            </a:p>
          </p:txBody>
        </p:sp>
        <p:sp>
          <p:nvSpPr>
            <p:cNvPr id="39" name="Freeform 38"/>
            <p:cNvSpPr>
              <a:spLocks/>
            </p:cNvSpPr>
            <p:nvPr/>
          </p:nvSpPr>
          <p:spPr bwMode="auto">
            <a:xfrm>
              <a:off x="2921000" y="3157538"/>
              <a:ext cx="80963" cy="26988"/>
            </a:xfrm>
            <a:custGeom>
              <a:avLst/>
              <a:gdLst>
                <a:gd name="T0" fmla="*/ 24 w 48"/>
                <a:gd name="T1" fmla="*/ 16 h 16"/>
                <a:gd name="T2" fmla="*/ 0 w 48"/>
                <a:gd name="T3" fmla="*/ 2 h 16"/>
                <a:gd name="T4" fmla="*/ 2 w 48"/>
                <a:gd name="T5" fmla="*/ 0 h 16"/>
                <a:gd name="T6" fmla="*/ 4 w 48"/>
                <a:gd name="T7" fmla="*/ 2 h 16"/>
                <a:gd name="T8" fmla="*/ 24 w 48"/>
                <a:gd name="T9" fmla="*/ 11 h 16"/>
                <a:gd name="T10" fmla="*/ 43 w 48"/>
                <a:gd name="T11" fmla="*/ 2 h 16"/>
                <a:gd name="T12" fmla="*/ 46 w 48"/>
                <a:gd name="T13" fmla="*/ 0 h 16"/>
                <a:gd name="T14" fmla="*/ 48 w 48"/>
                <a:gd name="T15" fmla="*/ 2 h 16"/>
                <a:gd name="T16" fmla="*/ 24 w 48"/>
                <a:gd name="T17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6">
                  <a:moveTo>
                    <a:pt x="24" y="16"/>
                  </a:moveTo>
                  <a:cubicBezTo>
                    <a:pt x="10" y="16"/>
                    <a:pt x="0" y="10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6"/>
                    <a:pt x="12" y="11"/>
                    <a:pt x="24" y="11"/>
                  </a:cubicBezTo>
                  <a:cubicBezTo>
                    <a:pt x="35" y="11"/>
                    <a:pt x="43" y="6"/>
                    <a:pt x="43" y="2"/>
                  </a:cubicBezTo>
                  <a:cubicBezTo>
                    <a:pt x="43" y="1"/>
                    <a:pt x="44" y="0"/>
                    <a:pt x="46" y="0"/>
                  </a:cubicBezTo>
                  <a:cubicBezTo>
                    <a:pt x="47" y="0"/>
                    <a:pt x="48" y="1"/>
                    <a:pt x="48" y="2"/>
                  </a:cubicBezTo>
                  <a:cubicBezTo>
                    <a:pt x="48" y="10"/>
                    <a:pt x="37" y="16"/>
                    <a:pt x="24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/>
            </a:p>
          </p:txBody>
        </p:sp>
        <p:sp>
          <p:nvSpPr>
            <p:cNvPr id="40" name="Freeform 39"/>
            <p:cNvSpPr>
              <a:spLocks noEditPoints="1"/>
            </p:cNvSpPr>
            <p:nvPr/>
          </p:nvSpPr>
          <p:spPr bwMode="auto">
            <a:xfrm>
              <a:off x="2832100" y="2760663"/>
              <a:ext cx="260350" cy="314325"/>
            </a:xfrm>
            <a:custGeom>
              <a:avLst/>
              <a:gdLst>
                <a:gd name="T0" fmla="*/ 101 w 154"/>
                <a:gd name="T1" fmla="*/ 185 h 185"/>
                <a:gd name="T2" fmla="*/ 53 w 154"/>
                <a:gd name="T3" fmla="*/ 185 h 185"/>
                <a:gd name="T4" fmla="*/ 32 w 154"/>
                <a:gd name="T5" fmla="*/ 164 h 185"/>
                <a:gd name="T6" fmla="*/ 32 w 154"/>
                <a:gd name="T7" fmla="*/ 149 h 185"/>
                <a:gd name="T8" fmla="*/ 22 w 154"/>
                <a:gd name="T9" fmla="*/ 130 h 185"/>
                <a:gd name="T10" fmla="*/ 0 w 154"/>
                <a:gd name="T11" fmla="*/ 77 h 185"/>
                <a:gd name="T12" fmla="*/ 77 w 154"/>
                <a:gd name="T13" fmla="*/ 0 h 185"/>
                <a:gd name="T14" fmla="*/ 154 w 154"/>
                <a:gd name="T15" fmla="*/ 77 h 185"/>
                <a:gd name="T16" fmla="*/ 132 w 154"/>
                <a:gd name="T17" fmla="*/ 130 h 185"/>
                <a:gd name="T18" fmla="*/ 122 w 154"/>
                <a:gd name="T19" fmla="*/ 149 h 185"/>
                <a:gd name="T20" fmla="*/ 122 w 154"/>
                <a:gd name="T21" fmla="*/ 164 h 185"/>
                <a:gd name="T22" fmla="*/ 101 w 154"/>
                <a:gd name="T23" fmla="*/ 185 h 185"/>
                <a:gd name="T24" fmla="*/ 77 w 154"/>
                <a:gd name="T25" fmla="*/ 5 h 185"/>
                <a:gd name="T26" fmla="*/ 5 w 154"/>
                <a:gd name="T27" fmla="*/ 77 h 185"/>
                <a:gd name="T28" fmla="*/ 25 w 154"/>
                <a:gd name="T29" fmla="*/ 127 h 185"/>
                <a:gd name="T30" fmla="*/ 36 w 154"/>
                <a:gd name="T31" fmla="*/ 149 h 185"/>
                <a:gd name="T32" fmla="*/ 36 w 154"/>
                <a:gd name="T33" fmla="*/ 164 h 185"/>
                <a:gd name="T34" fmla="*/ 53 w 154"/>
                <a:gd name="T35" fmla="*/ 180 h 185"/>
                <a:gd name="T36" fmla="*/ 101 w 154"/>
                <a:gd name="T37" fmla="*/ 180 h 185"/>
                <a:gd name="T38" fmla="*/ 117 w 154"/>
                <a:gd name="T39" fmla="*/ 164 h 185"/>
                <a:gd name="T40" fmla="*/ 117 w 154"/>
                <a:gd name="T41" fmla="*/ 149 h 185"/>
                <a:gd name="T42" fmla="*/ 129 w 154"/>
                <a:gd name="T43" fmla="*/ 127 h 185"/>
                <a:gd name="T44" fmla="*/ 149 w 154"/>
                <a:gd name="T45" fmla="*/ 77 h 185"/>
                <a:gd name="T46" fmla="*/ 77 w 154"/>
                <a:gd name="T47" fmla="*/ 5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54" h="185">
                  <a:moveTo>
                    <a:pt x="101" y="185"/>
                  </a:moveTo>
                  <a:cubicBezTo>
                    <a:pt x="53" y="185"/>
                    <a:pt x="53" y="185"/>
                    <a:pt x="53" y="185"/>
                  </a:cubicBezTo>
                  <a:cubicBezTo>
                    <a:pt x="41" y="185"/>
                    <a:pt x="32" y="175"/>
                    <a:pt x="32" y="164"/>
                  </a:cubicBezTo>
                  <a:cubicBezTo>
                    <a:pt x="32" y="149"/>
                    <a:pt x="32" y="149"/>
                    <a:pt x="32" y="149"/>
                  </a:cubicBezTo>
                  <a:cubicBezTo>
                    <a:pt x="32" y="141"/>
                    <a:pt x="28" y="137"/>
                    <a:pt x="22" y="130"/>
                  </a:cubicBezTo>
                  <a:cubicBezTo>
                    <a:pt x="8" y="117"/>
                    <a:pt x="0" y="97"/>
                    <a:pt x="0" y="77"/>
                  </a:cubicBezTo>
                  <a:cubicBezTo>
                    <a:pt x="0" y="34"/>
                    <a:pt x="34" y="0"/>
                    <a:pt x="77" y="0"/>
                  </a:cubicBezTo>
                  <a:cubicBezTo>
                    <a:pt x="119" y="0"/>
                    <a:pt x="154" y="34"/>
                    <a:pt x="154" y="77"/>
                  </a:cubicBezTo>
                  <a:cubicBezTo>
                    <a:pt x="154" y="97"/>
                    <a:pt x="146" y="117"/>
                    <a:pt x="132" y="130"/>
                  </a:cubicBezTo>
                  <a:cubicBezTo>
                    <a:pt x="125" y="137"/>
                    <a:pt x="122" y="141"/>
                    <a:pt x="122" y="149"/>
                  </a:cubicBezTo>
                  <a:cubicBezTo>
                    <a:pt x="122" y="164"/>
                    <a:pt x="122" y="164"/>
                    <a:pt x="122" y="164"/>
                  </a:cubicBezTo>
                  <a:cubicBezTo>
                    <a:pt x="122" y="175"/>
                    <a:pt x="113" y="185"/>
                    <a:pt x="101" y="185"/>
                  </a:cubicBezTo>
                  <a:close/>
                  <a:moveTo>
                    <a:pt x="77" y="5"/>
                  </a:moveTo>
                  <a:cubicBezTo>
                    <a:pt x="37" y="5"/>
                    <a:pt x="5" y="37"/>
                    <a:pt x="5" y="77"/>
                  </a:cubicBezTo>
                  <a:cubicBezTo>
                    <a:pt x="5" y="96"/>
                    <a:pt x="12" y="114"/>
                    <a:pt x="25" y="127"/>
                  </a:cubicBezTo>
                  <a:cubicBezTo>
                    <a:pt x="32" y="134"/>
                    <a:pt x="36" y="140"/>
                    <a:pt x="36" y="149"/>
                  </a:cubicBezTo>
                  <a:cubicBezTo>
                    <a:pt x="36" y="164"/>
                    <a:pt x="36" y="164"/>
                    <a:pt x="36" y="164"/>
                  </a:cubicBezTo>
                  <a:cubicBezTo>
                    <a:pt x="36" y="173"/>
                    <a:pt x="44" y="180"/>
                    <a:pt x="53" y="180"/>
                  </a:cubicBezTo>
                  <a:cubicBezTo>
                    <a:pt x="101" y="180"/>
                    <a:pt x="101" y="180"/>
                    <a:pt x="101" y="180"/>
                  </a:cubicBezTo>
                  <a:cubicBezTo>
                    <a:pt x="110" y="180"/>
                    <a:pt x="117" y="173"/>
                    <a:pt x="117" y="164"/>
                  </a:cubicBezTo>
                  <a:cubicBezTo>
                    <a:pt x="117" y="149"/>
                    <a:pt x="117" y="149"/>
                    <a:pt x="117" y="149"/>
                  </a:cubicBezTo>
                  <a:cubicBezTo>
                    <a:pt x="117" y="140"/>
                    <a:pt x="122" y="134"/>
                    <a:pt x="129" y="127"/>
                  </a:cubicBezTo>
                  <a:cubicBezTo>
                    <a:pt x="142" y="114"/>
                    <a:pt x="149" y="96"/>
                    <a:pt x="149" y="77"/>
                  </a:cubicBezTo>
                  <a:cubicBezTo>
                    <a:pt x="149" y="37"/>
                    <a:pt x="117" y="5"/>
                    <a:pt x="77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/>
            </a:p>
          </p:txBody>
        </p:sp>
        <p:sp>
          <p:nvSpPr>
            <p:cNvPr id="41" name="Freeform 40"/>
            <p:cNvSpPr>
              <a:spLocks noEditPoints="1"/>
            </p:cNvSpPr>
            <p:nvPr/>
          </p:nvSpPr>
          <p:spPr bwMode="auto">
            <a:xfrm>
              <a:off x="2898775" y="3065463"/>
              <a:ext cx="123825" cy="39688"/>
            </a:xfrm>
            <a:custGeom>
              <a:avLst/>
              <a:gdLst>
                <a:gd name="T0" fmla="*/ 62 w 73"/>
                <a:gd name="T1" fmla="*/ 23 h 23"/>
                <a:gd name="T2" fmla="*/ 12 w 73"/>
                <a:gd name="T3" fmla="*/ 23 h 23"/>
                <a:gd name="T4" fmla="*/ 0 w 73"/>
                <a:gd name="T5" fmla="*/ 11 h 23"/>
                <a:gd name="T6" fmla="*/ 12 w 73"/>
                <a:gd name="T7" fmla="*/ 0 h 23"/>
                <a:gd name="T8" fmla="*/ 62 w 73"/>
                <a:gd name="T9" fmla="*/ 0 h 23"/>
                <a:gd name="T10" fmla="*/ 73 w 73"/>
                <a:gd name="T11" fmla="*/ 11 h 23"/>
                <a:gd name="T12" fmla="*/ 62 w 73"/>
                <a:gd name="T13" fmla="*/ 23 h 23"/>
                <a:gd name="T14" fmla="*/ 12 w 73"/>
                <a:gd name="T15" fmla="*/ 5 h 23"/>
                <a:gd name="T16" fmla="*/ 5 w 73"/>
                <a:gd name="T17" fmla="*/ 11 h 23"/>
                <a:gd name="T18" fmla="*/ 12 w 73"/>
                <a:gd name="T19" fmla="*/ 18 h 23"/>
                <a:gd name="T20" fmla="*/ 62 w 73"/>
                <a:gd name="T21" fmla="*/ 18 h 23"/>
                <a:gd name="T22" fmla="*/ 69 w 73"/>
                <a:gd name="T23" fmla="*/ 11 h 23"/>
                <a:gd name="T24" fmla="*/ 62 w 73"/>
                <a:gd name="T25" fmla="*/ 5 h 23"/>
                <a:gd name="T26" fmla="*/ 12 w 73"/>
                <a:gd name="T27" fmla="*/ 5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3" h="23">
                  <a:moveTo>
                    <a:pt x="62" y="23"/>
                  </a:moveTo>
                  <a:cubicBezTo>
                    <a:pt x="12" y="23"/>
                    <a:pt x="12" y="23"/>
                    <a:pt x="12" y="23"/>
                  </a:cubicBezTo>
                  <a:cubicBezTo>
                    <a:pt x="6" y="23"/>
                    <a:pt x="0" y="17"/>
                    <a:pt x="0" y="11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8" y="0"/>
                    <a:pt x="73" y="5"/>
                    <a:pt x="73" y="11"/>
                  </a:cubicBezTo>
                  <a:cubicBezTo>
                    <a:pt x="73" y="17"/>
                    <a:pt x="68" y="23"/>
                    <a:pt x="62" y="23"/>
                  </a:cubicBezTo>
                  <a:close/>
                  <a:moveTo>
                    <a:pt x="12" y="5"/>
                  </a:moveTo>
                  <a:cubicBezTo>
                    <a:pt x="8" y="5"/>
                    <a:pt x="5" y="8"/>
                    <a:pt x="5" y="11"/>
                  </a:cubicBezTo>
                  <a:cubicBezTo>
                    <a:pt x="5" y="15"/>
                    <a:pt x="8" y="18"/>
                    <a:pt x="12" y="18"/>
                  </a:cubicBezTo>
                  <a:cubicBezTo>
                    <a:pt x="62" y="18"/>
                    <a:pt x="62" y="18"/>
                    <a:pt x="62" y="18"/>
                  </a:cubicBezTo>
                  <a:cubicBezTo>
                    <a:pt x="66" y="18"/>
                    <a:pt x="69" y="15"/>
                    <a:pt x="69" y="11"/>
                  </a:cubicBezTo>
                  <a:cubicBezTo>
                    <a:pt x="69" y="8"/>
                    <a:pt x="66" y="5"/>
                    <a:pt x="62" y="5"/>
                  </a:cubicBezTo>
                  <a:lnTo>
                    <a:pt x="12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/>
            </a:p>
          </p:txBody>
        </p:sp>
      </p:grpSp>
      <p:cxnSp>
        <p:nvCxnSpPr>
          <p:cNvPr id="44" name="Straight Connector 43"/>
          <p:cNvCxnSpPr>
            <a:stCxn id="9" idx="3"/>
            <a:endCxn id="3" idx="2"/>
          </p:cNvCxnSpPr>
          <p:nvPr/>
        </p:nvCxnSpPr>
        <p:spPr>
          <a:xfrm>
            <a:off x="3557651" y="3278965"/>
            <a:ext cx="242283" cy="1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10" idx="1"/>
            <a:endCxn id="4" idx="6"/>
          </p:cNvCxnSpPr>
          <p:nvPr/>
        </p:nvCxnSpPr>
        <p:spPr>
          <a:xfrm flipH="1">
            <a:off x="8218611" y="3278965"/>
            <a:ext cx="323382" cy="1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528EDFA-15DE-BD03-52B0-77497C6294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GB">
                <a:latin typeface="Aptos"/>
                <a:cs typeface="Arial"/>
              </a:rPr>
              <a:t>Does "almost winning" motivate MORE when you think skill matters?</a:t>
            </a:r>
            <a:br>
              <a:rPr lang="en-GB">
                <a:latin typeface="Aptos"/>
                <a:cs typeface="Arial"/>
              </a:rPr>
            </a:br>
            <a:endParaRPr lang="en-GB">
              <a:latin typeface="Aptos"/>
              <a:cs typeface="Arial"/>
            </a:endParaRPr>
          </a:p>
          <a:p>
            <a:endParaRPr lang="en-GB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374006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p14:presetBounceEnd="61111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1111">
                                          <p:cBhvr additive="base">
                                            <p:cTn id="7" dur="9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1111">
                                          <p:cBhvr additive="base">
                                            <p:cTn id="8" dur="9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p14:presetBounceEnd="61111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1111">
                                          <p:cBhvr additive="base">
                                            <p:cTn id="11" dur="11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1111">
                                          <p:cBhvr additive="base">
                                            <p:cTn id="12" dur="11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10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10" presetClass="entr" presetSubtype="0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10" presetClass="entr" presetSubtype="0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10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0" presetClass="entr" presetSubtype="0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2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22" presetClass="entr" presetSubtype="4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6" dur="2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9" dur="2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10" presetClass="entr" presetSubtype="0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10" presetClass="entr" presetSubtype="0" fill="hold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5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  <p:bldP spid="4" grpId="0" animBg="1"/>
          <p:bldP spid="6" grpId="0"/>
          <p:bldP spid="7" grpId="0"/>
          <p:bldP spid="9" grpId="0"/>
          <p:bldP spid="10" grpId="0"/>
          <p:bldP spid="12" grpId="0" animBg="1"/>
          <p:bldP spid="13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9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9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1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1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10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10" presetClass="entr" presetSubtype="0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10" presetClass="entr" presetSubtype="0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10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0" presetClass="entr" presetSubtype="0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2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22" presetClass="entr" presetSubtype="4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6" dur="2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9" dur="2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10" presetClass="entr" presetSubtype="0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10" presetClass="entr" presetSubtype="0" fill="hold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5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  <p:bldP spid="4" grpId="0" animBg="1"/>
          <p:bldP spid="6" grpId="0"/>
          <p:bldP spid="7" grpId="0"/>
          <p:bldP spid="9" grpId="0"/>
          <p:bldP spid="10" grpId="0"/>
          <p:bldP spid="12" grpId="0" animBg="1"/>
          <p:bldP spid="13" grpId="0" animBg="1"/>
        </p:bldLst>
      </p:timing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60CD63-B108-7E0E-846B-74B33B4BF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F0A069-1C23-8E9D-0C62-7538AE1233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DEA8EE-3A71-5CD6-DB0C-B8F27EF9F7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910" y="1598246"/>
            <a:ext cx="4626709" cy="5122985"/>
          </a:xfrm>
        </p:spPr>
        <p:txBody>
          <a:bodyPr anchor="t">
            <a:normAutofit/>
          </a:bodyPr>
          <a:lstStyle/>
          <a:p>
            <a:pPr algn="r"/>
            <a:r>
              <a:rPr lang="en-US" sz="8000">
                <a:solidFill>
                  <a:srgbClr val="FFFFFF"/>
                </a:solidFill>
              </a:rPr>
              <a:t>Causal Claim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37AF7F-AAC4-EF39-6CF0-24F4594B57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92994" y="1590840"/>
            <a:ext cx="5672176" cy="5095221"/>
          </a:xfrm>
        </p:spPr>
        <p:txBody>
          <a:bodyPr vert="horz" lIns="91440" tIns="45720" rIns="91440" bIns="45720" rtlCol="0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800">
                <a:solidFill>
                  <a:srgbClr val="FFFFFF"/>
                </a:solidFill>
                <a:latin typeface="Aptos"/>
                <a:ea typeface="Open Sans Light"/>
                <a:cs typeface="Open Sans Light"/>
              </a:rPr>
              <a:t>Near-miss feedback will increase willingness to persist more strongly when the task is framed as skill-based than when framed as luck-based. Specifically, we predict an interaction: the difference between near-miss and clear-loss conditions will be larger when outcomes are attributed to skill versus chance.</a:t>
            </a:r>
            <a:br>
              <a:rPr lang="en-US" sz="2800">
                <a:solidFill>
                  <a:srgbClr val="FFFFFF"/>
                </a:solidFill>
                <a:latin typeface="Aptos"/>
                <a:ea typeface="Open Sans Light"/>
                <a:cs typeface="Open Sans Light"/>
              </a:rPr>
            </a:br>
            <a:endParaRPr lang="en-US" sz="2800">
              <a:solidFill>
                <a:srgbClr val="FFFFFF"/>
              </a:solidFill>
              <a:latin typeface="Aptos"/>
              <a:ea typeface="Open Sans Light"/>
              <a:cs typeface="Open Sans Light"/>
            </a:endParaRPr>
          </a:p>
          <a:p>
            <a:pPr algn="l">
              <a:lnSpc>
                <a:spcPct val="90000"/>
              </a:lnSpc>
            </a:pPr>
            <a:endParaRPr lang="en-US" sz="2800">
              <a:solidFill>
                <a:srgbClr val="FFFFFF"/>
              </a:solidFill>
              <a:latin typeface="Aptos"/>
              <a:ea typeface="Open Sans Light"/>
              <a:cs typeface="Open Sans Ligh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93E16E8-64A1-4FD8-95BF-1EA9F7A4F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74006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8990370" y="2311400"/>
            <a:ext cx="2127437" cy="406400"/>
            <a:chOff x="6862622" y="1733550"/>
            <a:chExt cx="1595578" cy="304800"/>
          </a:xfrm>
        </p:grpSpPr>
        <p:sp>
          <p:nvSpPr>
            <p:cNvPr id="14" name="Chevron 13"/>
            <p:cNvSpPr/>
            <p:nvPr/>
          </p:nvSpPr>
          <p:spPr>
            <a:xfrm>
              <a:off x="6862622" y="1733550"/>
              <a:ext cx="1595578" cy="304800"/>
            </a:xfrm>
            <a:prstGeom prst="chevron">
              <a:avLst>
                <a:gd name="adj" fmla="val 32323"/>
              </a:avLst>
            </a:prstGeom>
            <a:solidFill>
              <a:schemeClr val="bg2">
                <a:lumMod val="90000"/>
              </a:schemeClr>
            </a:solidFill>
            <a:ln w="381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  <p:sp>
          <p:nvSpPr>
            <p:cNvPr id="46" name="Oval 45"/>
            <p:cNvSpPr/>
            <p:nvPr/>
          </p:nvSpPr>
          <p:spPr>
            <a:xfrm>
              <a:off x="7617114" y="1833416"/>
              <a:ext cx="86594" cy="8659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6998624" y="2311400"/>
            <a:ext cx="2127437" cy="406400"/>
            <a:chOff x="5318416" y="1733550"/>
            <a:chExt cx="1595578" cy="304800"/>
          </a:xfrm>
        </p:grpSpPr>
        <p:sp>
          <p:nvSpPr>
            <p:cNvPr id="13" name="Chevron 12"/>
            <p:cNvSpPr/>
            <p:nvPr/>
          </p:nvSpPr>
          <p:spPr>
            <a:xfrm>
              <a:off x="5318416" y="1733550"/>
              <a:ext cx="1595578" cy="304800"/>
            </a:xfrm>
            <a:prstGeom prst="chevron">
              <a:avLst>
                <a:gd name="adj" fmla="val 32323"/>
              </a:avLst>
            </a:prstGeom>
            <a:solidFill>
              <a:schemeClr val="bg2">
                <a:lumMod val="90000"/>
              </a:schemeClr>
            </a:solidFill>
            <a:ln w="381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  <p:sp>
          <p:nvSpPr>
            <p:cNvPr id="45" name="Oval 44"/>
            <p:cNvSpPr/>
            <p:nvPr/>
          </p:nvSpPr>
          <p:spPr>
            <a:xfrm>
              <a:off x="6072908" y="1833416"/>
              <a:ext cx="86594" cy="8659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5006879" y="2311400"/>
            <a:ext cx="2127437" cy="406400"/>
            <a:chOff x="3774211" y="1733550"/>
            <a:chExt cx="1595578" cy="304800"/>
          </a:xfrm>
        </p:grpSpPr>
        <p:sp>
          <p:nvSpPr>
            <p:cNvPr id="12" name="Chevron 11"/>
            <p:cNvSpPr/>
            <p:nvPr/>
          </p:nvSpPr>
          <p:spPr>
            <a:xfrm>
              <a:off x="3774211" y="1733550"/>
              <a:ext cx="1595578" cy="304800"/>
            </a:xfrm>
            <a:prstGeom prst="chevron">
              <a:avLst>
                <a:gd name="adj" fmla="val 32323"/>
              </a:avLst>
            </a:prstGeom>
            <a:solidFill>
              <a:schemeClr val="bg2">
                <a:lumMod val="90000"/>
              </a:schemeClr>
            </a:solidFill>
            <a:ln w="381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  <p:sp>
          <p:nvSpPr>
            <p:cNvPr id="44" name="Oval 43"/>
            <p:cNvSpPr/>
            <p:nvPr/>
          </p:nvSpPr>
          <p:spPr>
            <a:xfrm>
              <a:off x="4528703" y="1833416"/>
              <a:ext cx="86594" cy="8659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015133" y="2311400"/>
            <a:ext cx="2127437" cy="406400"/>
            <a:chOff x="2230005" y="1733550"/>
            <a:chExt cx="1595578" cy="304800"/>
          </a:xfrm>
        </p:grpSpPr>
        <p:sp>
          <p:nvSpPr>
            <p:cNvPr id="11" name="Chevron 10"/>
            <p:cNvSpPr/>
            <p:nvPr/>
          </p:nvSpPr>
          <p:spPr>
            <a:xfrm>
              <a:off x="2230005" y="1733550"/>
              <a:ext cx="1595578" cy="304800"/>
            </a:xfrm>
            <a:prstGeom prst="chevron">
              <a:avLst>
                <a:gd name="adj" fmla="val 32323"/>
              </a:avLst>
            </a:prstGeom>
            <a:solidFill>
              <a:schemeClr val="bg2">
                <a:lumMod val="90000"/>
              </a:schemeClr>
            </a:solidFill>
            <a:ln w="381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  <p:sp>
          <p:nvSpPr>
            <p:cNvPr id="43" name="Oval 42"/>
            <p:cNvSpPr/>
            <p:nvPr/>
          </p:nvSpPr>
          <p:spPr>
            <a:xfrm>
              <a:off x="2984497" y="1833416"/>
              <a:ext cx="86594" cy="8659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experiment(s)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023388" y="2311400"/>
            <a:ext cx="2127437" cy="406400"/>
            <a:chOff x="685800" y="1733550"/>
            <a:chExt cx="1595578" cy="304800"/>
          </a:xfrm>
        </p:grpSpPr>
        <p:sp>
          <p:nvSpPr>
            <p:cNvPr id="5" name="Chevron 4"/>
            <p:cNvSpPr/>
            <p:nvPr/>
          </p:nvSpPr>
          <p:spPr>
            <a:xfrm>
              <a:off x="685800" y="1733550"/>
              <a:ext cx="1595578" cy="304800"/>
            </a:xfrm>
            <a:prstGeom prst="chevron">
              <a:avLst>
                <a:gd name="adj" fmla="val 32323"/>
              </a:avLst>
            </a:prstGeom>
            <a:solidFill>
              <a:schemeClr val="bg2">
                <a:lumMod val="90000"/>
              </a:schemeClr>
            </a:solidFill>
            <a:ln w="381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  <p:sp>
          <p:nvSpPr>
            <p:cNvPr id="42" name="Oval 41"/>
            <p:cNvSpPr/>
            <p:nvPr/>
          </p:nvSpPr>
          <p:spPr>
            <a:xfrm>
              <a:off x="1440292" y="1833416"/>
              <a:ext cx="86594" cy="8659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</p:grpSp>
      <p:sp useBgFill="1">
        <p:nvSpPr>
          <p:cNvPr id="67" name="Chevron 66"/>
          <p:cNvSpPr/>
          <p:nvPr/>
        </p:nvSpPr>
        <p:spPr bwMode="white">
          <a:xfrm>
            <a:off x="-1036580" y="2254806"/>
            <a:ext cx="2127437" cy="519589"/>
          </a:xfrm>
          <a:prstGeom prst="chevron">
            <a:avLst>
              <a:gd name="adj" fmla="val 32323"/>
            </a:avLst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tx1"/>
              </a:solidFill>
            </a:endParaRPr>
          </a:p>
        </p:txBody>
      </p:sp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C9FBA09-E9C2-18CC-5092-FDF332242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639" y="5406823"/>
            <a:ext cx="7239000" cy="1228725"/>
          </a:xfrm>
          <a:prstGeom prst="rect">
            <a:avLst/>
          </a:prstGeom>
        </p:spPr>
      </p:pic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FBE09276-2A42-E01F-C43D-89C46201F0DE}"/>
              </a:ext>
            </a:extLst>
          </p:cNvPr>
          <p:cNvSpPr txBox="1">
            <a:spLocks/>
          </p:cNvSpPr>
          <p:nvPr/>
        </p:nvSpPr>
        <p:spPr>
          <a:xfrm>
            <a:off x="915293" y="1715934"/>
            <a:ext cx="10363200" cy="4064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86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ptos"/>
                <a:cs typeface="Arial"/>
              </a:rPr>
              <a:t>All participants: Press STOP when bar reaches target zone</a:t>
            </a:r>
            <a:endParaRPr lang="en-US">
              <a:cs typeface="Arial"/>
            </a:endParaRP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D1B2A6EE-D3D3-CEAA-E8CA-2940FD5CA191}"/>
              </a:ext>
            </a:extLst>
          </p:cNvPr>
          <p:cNvSpPr>
            <a:spLocks noGrp="1"/>
          </p:cNvSpPr>
          <p:nvPr/>
        </p:nvSpPr>
        <p:spPr>
          <a:xfrm>
            <a:off x="915293" y="3021375"/>
            <a:ext cx="10363200" cy="4064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86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ptos"/>
                <a:cs typeface="Arial"/>
              </a:rPr>
              <a:t>All participants: Press PLAY like in a slot machine</a:t>
            </a:r>
          </a:p>
        </p:txBody>
      </p:sp>
      <p:pic>
        <p:nvPicPr>
          <p:cNvPr id="37" name="Picture 36" descr="Darts Images - Free Download on Freepik">
            <a:extLst>
              <a:ext uri="{FF2B5EF4-FFF2-40B4-BE49-F238E27FC236}">
                <a16:creationId xmlns:a16="http://schemas.microsoft.com/office/drawing/2014/main" id="{D913E632-548D-5A87-A53F-FEFD8C221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6028" y="3426311"/>
            <a:ext cx="1679945" cy="168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948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5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5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5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66667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The Role of Luck versus Skill in Gambling: Debunking the Myths">
            <a:extLst>
              <a:ext uri="{FF2B5EF4-FFF2-40B4-BE49-F238E27FC236}">
                <a16:creationId xmlns:a16="http://schemas.microsoft.com/office/drawing/2014/main" id="{50FBE8D8-C1CD-9E65-044A-FB94C6B877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19" r="1831" b="-214"/>
          <a:stretch>
            <a:fillRect/>
          </a:stretch>
        </p:blipFill>
        <p:spPr>
          <a:xfrm>
            <a:off x="644316" y="2319062"/>
            <a:ext cx="4889114" cy="295669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1532" y="2138171"/>
            <a:ext cx="7401340" cy="41630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Theory behind expected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959456" y="4985200"/>
            <a:ext cx="4826462" cy="108491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100"/>
              <a:t>Insight</a:t>
            </a:r>
            <a:endParaRPr lang="en-US" sz="2133"/>
          </a:p>
          <a:p>
            <a:pPr marL="285750" indent="-285750">
              <a:buFont typeface="Arial"/>
              <a:buChar char="•"/>
            </a:pPr>
            <a:r>
              <a:rPr lang="en-US" sz="1450">
                <a:latin typeface="Aptos"/>
                <a:cs typeface="Arial"/>
              </a:rPr>
              <a:t>Whether skill attribution is necessary for strong </a:t>
            </a:r>
            <a:br>
              <a:rPr lang="en-US" sz="1450">
                <a:latin typeface="Aptos"/>
                <a:cs typeface="Arial"/>
              </a:rPr>
            </a:br>
            <a:r>
              <a:rPr lang="en-US" sz="1450">
                <a:latin typeface="Aptos"/>
                <a:cs typeface="Arial"/>
              </a:rPr>
              <a:t>near-miss effects</a:t>
            </a:r>
            <a:br>
              <a:rPr lang="en-US" sz="1450">
                <a:latin typeface="Aptos"/>
                <a:cs typeface="Arial"/>
              </a:rPr>
            </a:br>
            <a:endParaRPr lang="en-US" sz="1450"/>
          </a:p>
        </p:txBody>
      </p:sp>
      <p:grpSp>
        <p:nvGrpSpPr>
          <p:cNvPr id="33" name="Group 32"/>
          <p:cNvGrpSpPr/>
          <p:nvPr/>
        </p:nvGrpSpPr>
        <p:grpSpPr>
          <a:xfrm>
            <a:off x="6216281" y="5086940"/>
            <a:ext cx="668618" cy="668618"/>
            <a:chOff x="8521174" y="4282642"/>
            <a:chExt cx="668618" cy="668618"/>
          </a:xfrm>
        </p:grpSpPr>
        <p:sp>
          <p:nvSpPr>
            <p:cNvPr id="7" name="Oval 6"/>
            <p:cNvSpPr/>
            <p:nvPr/>
          </p:nvSpPr>
          <p:spPr>
            <a:xfrm>
              <a:off x="8521174" y="4282642"/>
              <a:ext cx="668618" cy="66861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  <p:sp>
          <p:nvSpPr>
            <p:cNvPr id="8" name="Freeform 12"/>
            <p:cNvSpPr>
              <a:spLocks noEditPoints="1"/>
            </p:cNvSpPr>
            <p:nvPr/>
          </p:nvSpPr>
          <p:spPr bwMode="auto">
            <a:xfrm>
              <a:off x="8676069" y="4470946"/>
              <a:ext cx="358830" cy="292010"/>
            </a:xfrm>
            <a:custGeom>
              <a:avLst/>
              <a:gdLst>
                <a:gd name="T0" fmla="*/ 196 w 214"/>
                <a:gd name="T1" fmla="*/ 29 h 174"/>
                <a:gd name="T2" fmla="*/ 139 w 214"/>
                <a:gd name="T3" fmla="*/ 29 h 174"/>
                <a:gd name="T4" fmla="*/ 139 w 214"/>
                <a:gd name="T5" fmla="*/ 9 h 174"/>
                <a:gd name="T6" fmla="*/ 130 w 214"/>
                <a:gd name="T7" fmla="*/ 0 h 174"/>
                <a:gd name="T8" fmla="*/ 84 w 214"/>
                <a:gd name="T9" fmla="*/ 0 h 174"/>
                <a:gd name="T10" fmla="*/ 75 w 214"/>
                <a:gd name="T11" fmla="*/ 9 h 174"/>
                <a:gd name="T12" fmla="*/ 75 w 214"/>
                <a:gd name="T13" fmla="*/ 29 h 174"/>
                <a:gd name="T14" fmla="*/ 18 w 214"/>
                <a:gd name="T15" fmla="*/ 29 h 174"/>
                <a:gd name="T16" fmla="*/ 0 w 214"/>
                <a:gd name="T17" fmla="*/ 47 h 174"/>
                <a:gd name="T18" fmla="*/ 0 w 214"/>
                <a:gd name="T19" fmla="*/ 155 h 174"/>
                <a:gd name="T20" fmla="*/ 18 w 214"/>
                <a:gd name="T21" fmla="*/ 174 h 174"/>
                <a:gd name="T22" fmla="*/ 196 w 214"/>
                <a:gd name="T23" fmla="*/ 174 h 174"/>
                <a:gd name="T24" fmla="*/ 214 w 214"/>
                <a:gd name="T25" fmla="*/ 155 h 174"/>
                <a:gd name="T26" fmla="*/ 214 w 214"/>
                <a:gd name="T27" fmla="*/ 47 h 174"/>
                <a:gd name="T28" fmla="*/ 196 w 214"/>
                <a:gd name="T29" fmla="*/ 29 h 174"/>
                <a:gd name="T30" fmla="*/ 79 w 214"/>
                <a:gd name="T31" fmla="*/ 9 h 174"/>
                <a:gd name="T32" fmla="*/ 84 w 214"/>
                <a:gd name="T33" fmla="*/ 5 h 174"/>
                <a:gd name="T34" fmla="*/ 130 w 214"/>
                <a:gd name="T35" fmla="*/ 5 h 174"/>
                <a:gd name="T36" fmla="*/ 135 w 214"/>
                <a:gd name="T37" fmla="*/ 9 h 174"/>
                <a:gd name="T38" fmla="*/ 135 w 214"/>
                <a:gd name="T39" fmla="*/ 29 h 174"/>
                <a:gd name="T40" fmla="*/ 79 w 214"/>
                <a:gd name="T41" fmla="*/ 29 h 174"/>
                <a:gd name="T42" fmla="*/ 79 w 214"/>
                <a:gd name="T43" fmla="*/ 9 h 174"/>
                <a:gd name="T44" fmla="*/ 18 w 214"/>
                <a:gd name="T45" fmla="*/ 34 h 174"/>
                <a:gd name="T46" fmla="*/ 196 w 214"/>
                <a:gd name="T47" fmla="*/ 34 h 174"/>
                <a:gd name="T48" fmla="*/ 210 w 214"/>
                <a:gd name="T49" fmla="*/ 47 h 174"/>
                <a:gd name="T50" fmla="*/ 210 w 214"/>
                <a:gd name="T51" fmla="*/ 77 h 174"/>
                <a:gd name="T52" fmla="*/ 120 w 214"/>
                <a:gd name="T53" fmla="*/ 77 h 174"/>
                <a:gd name="T54" fmla="*/ 120 w 214"/>
                <a:gd name="T55" fmla="*/ 68 h 174"/>
                <a:gd name="T56" fmla="*/ 118 w 214"/>
                <a:gd name="T57" fmla="*/ 65 h 174"/>
                <a:gd name="T58" fmla="*/ 96 w 214"/>
                <a:gd name="T59" fmla="*/ 65 h 174"/>
                <a:gd name="T60" fmla="*/ 94 w 214"/>
                <a:gd name="T61" fmla="*/ 68 h 174"/>
                <a:gd name="T62" fmla="*/ 94 w 214"/>
                <a:gd name="T63" fmla="*/ 77 h 174"/>
                <a:gd name="T64" fmla="*/ 5 w 214"/>
                <a:gd name="T65" fmla="*/ 77 h 174"/>
                <a:gd name="T66" fmla="*/ 5 w 214"/>
                <a:gd name="T67" fmla="*/ 47 h 174"/>
                <a:gd name="T68" fmla="*/ 18 w 214"/>
                <a:gd name="T69" fmla="*/ 34 h 174"/>
                <a:gd name="T70" fmla="*/ 98 w 214"/>
                <a:gd name="T71" fmla="*/ 70 h 174"/>
                <a:gd name="T72" fmla="*/ 116 w 214"/>
                <a:gd name="T73" fmla="*/ 70 h 174"/>
                <a:gd name="T74" fmla="*/ 116 w 214"/>
                <a:gd name="T75" fmla="*/ 88 h 174"/>
                <a:gd name="T76" fmla="*/ 98 w 214"/>
                <a:gd name="T77" fmla="*/ 88 h 174"/>
                <a:gd name="T78" fmla="*/ 98 w 214"/>
                <a:gd name="T79" fmla="*/ 70 h 174"/>
                <a:gd name="T80" fmla="*/ 196 w 214"/>
                <a:gd name="T81" fmla="*/ 169 h 174"/>
                <a:gd name="T82" fmla="*/ 18 w 214"/>
                <a:gd name="T83" fmla="*/ 169 h 174"/>
                <a:gd name="T84" fmla="*/ 5 w 214"/>
                <a:gd name="T85" fmla="*/ 155 h 174"/>
                <a:gd name="T86" fmla="*/ 5 w 214"/>
                <a:gd name="T87" fmla="*/ 81 h 174"/>
                <a:gd name="T88" fmla="*/ 94 w 214"/>
                <a:gd name="T89" fmla="*/ 81 h 174"/>
                <a:gd name="T90" fmla="*/ 94 w 214"/>
                <a:gd name="T91" fmla="*/ 90 h 174"/>
                <a:gd name="T92" fmla="*/ 96 w 214"/>
                <a:gd name="T93" fmla="*/ 93 h 174"/>
                <a:gd name="T94" fmla="*/ 118 w 214"/>
                <a:gd name="T95" fmla="*/ 93 h 174"/>
                <a:gd name="T96" fmla="*/ 120 w 214"/>
                <a:gd name="T97" fmla="*/ 90 h 174"/>
                <a:gd name="T98" fmla="*/ 120 w 214"/>
                <a:gd name="T99" fmla="*/ 81 h 174"/>
                <a:gd name="T100" fmla="*/ 210 w 214"/>
                <a:gd name="T101" fmla="*/ 81 h 174"/>
                <a:gd name="T102" fmla="*/ 210 w 214"/>
                <a:gd name="T103" fmla="*/ 155 h 174"/>
                <a:gd name="T104" fmla="*/ 196 w 214"/>
                <a:gd name="T105" fmla="*/ 169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14" h="174">
                  <a:moveTo>
                    <a:pt x="196" y="29"/>
                  </a:moveTo>
                  <a:cubicBezTo>
                    <a:pt x="139" y="29"/>
                    <a:pt x="139" y="29"/>
                    <a:pt x="139" y="29"/>
                  </a:cubicBezTo>
                  <a:cubicBezTo>
                    <a:pt x="139" y="9"/>
                    <a:pt x="139" y="9"/>
                    <a:pt x="139" y="9"/>
                  </a:cubicBezTo>
                  <a:cubicBezTo>
                    <a:pt x="139" y="4"/>
                    <a:pt x="135" y="0"/>
                    <a:pt x="130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79" y="0"/>
                    <a:pt x="75" y="4"/>
                    <a:pt x="75" y="9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8" y="29"/>
                    <a:pt x="0" y="37"/>
                    <a:pt x="0" y="47"/>
                  </a:cubicBezTo>
                  <a:cubicBezTo>
                    <a:pt x="0" y="155"/>
                    <a:pt x="0" y="155"/>
                    <a:pt x="0" y="155"/>
                  </a:cubicBezTo>
                  <a:cubicBezTo>
                    <a:pt x="0" y="166"/>
                    <a:pt x="8" y="174"/>
                    <a:pt x="18" y="174"/>
                  </a:cubicBezTo>
                  <a:cubicBezTo>
                    <a:pt x="196" y="174"/>
                    <a:pt x="196" y="174"/>
                    <a:pt x="196" y="174"/>
                  </a:cubicBezTo>
                  <a:cubicBezTo>
                    <a:pt x="206" y="174"/>
                    <a:pt x="214" y="166"/>
                    <a:pt x="214" y="155"/>
                  </a:cubicBezTo>
                  <a:cubicBezTo>
                    <a:pt x="214" y="47"/>
                    <a:pt x="214" y="47"/>
                    <a:pt x="214" y="47"/>
                  </a:cubicBezTo>
                  <a:cubicBezTo>
                    <a:pt x="214" y="37"/>
                    <a:pt x="206" y="29"/>
                    <a:pt x="196" y="29"/>
                  </a:cubicBezTo>
                  <a:close/>
                  <a:moveTo>
                    <a:pt x="79" y="9"/>
                  </a:moveTo>
                  <a:cubicBezTo>
                    <a:pt x="79" y="7"/>
                    <a:pt x="82" y="5"/>
                    <a:pt x="84" y="5"/>
                  </a:cubicBezTo>
                  <a:cubicBezTo>
                    <a:pt x="130" y="5"/>
                    <a:pt x="130" y="5"/>
                    <a:pt x="130" y="5"/>
                  </a:cubicBezTo>
                  <a:cubicBezTo>
                    <a:pt x="133" y="5"/>
                    <a:pt x="135" y="7"/>
                    <a:pt x="135" y="9"/>
                  </a:cubicBezTo>
                  <a:cubicBezTo>
                    <a:pt x="135" y="29"/>
                    <a:pt x="135" y="29"/>
                    <a:pt x="135" y="29"/>
                  </a:cubicBezTo>
                  <a:cubicBezTo>
                    <a:pt x="79" y="29"/>
                    <a:pt x="79" y="29"/>
                    <a:pt x="79" y="29"/>
                  </a:cubicBezTo>
                  <a:lnTo>
                    <a:pt x="79" y="9"/>
                  </a:lnTo>
                  <a:close/>
                  <a:moveTo>
                    <a:pt x="18" y="34"/>
                  </a:moveTo>
                  <a:cubicBezTo>
                    <a:pt x="196" y="34"/>
                    <a:pt x="196" y="34"/>
                    <a:pt x="196" y="34"/>
                  </a:cubicBezTo>
                  <a:cubicBezTo>
                    <a:pt x="203" y="34"/>
                    <a:pt x="210" y="40"/>
                    <a:pt x="210" y="47"/>
                  </a:cubicBezTo>
                  <a:cubicBezTo>
                    <a:pt x="210" y="77"/>
                    <a:pt x="210" y="77"/>
                    <a:pt x="210" y="77"/>
                  </a:cubicBezTo>
                  <a:cubicBezTo>
                    <a:pt x="120" y="77"/>
                    <a:pt x="120" y="77"/>
                    <a:pt x="120" y="77"/>
                  </a:cubicBezTo>
                  <a:cubicBezTo>
                    <a:pt x="120" y="68"/>
                    <a:pt x="120" y="68"/>
                    <a:pt x="120" y="68"/>
                  </a:cubicBezTo>
                  <a:cubicBezTo>
                    <a:pt x="120" y="66"/>
                    <a:pt x="119" y="65"/>
                    <a:pt x="118" y="65"/>
                  </a:cubicBezTo>
                  <a:cubicBezTo>
                    <a:pt x="96" y="65"/>
                    <a:pt x="96" y="65"/>
                    <a:pt x="96" y="65"/>
                  </a:cubicBezTo>
                  <a:cubicBezTo>
                    <a:pt x="95" y="65"/>
                    <a:pt x="94" y="66"/>
                    <a:pt x="94" y="68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5" y="77"/>
                    <a:pt x="5" y="77"/>
                    <a:pt x="5" y="77"/>
                  </a:cubicBezTo>
                  <a:cubicBezTo>
                    <a:pt x="5" y="47"/>
                    <a:pt x="5" y="47"/>
                    <a:pt x="5" y="47"/>
                  </a:cubicBezTo>
                  <a:cubicBezTo>
                    <a:pt x="5" y="40"/>
                    <a:pt x="11" y="34"/>
                    <a:pt x="18" y="34"/>
                  </a:cubicBezTo>
                  <a:close/>
                  <a:moveTo>
                    <a:pt x="98" y="70"/>
                  </a:moveTo>
                  <a:cubicBezTo>
                    <a:pt x="116" y="70"/>
                    <a:pt x="116" y="70"/>
                    <a:pt x="116" y="70"/>
                  </a:cubicBezTo>
                  <a:cubicBezTo>
                    <a:pt x="116" y="88"/>
                    <a:pt x="116" y="88"/>
                    <a:pt x="116" y="88"/>
                  </a:cubicBezTo>
                  <a:cubicBezTo>
                    <a:pt x="98" y="88"/>
                    <a:pt x="98" y="88"/>
                    <a:pt x="98" y="88"/>
                  </a:cubicBezTo>
                  <a:lnTo>
                    <a:pt x="98" y="70"/>
                  </a:lnTo>
                  <a:close/>
                  <a:moveTo>
                    <a:pt x="196" y="169"/>
                  </a:moveTo>
                  <a:cubicBezTo>
                    <a:pt x="18" y="169"/>
                    <a:pt x="18" y="169"/>
                    <a:pt x="18" y="169"/>
                  </a:cubicBezTo>
                  <a:cubicBezTo>
                    <a:pt x="11" y="169"/>
                    <a:pt x="5" y="163"/>
                    <a:pt x="5" y="155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94" y="81"/>
                    <a:pt x="94" y="81"/>
                    <a:pt x="94" y="81"/>
                  </a:cubicBezTo>
                  <a:cubicBezTo>
                    <a:pt x="94" y="90"/>
                    <a:pt x="94" y="90"/>
                    <a:pt x="94" y="90"/>
                  </a:cubicBezTo>
                  <a:cubicBezTo>
                    <a:pt x="94" y="92"/>
                    <a:pt x="95" y="93"/>
                    <a:pt x="96" y="93"/>
                  </a:cubicBezTo>
                  <a:cubicBezTo>
                    <a:pt x="118" y="93"/>
                    <a:pt x="118" y="93"/>
                    <a:pt x="118" y="93"/>
                  </a:cubicBezTo>
                  <a:cubicBezTo>
                    <a:pt x="119" y="93"/>
                    <a:pt x="120" y="92"/>
                    <a:pt x="120" y="90"/>
                  </a:cubicBezTo>
                  <a:cubicBezTo>
                    <a:pt x="120" y="81"/>
                    <a:pt x="120" y="81"/>
                    <a:pt x="120" y="81"/>
                  </a:cubicBezTo>
                  <a:cubicBezTo>
                    <a:pt x="210" y="81"/>
                    <a:pt x="210" y="81"/>
                    <a:pt x="210" y="81"/>
                  </a:cubicBezTo>
                  <a:cubicBezTo>
                    <a:pt x="210" y="155"/>
                    <a:pt x="210" y="155"/>
                    <a:pt x="210" y="155"/>
                  </a:cubicBezTo>
                  <a:cubicBezTo>
                    <a:pt x="210" y="163"/>
                    <a:pt x="203" y="169"/>
                    <a:pt x="196" y="16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/>
            </a:p>
          </p:txBody>
        </p:sp>
      </p:grpSp>
      <p:sp>
        <p:nvSpPr>
          <p:cNvPr id="10" name="Rectangle 9"/>
          <p:cNvSpPr/>
          <p:nvPr/>
        </p:nvSpPr>
        <p:spPr>
          <a:xfrm>
            <a:off x="6964103" y="1881634"/>
            <a:ext cx="4832758" cy="108491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100"/>
              <a:t>Theory: </a:t>
            </a:r>
            <a:r>
              <a:rPr lang="en-US" sz="1400">
                <a:latin typeface="Arial"/>
                <a:cs typeface="Arial"/>
              </a:rPr>
              <a:t>Conditional reinforcement + skill attribution</a:t>
            </a:r>
          </a:p>
          <a:p>
            <a:pPr marL="285750" indent="-285750">
              <a:buFont typeface="Arial"/>
              <a:buChar char="•"/>
            </a:pPr>
            <a:r>
              <a:rPr lang="en-US" sz="1450">
                <a:latin typeface="Aptos"/>
                <a:cs typeface="Arial"/>
              </a:rPr>
              <a:t>Near-misses signal achievable success</a:t>
            </a:r>
          </a:p>
          <a:p>
            <a:pPr marL="285750" indent="-285750">
              <a:buFont typeface="Arial"/>
              <a:buChar char="•"/>
            </a:pPr>
            <a:r>
              <a:rPr lang="en-US" sz="1450">
                <a:latin typeface="Aptos"/>
                <a:cs typeface="Arial"/>
              </a:rPr>
              <a:t>But only feel "achievable" when you think YOU can control the outcome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6216281" y="1983375"/>
            <a:ext cx="668618" cy="668618"/>
            <a:chOff x="8521174" y="1215077"/>
            <a:chExt cx="668618" cy="668618"/>
          </a:xfrm>
        </p:grpSpPr>
        <p:sp>
          <p:nvSpPr>
            <p:cNvPr id="11" name="Oval 10"/>
            <p:cNvSpPr/>
            <p:nvPr/>
          </p:nvSpPr>
          <p:spPr>
            <a:xfrm>
              <a:off x="8521174" y="1215077"/>
              <a:ext cx="668618" cy="66861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  <p:sp>
          <p:nvSpPr>
            <p:cNvPr id="12" name="Freeform 11"/>
            <p:cNvSpPr>
              <a:spLocks noEditPoints="1"/>
            </p:cNvSpPr>
            <p:nvPr/>
          </p:nvSpPr>
          <p:spPr bwMode="auto">
            <a:xfrm>
              <a:off x="8651785" y="1372358"/>
              <a:ext cx="316743" cy="354057"/>
            </a:xfrm>
            <a:custGeom>
              <a:avLst/>
              <a:gdLst>
                <a:gd name="T0" fmla="*/ 189 w 189"/>
                <a:gd name="T1" fmla="*/ 43 h 211"/>
                <a:gd name="T2" fmla="*/ 146 w 189"/>
                <a:gd name="T3" fmla="*/ 0 h 211"/>
                <a:gd name="T4" fmla="*/ 130 w 189"/>
                <a:gd name="T5" fmla="*/ 20 h 211"/>
                <a:gd name="T6" fmla="*/ 116 w 189"/>
                <a:gd name="T7" fmla="*/ 49 h 211"/>
                <a:gd name="T8" fmla="*/ 73 w 189"/>
                <a:gd name="T9" fmla="*/ 29 h 211"/>
                <a:gd name="T10" fmla="*/ 59 w 189"/>
                <a:gd name="T11" fmla="*/ 49 h 211"/>
                <a:gd name="T12" fmla="*/ 45 w 189"/>
                <a:gd name="T13" fmla="*/ 103 h 211"/>
                <a:gd name="T14" fmla="*/ 3 w 189"/>
                <a:gd name="T15" fmla="*/ 83 h 211"/>
                <a:gd name="T16" fmla="*/ 3 w 189"/>
                <a:gd name="T17" fmla="*/ 128 h 211"/>
                <a:gd name="T18" fmla="*/ 45 w 189"/>
                <a:gd name="T19" fmla="*/ 108 h 211"/>
                <a:gd name="T20" fmla="*/ 59 w 189"/>
                <a:gd name="T21" fmla="*/ 162 h 211"/>
                <a:gd name="T22" fmla="*/ 73 w 189"/>
                <a:gd name="T23" fmla="*/ 182 h 211"/>
                <a:gd name="T24" fmla="*/ 116 w 189"/>
                <a:gd name="T25" fmla="*/ 162 h 211"/>
                <a:gd name="T26" fmla="*/ 130 w 189"/>
                <a:gd name="T27" fmla="*/ 191 h 211"/>
                <a:gd name="T28" fmla="*/ 146 w 189"/>
                <a:gd name="T29" fmla="*/ 211 h 211"/>
                <a:gd name="T30" fmla="*/ 189 w 189"/>
                <a:gd name="T31" fmla="*/ 168 h 211"/>
                <a:gd name="T32" fmla="*/ 144 w 189"/>
                <a:gd name="T33" fmla="*/ 168 h 211"/>
                <a:gd name="T34" fmla="*/ 133 w 189"/>
                <a:gd name="T35" fmla="*/ 135 h 211"/>
                <a:gd name="T36" fmla="*/ 146 w 189"/>
                <a:gd name="T37" fmla="*/ 156 h 211"/>
                <a:gd name="T38" fmla="*/ 189 w 189"/>
                <a:gd name="T39" fmla="*/ 113 h 211"/>
                <a:gd name="T40" fmla="*/ 144 w 189"/>
                <a:gd name="T41" fmla="*/ 113 h 211"/>
                <a:gd name="T42" fmla="*/ 128 w 189"/>
                <a:gd name="T43" fmla="*/ 133 h 211"/>
                <a:gd name="T44" fmla="*/ 116 w 189"/>
                <a:gd name="T45" fmla="*/ 139 h 211"/>
                <a:gd name="T46" fmla="*/ 71 w 189"/>
                <a:gd name="T47" fmla="*/ 139 h 211"/>
                <a:gd name="T48" fmla="*/ 61 w 189"/>
                <a:gd name="T49" fmla="*/ 54 h 211"/>
                <a:gd name="T50" fmla="*/ 73 w 189"/>
                <a:gd name="T51" fmla="*/ 74 h 211"/>
                <a:gd name="T52" fmla="*/ 116 w 189"/>
                <a:gd name="T53" fmla="*/ 54 h 211"/>
                <a:gd name="T54" fmla="*/ 130 w 189"/>
                <a:gd name="T55" fmla="*/ 80 h 211"/>
                <a:gd name="T56" fmla="*/ 146 w 189"/>
                <a:gd name="T57" fmla="*/ 101 h 211"/>
                <a:gd name="T58" fmla="*/ 189 w 189"/>
                <a:gd name="T59" fmla="*/ 58 h 211"/>
                <a:gd name="T60" fmla="*/ 144 w 189"/>
                <a:gd name="T61" fmla="*/ 58 h 211"/>
                <a:gd name="T62" fmla="*/ 133 w 189"/>
                <a:gd name="T63" fmla="*/ 25 h 211"/>
                <a:gd name="T64" fmla="*/ 146 w 189"/>
                <a:gd name="T65" fmla="*/ 45 h 211"/>
                <a:gd name="T66" fmla="*/ 5 w 189"/>
                <a:gd name="T67" fmla="*/ 88 h 211"/>
                <a:gd name="T68" fmla="*/ 148 w 189"/>
                <a:gd name="T69" fmla="*/ 171 h 211"/>
                <a:gd name="T70" fmla="*/ 148 w 189"/>
                <a:gd name="T71" fmla="*/ 206 h 211"/>
                <a:gd name="T72" fmla="*/ 184 w 189"/>
                <a:gd name="T73" fmla="*/ 115 h 211"/>
                <a:gd name="T74" fmla="*/ 148 w 189"/>
                <a:gd name="T75" fmla="*/ 115 h 211"/>
                <a:gd name="T76" fmla="*/ 111 w 189"/>
                <a:gd name="T77" fmla="*/ 177 h 211"/>
                <a:gd name="T78" fmla="*/ 111 w 189"/>
                <a:gd name="T79" fmla="*/ 70 h 211"/>
                <a:gd name="T80" fmla="*/ 111 w 189"/>
                <a:gd name="T81" fmla="*/ 34 h 211"/>
                <a:gd name="T82" fmla="*/ 184 w 189"/>
                <a:gd name="T83" fmla="*/ 60 h 211"/>
                <a:gd name="T84" fmla="*/ 148 w 189"/>
                <a:gd name="T85" fmla="*/ 60 h 211"/>
                <a:gd name="T86" fmla="*/ 184 w 189"/>
                <a:gd name="T87" fmla="*/ 41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9" h="211">
                  <a:moveTo>
                    <a:pt x="146" y="45"/>
                  </a:moveTo>
                  <a:cubicBezTo>
                    <a:pt x="187" y="45"/>
                    <a:pt x="187" y="45"/>
                    <a:pt x="187" y="45"/>
                  </a:cubicBezTo>
                  <a:cubicBezTo>
                    <a:pt x="188" y="45"/>
                    <a:pt x="189" y="44"/>
                    <a:pt x="189" y="43"/>
                  </a:cubicBezTo>
                  <a:cubicBezTo>
                    <a:pt x="189" y="3"/>
                    <a:pt x="189" y="3"/>
                    <a:pt x="189" y="3"/>
                  </a:cubicBezTo>
                  <a:cubicBezTo>
                    <a:pt x="189" y="1"/>
                    <a:pt x="188" y="0"/>
                    <a:pt x="187" y="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45" y="0"/>
                    <a:pt x="144" y="1"/>
                    <a:pt x="144" y="3"/>
                  </a:cubicBezTo>
                  <a:cubicBezTo>
                    <a:pt x="144" y="20"/>
                    <a:pt x="144" y="20"/>
                    <a:pt x="144" y="20"/>
                  </a:cubicBezTo>
                  <a:cubicBezTo>
                    <a:pt x="130" y="20"/>
                    <a:pt x="130" y="20"/>
                    <a:pt x="130" y="20"/>
                  </a:cubicBezTo>
                  <a:cubicBezTo>
                    <a:pt x="129" y="20"/>
                    <a:pt x="128" y="21"/>
                    <a:pt x="128" y="23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32"/>
                    <a:pt x="116" y="32"/>
                    <a:pt x="116" y="32"/>
                  </a:cubicBezTo>
                  <a:cubicBezTo>
                    <a:pt x="116" y="30"/>
                    <a:pt x="115" y="29"/>
                    <a:pt x="114" y="29"/>
                  </a:cubicBezTo>
                  <a:cubicBezTo>
                    <a:pt x="73" y="29"/>
                    <a:pt x="73" y="29"/>
                    <a:pt x="73" y="29"/>
                  </a:cubicBezTo>
                  <a:cubicBezTo>
                    <a:pt x="72" y="29"/>
                    <a:pt x="71" y="30"/>
                    <a:pt x="71" y="32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59" y="49"/>
                    <a:pt x="59" y="49"/>
                    <a:pt x="59" y="49"/>
                  </a:cubicBezTo>
                  <a:cubicBezTo>
                    <a:pt x="58" y="49"/>
                    <a:pt x="57" y="51"/>
                    <a:pt x="57" y="52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45" y="103"/>
                    <a:pt x="45" y="103"/>
                    <a:pt x="45" y="103"/>
                  </a:cubicBezTo>
                  <a:cubicBezTo>
                    <a:pt x="45" y="85"/>
                    <a:pt x="45" y="85"/>
                    <a:pt x="45" y="85"/>
                  </a:cubicBezTo>
                  <a:cubicBezTo>
                    <a:pt x="45" y="84"/>
                    <a:pt x="44" y="83"/>
                    <a:pt x="43" y="83"/>
                  </a:cubicBezTo>
                  <a:cubicBezTo>
                    <a:pt x="3" y="83"/>
                    <a:pt x="3" y="83"/>
                    <a:pt x="3" y="83"/>
                  </a:cubicBezTo>
                  <a:cubicBezTo>
                    <a:pt x="1" y="83"/>
                    <a:pt x="0" y="84"/>
                    <a:pt x="0" y="85"/>
                  </a:cubicBezTo>
                  <a:cubicBezTo>
                    <a:pt x="0" y="126"/>
                    <a:pt x="0" y="126"/>
                    <a:pt x="0" y="126"/>
                  </a:cubicBezTo>
                  <a:cubicBezTo>
                    <a:pt x="0" y="127"/>
                    <a:pt x="1" y="128"/>
                    <a:pt x="3" y="128"/>
                  </a:cubicBezTo>
                  <a:cubicBezTo>
                    <a:pt x="43" y="128"/>
                    <a:pt x="43" y="128"/>
                    <a:pt x="43" y="128"/>
                  </a:cubicBezTo>
                  <a:cubicBezTo>
                    <a:pt x="44" y="128"/>
                    <a:pt x="45" y="127"/>
                    <a:pt x="45" y="126"/>
                  </a:cubicBezTo>
                  <a:cubicBezTo>
                    <a:pt x="45" y="108"/>
                    <a:pt x="45" y="108"/>
                    <a:pt x="45" y="108"/>
                  </a:cubicBezTo>
                  <a:cubicBezTo>
                    <a:pt x="57" y="108"/>
                    <a:pt x="57" y="108"/>
                    <a:pt x="57" y="108"/>
                  </a:cubicBezTo>
                  <a:cubicBezTo>
                    <a:pt x="57" y="159"/>
                    <a:pt x="57" y="159"/>
                    <a:pt x="57" y="159"/>
                  </a:cubicBezTo>
                  <a:cubicBezTo>
                    <a:pt x="57" y="161"/>
                    <a:pt x="58" y="162"/>
                    <a:pt x="59" y="162"/>
                  </a:cubicBezTo>
                  <a:cubicBezTo>
                    <a:pt x="71" y="162"/>
                    <a:pt x="71" y="162"/>
                    <a:pt x="71" y="162"/>
                  </a:cubicBezTo>
                  <a:cubicBezTo>
                    <a:pt x="71" y="180"/>
                    <a:pt x="71" y="180"/>
                    <a:pt x="71" y="180"/>
                  </a:cubicBezTo>
                  <a:cubicBezTo>
                    <a:pt x="71" y="181"/>
                    <a:pt x="72" y="182"/>
                    <a:pt x="73" y="182"/>
                  </a:cubicBezTo>
                  <a:cubicBezTo>
                    <a:pt x="114" y="182"/>
                    <a:pt x="114" y="182"/>
                    <a:pt x="114" y="182"/>
                  </a:cubicBezTo>
                  <a:cubicBezTo>
                    <a:pt x="115" y="182"/>
                    <a:pt x="116" y="181"/>
                    <a:pt x="116" y="180"/>
                  </a:cubicBezTo>
                  <a:cubicBezTo>
                    <a:pt x="116" y="162"/>
                    <a:pt x="116" y="162"/>
                    <a:pt x="116" y="162"/>
                  </a:cubicBezTo>
                  <a:cubicBezTo>
                    <a:pt x="128" y="162"/>
                    <a:pt x="128" y="162"/>
                    <a:pt x="128" y="162"/>
                  </a:cubicBezTo>
                  <a:cubicBezTo>
                    <a:pt x="128" y="189"/>
                    <a:pt x="128" y="189"/>
                    <a:pt x="128" y="189"/>
                  </a:cubicBezTo>
                  <a:cubicBezTo>
                    <a:pt x="128" y="190"/>
                    <a:pt x="129" y="191"/>
                    <a:pt x="130" y="191"/>
                  </a:cubicBezTo>
                  <a:cubicBezTo>
                    <a:pt x="144" y="191"/>
                    <a:pt x="144" y="191"/>
                    <a:pt x="144" y="191"/>
                  </a:cubicBezTo>
                  <a:cubicBezTo>
                    <a:pt x="144" y="209"/>
                    <a:pt x="144" y="209"/>
                    <a:pt x="144" y="209"/>
                  </a:cubicBezTo>
                  <a:cubicBezTo>
                    <a:pt x="144" y="210"/>
                    <a:pt x="145" y="211"/>
                    <a:pt x="146" y="211"/>
                  </a:cubicBezTo>
                  <a:cubicBezTo>
                    <a:pt x="187" y="211"/>
                    <a:pt x="187" y="211"/>
                    <a:pt x="187" y="211"/>
                  </a:cubicBezTo>
                  <a:cubicBezTo>
                    <a:pt x="188" y="211"/>
                    <a:pt x="189" y="210"/>
                    <a:pt x="189" y="209"/>
                  </a:cubicBezTo>
                  <a:cubicBezTo>
                    <a:pt x="189" y="168"/>
                    <a:pt x="189" y="168"/>
                    <a:pt x="189" y="168"/>
                  </a:cubicBezTo>
                  <a:cubicBezTo>
                    <a:pt x="189" y="167"/>
                    <a:pt x="188" y="166"/>
                    <a:pt x="187" y="166"/>
                  </a:cubicBezTo>
                  <a:cubicBezTo>
                    <a:pt x="146" y="166"/>
                    <a:pt x="146" y="166"/>
                    <a:pt x="146" y="166"/>
                  </a:cubicBezTo>
                  <a:cubicBezTo>
                    <a:pt x="145" y="166"/>
                    <a:pt x="144" y="167"/>
                    <a:pt x="144" y="168"/>
                  </a:cubicBezTo>
                  <a:cubicBezTo>
                    <a:pt x="144" y="186"/>
                    <a:pt x="144" y="186"/>
                    <a:pt x="144" y="186"/>
                  </a:cubicBezTo>
                  <a:cubicBezTo>
                    <a:pt x="133" y="186"/>
                    <a:pt x="133" y="186"/>
                    <a:pt x="133" y="186"/>
                  </a:cubicBezTo>
                  <a:cubicBezTo>
                    <a:pt x="133" y="135"/>
                    <a:pt x="133" y="135"/>
                    <a:pt x="133" y="135"/>
                  </a:cubicBezTo>
                  <a:cubicBezTo>
                    <a:pt x="144" y="135"/>
                    <a:pt x="144" y="135"/>
                    <a:pt x="144" y="135"/>
                  </a:cubicBezTo>
                  <a:cubicBezTo>
                    <a:pt x="144" y="153"/>
                    <a:pt x="144" y="153"/>
                    <a:pt x="144" y="153"/>
                  </a:cubicBezTo>
                  <a:cubicBezTo>
                    <a:pt x="144" y="155"/>
                    <a:pt x="145" y="156"/>
                    <a:pt x="146" y="156"/>
                  </a:cubicBezTo>
                  <a:cubicBezTo>
                    <a:pt x="187" y="156"/>
                    <a:pt x="187" y="156"/>
                    <a:pt x="187" y="156"/>
                  </a:cubicBezTo>
                  <a:cubicBezTo>
                    <a:pt x="188" y="156"/>
                    <a:pt x="189" y="155"/>
                    <a:pt x="189" y="153"/>
                  </a:cubicBezTo>
                  <a:cubicBezTo>
                    <a:pt x="189" y="113"/>
                    <a:pt x="189" y="113"/>
                    <a:pt x="189" y="113"/>
                  </a:cubicBezTo>
                  <a:cubicBezTo>
                    <a:pt x="189" y="112"/>
                    <a:pt x="188" y="111"/>
                    <a:pt x="187" y="111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145" y="111"/>
                    <a:pt x="144" y="112"/>
                    <a:pt x="144" y="113"/>
                  </a:cubicBezTo>
                  <a:cubicBezTo>
                    <a:pt x="144" y="131"/>
                    <a:pt x="144" y="131"/>
                    <a:pt x="144" y="131"/>
                  </a:cubicBez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2"/>
                    <a:pt x="128" y="133"/>
                  </a:cubicBezTo>
                  <a:cubicBezTo>
                    <a:pt x="128" y="157"/>
                    <a:pt x="128" y="157"/>
                    <a:pt x="128" y="157"/>
                  </a:cubicBezTo>
                  <a:cubicBezTo>
                    <a:pt x="116" y="157"/>
                    <a:pt x="116" y="157"/>
                    <a:pt x="116" y="157"/>
                  </a:cubicBezTo>
                  <a:cubicBezTo>
                    <a:pt x="116" y="139"/>
                    <a:pt x="116" y="139"/>
                    <a:pt x="116" y="139"/>
                  </a:cubicBezTo>
                  <a:cubicBezTo>
                    <a:pt x="116" y="138"/>
                    <a:pt x="115" y="137"/>
                    <a:pt x="114" y="137"/>
                  </a:cubicBezTo>
                  <a:cubicBezTo>
                    <a:pt x="73" y="137"/>
                    <a:pt x="73" y="137"/>
                    <a:pt x="73" y="137"/>
                  </a:cubicBezTo>
                  <a:cubicBezTo>
                    <a:pt x="72" y="137"/>
                    <a:pt x="71" y="138"/>
                    <a:pt x="71" y="139"/>
                  </a:cubicBezTo>
                  <a:cubicBezTo>
                    <a:pt x="71" y="157"/>
                    <a:pt x="71" y="157"/>
                    <a:pt x="71" y="157"/>
                  </a:cubicBezTo>
                  <a:cubicBezTo>
                    <a:pt x="61" y="157"/>
                    <a:pt x="61" y="157"/>
                    <a:pt x="61" y="157"/>
                  </a:cubicBezTo>
                  <a:cubicBezTo>
                    <a:pt x="61" y="54"/>
                    <a:pt x="61" y="54"/>
                    <a:pt x="61" y="54"/>
                  </a:cubicBezTo>
                  <a:cubicBezTo>
                    <a:pt x="71" y="54"/>
                    <a:pt x="71" y="54"/>
                    <a:pt x="71" y="54"/>
                  </a:cubicBezTo>
                  <a:cubicBezTo>
                    <a:pt x="71" y="72"/>
                    <a:pt x="71" y="72"/>
                    <a:pt x="71" y="72"/>
                  </a:cubicBezTo>
                  <a:cubicBezTo>
                    <a:pt x="71" y="73"/>
                    <a:pt x="72" y="74"/>
                    <a:pt x="73" y="74"/>
                  </a:cubicBezTo>
                  <a:cubicBezTo>
                    <a:pt x="114" y="74"/>
                    <a:pt x="114" y="74"/>
                    <a:pt x="114" y="74"/>
                  </a:cubicBezTo>
                  <a:cubicBezTo>
                    <a:pt x="115" y="74"/>
                    <a:pt x="116" y="73"/>
                    <a:pt x="116" y="72"/>
                  </a:cubicBezTo>
                  <a:cubicBezTo>
                    <a:pt x="116" y="54"/>
                    <a:pt x="116" y="54"/>
                    <a:pt x="116" y="54"/>
                  </a:cubicBezTo>
                  <a:cubicBezTo>
                    <a:pt x="128" y="54"/>
                    <a:pt x="128" y="54"/>
                    <a:pt x="128" y="54"/>
                  </a:cubicBezTo>
                  <a:cubicBezTo>
                    <a:pt x="128" y="78"/>
                    <a:pt x="128" y="78"/>
                    <a:pt x="128" y="78"/>
                  </a:cubicBezTo>
                  <a:cubicBezTo>
                    <a:pt x="128" y="79"/>
                    <a:pt x="129" y="80"/>
                    <a:pt x="130" y="80"/>
                  </a:cubicBezTo>
                  <a:cubicBezTo>
                    <a:pt x="144" y="80"/>
                    <a:pt x="144" y="80"/>
                    <a:pt x="144" y="80"/>
                  </a:cubicBezTo>
                  <a:cubicBezTo>
                    <a:pt x="144" y="98"/>
                    <a:pt x="144" y="98"/>
                    <a:pt x="144" y="98"/>
                  </a:cubicBezTo>
                  <a:cubicBezTo>
                    <a:pt x="144" y="99"/>
                    <a:pt x="145" y="101"/>
                    <a:pt x="146" y="101"/>
                  </a:cubicBezTo>
                  <a:cubicBezTo>
                    <a:pt x="187" y="101"/>
                    <a:pt x="187" y="101"/>
                    <a:pt x="187" y="101"/>
                  </a:cubicBezTo>
                  <a:cubicBezTo>
                    <a:pt x="188" y="101"/>
                    <a:pt x="189" y="99"/>
                    <a:pt x="189" y="98"/>
                  </a:cubicBezTo>
                  <a:cubicBezTo>
                    <a:pt x="189" y="58"/>
                    <a:pt x="189" y="58"/>
                    <a:pt x="189" y="58"/>
                  </a:cubicBezTo>
                  <a:cubicBezTo>
                    <a:pt x="189" y="57"/>
                    <a:pt x="188" y="56"/>
                    <a:pt x="187" y="56"/>
                  </a:cubicBezTo>
                  <a:cubicBezTo>
                    <a:pt x="146" y="56"/>
                    <a:pt x="146" y="56"/>
                    <a:pt x="146" y="56"/>
                  </a:cubicBezTo>
                  <a:cubicBezTo>
                    <a:pt x="145" y="56"/>
                    <a:pt x="144" y="57"/>
                    <a:pt x="144" y="58"/>
                  </a:cubicBezTo>
                  <a:cubicBezTo>
                    <a:pt x="144" y="76"/>
                    <a:pt x="144" y="76"/>
                    <a:pt x="144" y="76"/>
                  </a:cubicBezTo>
                  <a:cubicBezTo>
                    <a:pt x="133" y="76"/>
                    <a:pt x="133" y="76"/>
                    <a:pt x="133" y="76"/>
                  </a:cubicBezTo>
                  <a:cubicBezTo>
                    <a:pt x="133" y="25"/>
                    <a:pt x="133" y="25"/>
                    <a:pt x="133" y="25"/>
                  </a:cubicBezTo>
                  <a:cubicBezTo>
                    <a:pt x="144" y="25"/>
                    <a:pt x="144" y="25"/>
                    <a:pt x="144" y="25"/>
                  </a:cubicBezTo>
                  <a:cubicBezTo>
                    <a:pt x="144" y="43"/>
                    <a:pt x="144" y="43"/>
                    <a:pt x="144" y="43"/>
                  </a:cubicBezTo>
                  <a:cubicBezTo>
                    <a:pt x="144" y="44"/>
                    <a:pt x="145" y="45"/>
                    <a:pt x="146" y="45"/>
                  </a:cubicBezTo>
                  <a:close/>
                  <a:moveTo>
                    <a:pt x="41" y="123"/>
                  </a:moveTo>
                  <a:cubicBezTo>
                    <a:pt x="5" y="123"/>
                    <a:pt x="5" y="123"/>
                    <a:pt x="5" y="123"/>
                  </a:cubicBezTo>
                  <a:cubicBezTo>
                    <a:pt x="5" y="88"/>
                    <a:pt x="5" y="88"/>
                    <a:pt x="5" y="88"/>
                  </a:cubicBezTo>
                  <a:cubicBezTo>
                    <a:pt x="41" y="88"/>
                    <a:pt x="41" y="88"/>
                    <a:pt x="41" y="88"/>
                  </a:cubicBezTo>
                  <a:lnTo>
                    <a:pt x="41" y="123"/>
                  </a:lnTo>
                  <a:close/>
                  <a:moveTo>
                    <a:pt x="148" y="171"/>
                  </a:moveTo>
                  <a:cubicBezTo>
                    <a:pt x="184" y="171"/>
                    <a:pt x="184" y="171"/>
                    <a:pt x="184" y="171"/>
                  </a:cubicBezTo>
                  <a:cubicBezTo>
                    <a:pt x="184" y="206"/>
                    <a:pt x="184" y="206"/>
                    <a:pt x="184" y="206"/>
                  </a:cubicBezTo>
                  <a:cubicBezTo>
                    <a:pt x="148" y="206"/>
                    <a:pt x="148" y="206"/>
                    <a:pt x="148" y="206"/>
                  </a:cubicBezTo>
                  <a:lnTo>
                    <a:pt x="148" y="171"/>
                  </a:lnTo>
                  <a:close/>
                  <a:moveTo>
                    <a:pt x="148" y="115"/>
                  </a:moveTo>
                  <a:cubicBezTo>
                    <a:pt x="184" y="115"/>
                    <a:pt x="184" y="115"/>
                    <a:pt x="184" y="115"/>
                  </a:cubicBezTo>
                  <a:cubicBezTo>
                    <a:pt x="184" y="151"/>
                    <a:pt x="184" y="151"/>
                    <a:pt x="184" y="151"/>
                  </a:cubicBezTo>
                  <a:cubicBezTo>
                    <a:pt x="148" y="151"/>
                    <a:pt x="148" y="151"/>
                    <a:pt x="148" y="151"/>
                  </a:cubicBezTo>
                  <a:lnTo>
                    <a:pt x="148" y="115"/>
                  </a:lnTo>
                  <a:close/>
                  <a:moveTo>
                    <a:pt x="76" y="142"/>
                  </a:moveTo>
                  <a:cubicBezTo>
                    <a:pt x="111" y="142"/>
                    <a:pt x="111" y="142"/>
                    <a:pt x="111" y="142"/>
                  </a:cubicBezTo>
                  <a:cubicBezTo>
                    <a:pt x="111" y="177"/>
                    <a:pt x="111" y="177"/>
                    <a:pt x="111" y="177"/>
                  </a:cubicBezTo>
                  <a:cubicBezTo>
                    <a:pt x="76" y="177"/>
                    <a:pt x="76" y="177"/>
                    <a:pt x="76" y="177"/>
                  </a:cubicBezTo>
                  <a:lnTo>
                    <a:pt x="76" y="142"/>
                  </a:lnTo>
                  <a:close/>
                  <a:moveTo>
                    <a:pt x="111" y="70"/>
                  </a:moveTo>
                  <a:cubicBezTo>
                    <a:pt x="76" y="70"/>
                    <a:pt x="76" y="70"/>
                    <a:pt x="76" y="70"/>
                  </a:cubicBezTo>
                  <a:cubicBezTo>
                    <a:pt x="76" y="34"/>
                    <a:pt x="76" y="34"/>
                    <a:pt x="76" y="34"/>
                  </a:cubicBezTo>
                  <a:cubicBezTo>
                    <a:pt x="111" y="34"/>
                    <a:pt x="111" y="34"/>
                    <a:pt x="111" y="34"/>
                  </a:cubicBezTo>
                  <a:lnTo>
                    <a:pt x="111" y="70"/>
                  </a:lnTo>
                  <a:close/>
                  <a:moveTo>
                    <a:pt x="148" y="60"/>
                  </a:moveTo>
                  <a:cubicBezTo>
                    <a:pt x="184" y="60"/>
                    <a:pt x="184" y="60"/>
                    <a:pt x="184" y="60"/>
                  </a:cubicBezTo>
                  <a:cubicBezTo>
                    <a:pt x="184" y="96"/>
                    <a:pt x="184" y="96"/>
                    <a:pt x="184" y="96"/>
                  </a:cubicBezTo>
                  <a:cubicBezTo>
                    <a:pt x="148" y="96"/>
                    <a:pt x="148" y="96"/>
                    <a:pt x="148" y="96"/>
                  </a:cubicBezTo>
                  <a:lnTo>
                    <a:pt x="148" y="60"/>
                  </a:lnTo>
                  <a:close/>
                  <a:moveTo>
                    <a:pt x="148" y="5"/>
                  </a:moveTo>
                  <a:cubicBezTo>
                    <a:pt x="184" y="5"/>
                    <a:pt x="184" y="5"/>
                    <a:pt x="184" y="5"/>
                  </a:cubicBezTo>
                  <a:cubicBezTo>
                    <a:pt x="184" y="41"/>
                    <a:pt x="184" y="41"/>
                    <a:pt x="184" y="41"/>
                  </a:cubicBezTo>
                  <a:cubicBezTo>
                    <a:pt x="148" y="41"/>
                    <a:pt x="148" y="41"/>
                    <a:pt x="148" y="41"/>
                  </a:cubicBezTo>
                  <a:lnTo>
                    <a:pt x="148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/>
            </a:p>
          </p:txBody>
        </p:sp>
      </p:grpSp>
      <p:sp>
        <p:nvSpPr>
          <p:cNvPr id="14" name="Rectangle 13"/>
          <p:cNvSpPr/>
          <p:nvPr/>
        </p:nvSpPr>
        <p:spPr>
          <a:xfrm>
            <a:off x="6938064" y="3950679"/>
            <a:ext cx="4832758" cy="111010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100"/>
              <a:t>Analysis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450">
                <a:latin typeface="Aptos"/>
                <a:cs typeface="Arial"/>
              </a:rPr>
              <a:t>2×2 ANOVA testing interaction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450">
                <a:latin typeface="Aptos"/>
                <a:cs typeface="Arial"/>
              </a:rPr>
              <a:t>Simple effects tests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450">
                <a:latin typeface="Aptos"/>
                <a:cs typeface="Arial"/>
              </a:rPr>
              <a:t>95% CIs for all comparisons</a:t>
            </a:r>
            <a:endParaRPr lang="en-US"/>
          </a:p>
        </p:txBody>
      </p:sp>
      <p:grpSp>
        <p:nvGrpSpPr>
          <p:cNvPr id="34" name="Group 33"/>
          <p:cNvGrpSpPr/>
          <p:nvPr/>
        </p:nvGrpSpPr>
        <p:grpSpPr>
          <a:xfrm>
            <a:off x="6216281" y="4052419"/>
            <a:ext cx="668618" cy="668618"/>
            <a:chOff x="8521174" y="3082666"/>
            <a:chExt cx="668618" cy="668618"/>
          </a:xfrm>
        </p:grpSpPr>
        <p:sp>
          <p:nvSpPr>
            <p:cNvPr id="15" name="Oval 14"/>
            <p:cNvSpPr/>
            <p:nvPr/>
          </p:nvSpPr>
          <p:spPr>
            <a:xfrm>
              <a:off x="8521174" y="3082666"/>
              <a:ext cx="668618" cy="66861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  <p:sp>
          <p:nvSpPr>
            <p:cNvPr id="16" name="Freeform 19"/>
            <p:cNvSpPr>
              <a:spLocks noEditPoints="1"/>
            </p:cNvSpPr>
            <p:nvPr/>
          </p:nvSpPr>
          <p:spPr bwMode="auto">
            <a:xfrm>
              <a:off x="8724664" y="3231485"/>
              <a:ext cx="261638" cy="370980"/>
            </a:xfrm>
            <a:custGeom>
              <a:avLst/>
              <a:gdLst>
                <a:gd name="T0" fmla="*/ 114 w 156"/>
                <a:gd name="T1" fmla="*/ 74 h 221"/>
                <a:gd name="T2" fmla="*/ 114 w 156"/>
                <a:gd name="T3" fmla="*/ 43 h 221"/>
                <a:gd name="T4" fmla="*/ 115 w 156"/>
                <a:gd name="T5" fmla="*/ 43 h 221"/>
                <a:gd name="T6" fmla="*/ 128 w 156"/>
                <a:gd name="T7" fmla="*/ 28 h 221"/>
                <a:gd name="T8" fmla="*/ 128 w 156"/>
                <a:gd name="T9" fmla="*/ 15 h 221"/>
                <a:gd name="T10" fmla="*/ 115 w 156"/>
                <a:gd name="T11" fmla="*/ 0 h 221"/>
                <a:gd name="T12" fmla="*/ 41 w 156"/>
                <a:gd name="T13" fmla="*/ 0 h 221"/>
                <a:gd name="T14" fmla="*/ 40 w 156"/>
                <a:gd name="T15" fmla="*/ 0 h 221"/>
                <a:gd name="T16" fmla="*/ 28 w 156"/>
                <a:gd name="T17" fmla="*/ 15 h 221"/>
                <a:gd name="T18" fmla="*/ 28 w 156"/>
                <a:gd name="T19" fmla="*/ 28 h 221"/>
                <a:gd name="T20" fmla="*/ 42 w 156"/>
                <a:gd name="T21" fmla="*/ 43 h 221"/>
                <a:gd name="T22" fmla="*/ 43 w 156"/>
                <a:gd name="T23" fmla="*/ 43 h 221"/>
                <a:gd name="T24" fmla="*/ 43 w 156"/>
                <a:gd name="T25" fmla="*/ 74 h 221"/>
                <a:gd name="T26" fmla="*/ 0 w 156"/>
                <a:gd name="T27" fmla="*/ 150 h 221"/>
                <a:gd name="T28" fmla="*/ 9 w 156"/>
                <a:gd name="T29" fmla="*/ 160 h 221"/>
                <a:gd name="T30" fmla="*/ 74 w 156"/>
                <a:gd name="T31" fmla="*/ 160 h 221"/>
                <a:gd name="T32" fmla="*/ 74 w 156"/>
                <a:gd name="T33" fmla="*/ 219 h 221"/>
                <a:gd name="T34" fmla="*/ 77 w 156"/>
                <a:gd name="T35" fmla="*/ 221 h 221"/>
                <a:gd name="T36" fmla="*/ 79 w 156"/>
                <a:gd name="T37" fmla="*/ 219 h 221"/>
                <a:gd name="T38" fmla="*/ 79 w 156"/>
                <a:gd name="T39" fmla="*/ 160 h 221"/>
                <a:gd name="T40" fmla="*/ 147 w 156"/>
                <a:gd name="T41" fmla="*/ 160 h 221"/>
                <a:gd name="T42" fmla="*/ 154 w 156"/>
                <a:gd name="T43" fmla="*/ 156 h 221"/>
                <a:gd name="T44" fmla="*/ 156 w 156"/>
                <a:gd name="T45" fmla="*/ 151 h 221"/>
                <a:gd name="T46" fmla="*/ 114 w 156"/>
                <a:gd name="T47" fmla="*/ 74 h 221"/>
                <a:gd name="T48" fmla="*/ 151 w 156"/>
                <a:gd name="T49" fmla="*/ 153 h 221"/>
                <a:gd name="T50" fmla="*/ 150 w 156"/>
                <a:gd name="T51" fmla="*/ 154 h 221"/>
                <a:gd name="T52" fmla="*/ 147 w 156"/>
                <a:gd name="T53" fmla="*/ 155 h 221"/>
                <a:gd name="T54" fmla="*/ 9 w 156"/>
                <a:gd name="T55" fmla="*/ 155 h 221"/>
                <a:gd name="T56" fmla="*/ 5 w 156"/>
                <a:gd name="T57" fmla="*/ 150 h 221"/>
                <a:gd name="T58" fmla="*/ 46 w 156"/>
                <a:gd name="T59" fmla="*/ 78 h 221"/>
                <a:gd name="T60" fmla="*/ 47 w 156"/>
                <a:gd name="T61" fmla="*/ 76 h 221"/>
                <a:gd name="T62" fmla="*/ 47 w 156"/>
                <a:gd name="T63" fmla="*/ 41 h 221"/>
                <a:gd name="T64" fmla="*/ 45 w 156"/>
                <a:gd name="T65" fmla="*/ 38 h 221"/>
                <a:gd name="T66" fmla="*/ 42 w 156"/>
                <a:gd name="T67" fmla="*/ 38 h 221"/>
                <a:gd name="T68" fmla="*/ 33 w 156"/>
                <a:gd name="T69" fmla="*/ 28 h 221"/>
                <a:gd name="T70" fmla="*/ 33 w 156"/>
                <a:gd name="T71" fmla="*/ 15 h 221"/>
                <a:gd name="T72" fmla="*/ 41 w 156"/>
                <a:gd name="T73" fmla="*/ 5 h 221"/>
                <a:gd name="T74" fmla="*/ 115 w 156"/>
                <a:gd name="T75" fmla="*/ 5 h 221"/>
                <a:gd name="T76" fmla="*/ 123 w 156"/>
                <a:gd name="T77" fmla="*/ 15 h 221"/>
                <a:gd name="T78" fmla="*/ 123 w 156"/>
                <a:gd name="T79" fmla="*/ 28 h 221"/>
                <a:gd name="T80" fmla="*/ 115 w 156"/>
                <a:gd name="T81" fmla="*/ 38 h 221"/>
                <a:gd name="T82" fmla="*/ 111 w 156"/>
                <a:gd name="T83" fmla="*/ 38 h 221"/>
                <a:gd name="T84" fmla="*/ 109 w 156"/>
                <a:gd name="T85" fmla="*/ 41 h 221"/>
                <a:gd name="T86" fmla="*/ 109 w 156"/>
                <a:gd name="T87" fmla="*/ 76 h 221"/>
                <a:gd name="T88" fmla="*/ 110 w 156"/>
                <a:gd name="T89" fmla="*/ 78 h 221"/>
                <a:gd name="T90" fmla="*/ 151 w 156"/>
                <a:gd name="T91" fmla="*/ 151 h 221"/>
                <a:gd name="T92" fmla="*/ 151 w 156"/>
                <a:gd name="T93" fmla="*/ 15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56" h="221">
                  <a:moveTo>
                    <a:pt x="114" y="74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22" y="43"/>
                    <a:pt x="128" y="36"/>
                    <a:pt x="128" y="28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7"/>
                    <a:pt x="122" y="0"/>
                    <a:pt x="115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0" y="0"/>
                    <a:pt x="40" y="0"/>
                  </a:cubicBezTo>
                  <a:cubicBezTo>
                    <a:pt x="34" y="1"/>
                    <a:pt x="28" y="7"/>
                    <a:pt x="28" y="15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28" y="35"/>
                    <a:pt x="35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74"/>
                    <a:pt x="43" y="74"/>
                    <a:pt x="43" y="74"/>
                  </a:cubicBezTo>
                  <a:cubicBezTo>
                    <a:pt x="15" y="87"/>
                    <a:pt x="0" y="114"/>
                    <a:pt x="0" y="150"/>
                  </a:cubicBezTo>
                  <a:cubicBezTo>
                    <a:pt x="0" y="156"/>
                    <a:pt x="4" y="160"/>
                    <a:pt x="9" y="160"/>
                  </a:cubicBezTo>
                  <a:cubicBezTo>
                    <a:pt x="74" y="160"/>
                    <a:pt x="74" y="160"/>
                    <a:pt x="74" y="160"/>
                  </a:cubicBezTo>
                  <a:cubicBezTo>
                    <a:pt x="74" y="219"/>
                    <a:pt x="74" y="219"/>
                    <a:pt x="74" y="219"/>
                  </a:cubicBezTo>
                  <a:cubicBezTo>
                    <a:pt x="74" y="220"/>
                    <a:pt x="75" y="221"/>
                    <a:pt x="77" y="221"/>
                  </a:cubicBezTo>
                  <a:cubicBezTo>
                    <a:pt x="78" y="221"/>
                    <a:pt x="79" y="220"/>
                    <a:pt x="79" y="21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147" y="160"/>
                    <a:pt x="147" y="160"/>
                    <a:pt x="147" y="160"/>
                  </a:cubicBezTo>
                  <a:cubicBezTo>
                    <a:pt x="149" y="160"/>
                    <a:pt x="152" y="159"/>
                    <a:pt x="154" y="156"/>
                  </a:cubicBezTo>
                  <a:cubicBezTo>
                    <a:pt x="156" y="155"/>
                    <a:pt x="156" y="152"/>
                    <a:pt x="156" y="151"/>
                  </a:cubicBezTo>
                  <a:cubicBezTo>
                    <a:pt x="156" y="114"/>
                    <a:pt x="141" y="87"/>
                    <a:pt x="114" y="74"/>
                  </a:cubicBezTo>
                  <a:close/>
                  <a:moveTo>
                    <a:pt x="151" y="153"/>
                  </a:moveTo>
                  <a:cubicBezTo>
                    <a:pt x="150" y="153"/>
                    <a:pt x="150" y="153"/>
                    <a:pt x="150" y="154"/>
                  </a:cubicBezTo>
                  <a:cubicBezTo>
                    <a:pt x="149" y="154"/>
                    <a:pt x="148" y="155"/>
                    <a:pt x="147" y="155"/>
                  </a:cubicBezTo>
                  <a:cubicBezTo>
                    <a:pt x="9" y="155"/>
                    <a:pt x="9" y="155"/>
                    <a:pt x="9" y="155"/>
                  </a:cubicBezTo>
                  <a:cubicBezTo>
                    <a:pt x="5" y="155"/>
                    <a:pt x="5" y="151"/>
                    <a:pt x="5" y="150"/>
                  </a:cubicBezTo>
                  <a:cubicBezTo>
                    <a:pt x="5" y="115"/>
                    <a:pt x="19" y="90"/>
                    <a:pt x="46" y="78"/>
                  </a:cubicBezTo>
                  <a:cubicBezTo>
                    <a:pt x="47" y="77"/>
                    <a:pt x="47" y="76"/>
                    <a:pt x="47" y="76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6" y="38"/>
                    <a:pt x="45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7" y="38"/>
                    <a:pt x="33" y="33"/>
                    <a:pt x="33" y="28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3" y="10"/>
                    <a:pt x="37" y="5"/>
                    <a:pt x="41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20" y="5"/>
                    <a:pt x="123" y="10"/>
                    <a:pt x="123" y="15"/>
                  </a:cubicBezTo>
                  <a:cubicBezTo>
                    <a:pt x="123" y="28"/>
                    <a:pt x="123" y="28"/>
                    <a:pt x="123" y="28"/>
                  </a:cubicBezTo>
                  <a:cubicBezTo>
                    <a:pt x="123" y="33"/>
                    <a:pt x="119" y="38"/>
                    <a:pt x="115" y="38"/>
                  </a:cubicBezTo>
                  <a:cubicBezTo>
                    <a:pt x="111" y="38"/>
                    <a:pt x="111" y="38"/>
                    <a:pt x="111" y="38"/>
                  </a:cubicBezTo>
                  <a:cubicBezTo>
                    <a:pt x="110" y="38"/>
                    <a:pt x="109" y="39"/>
                    <a:pt x="109" y="41"/>
                  </a:cubicBezTo>
                  <a:cubicBezTo>
                    <a:pt x="109" y="76"/>
                    <a:pt x="109" y="76"/>
                    <a:pt x="109" y="76"/>
                  </a:cubicBezTo>
                  <a:cubicBezTo>
                    <a:pt x="109" y="76"/>
                    <a:pt x="109" y="77"/>
                    <a:pt x="110" y="78"/>
                  </a:cubicBezTo>
                  <a:cubicBezTo>
                    <a:pt x="144" y="93"/>
                    <a:pt x="151" y="126"/>
                    <a:pt x="151" y="151"/>
                  </a:cubicBezTo>
                  <a:cubicBezTo>
                    <a:pt x="151" y="152"/>
                    <a:pt x="151" y="153"/>
                    <a:pt x="151" y="1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/>
            </a:p>
          </p:txBody>
        </p:sp>
      </p:grpSp>
      <p:sp>
        <p:nvSpPr>
          <p:cNvPr id="18" name="Rectangle 17"/>
          <p:cNvSpPr/>
          <p:nvPr/>
        </p:nvSpPr>
        <p:spPr>
          <a:xfrm>
            <a:off x="6941471" y="2953941"/>
            <a:ext cx="5120273" cy="130805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100">
                <a:latin typeface="Aptos"/>
                <a:cs typeface="Arial"/>
              </a:rPr>
              <a:t>Predictions:</a:t>
            </a:r>
            <a:endParaRPr lang="en-US" sz="21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50">
                <a:latin typeface="Aptos"/>
                <a:cs typeface="Arial"/>
              </a:rPr>
              <a:t>Skill/Near-miss &gt;&gt; Skill/Clear-loss (LARGE gap)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450">
                <a:latin typeface="Aptos"/>
                <a:cs typeface="Arial"/>
              </a:rPr>
              <a:t>Luck/Near-miss &gt; Luck/Clear-loss (SMALL gap)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450">
                <a:latin typeface="Aptos"/>
                <a:cs typeface="Arial"/>
              </a:rPr>
              <a:t>Interaction significant - skill amplifies the near-miss effect</a:t>
            </a:r>
            <a:br>
              <a:rPr lang="en-US" sz="1450">
                <a:latin typeface="Aptos"/>
                <a:cs typeface="Arial"/>
              </a:rPr>
            </a:br>
            <a:endParaRPr lang="en-US" sz="1450">
              <a:latin typeface="Aptos"/>
              <a:cs typeface="Arial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6216281" y="3017897"/>
            <a:ext cx="668618" cy="668618"/>
            <a:chOff x="14554899" y="3773408"/>
            <a:chExt cx="933016" cy="933016"/>
          </a:xfrm>
        </p:grpSpPr>
        <p:sp>
          <p:nvSpPr>
            <p:cNvPr id="20" name="Oval 19"/>
            <p:cNvSpPr/>
            <p:nvPr/>
          </p:nvSpPr>
          <p:spPr>
            <a:xfrm>
              <a:off x="14554899" y="3773408"/>
              <a:ext cx="933016" cy="93301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  <p:grpSp>
          <p:nvGrpSpPr>
            <p:cNvPr id="21" name="Group 20"/>
            <p:cNvGrpSpPr/>
            <p:nvPr/>
          </p:nvGrpSpPr>
          <p:grpSpPr>
            <a:xfrm>
              <a:off x="14818877" y="4037386"/>
              <a:ext cx="405063" cy="405063"/>
              <a:chOff x="12284075" y="-1800225"/>
              <a:chExt cx="1062037" cy="1062038"/>
            </a:xfrm>
          </p:grpSpPr>
          <p:sp>
            <p:nvSpPr>
              <p:cNvPr id="22" name="Freeform 20"/>
              <p:cNvSpPr>
                <a:spLocks noEditPoints="1"/>
              </p:cNvSpPr>
              <p:nvPr/>
            </p:nvSpPr>
            <p:spPr bwMode="auto">
              <a:xfrm>
                <a:off x="12284075" y="-1800225"/>
                <a:ext cx="1062037" cy="1062038"/>
              </a:xfrm>
              <a:custGeom>
                <a:avLst/>
                <a:gdLst>
                  <a:gd name="T0" fmla="*/ 143 w 173"/>
                  <a:gd name="T1" fmla="*/ 173 h 173"/>
                  <a:gd name="T2" fmla="*/ 30 w 173"/>
                  <a:gd name="T3" fmla="*/ 173 h 173"/>
                  <a:gd name="T4" fmla="*/ 0 w 173"/>
                  <a:gd name="T5" fmla="*/ 143 h 173"/>
                  <a:gd name="T6" fmla="*/ 0 w 173"/>
                  <a:gd name="T7" fmla="*/ 30 h 173"/>
                  <a:gd name="T8" fmla="*/ 30 w 173"/>
                  <a:gd name="T9" fmla="*/ 0 h 173"/>
                  <a:gd name="T10" fmla="*/ 143 w 173"/>
                  <a:gd name="T11" fmla="*/ 0 h 173"/>
                  <a:gd name="T12" fmla="*/ 173 w 173"/>
                  <a:gd name="T13" fmla="*/ 30 h 173"/>
                  <a:gd name="T14" fmla="*/ 173 w 173"/>
                  <a:gd name="T15" fmla="*/ 143 h 173"/>
                  <a:gd name="T16" fmla="*/ 143 w 173"/>
                  <a:gd name="T17" fmla="*/ 173 h 173"/>
                  <a:gd name="T18" fmla="*/ 30 w 173"/>
                  <a:gd name="T19" fmla="*/ 5 h 173"/>
                  <a:gd name="T20" fmla="*/ 5 w 173"/>
                  <a:gd name="T21" fmla="*/ 30 h 173"/>
                  <a:gd name="T22" fmla="*/ 5 w 173"/>
                  <a:gd name="T23" fmla="*/ 143 h 173"/>
                  <a:gd name="T24" fmla="*/ 30 w 173"/>
                  <a:gd name="T25" fmla="*/ 168 h 173"/>
                  <a:gd name="T26" fmla="*/ 143 w 173"/>
                  <a:gd name="T27" fmla="*/ 168 h 173"/>
                  <a:gd name="T28" fmla="*/ 169 w 173"/>
                  <a:gd name="T29" fmla="*/ 143 h 173"/>
                  <a:gd name="T30" fmla="*/ 169 w 173"/>
                  <a:gd name="T31" fmla="*/ 30 h 173"/>
                  <a:gd name="T32" fmla="*/ 143 w 173"/>
                  <a:gd name="T33" fmla="*/ 5 h 173"/>
                  <a:gd name="T34" fmla="*/ 30 w 173"/>
                  <a:gd name="T35" fmla="*/ 5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73" h="173">
                    <a:moveTo>
                      <a:pt x="143" y="173"/>
                    </a:moveTo>
                    <a:cubicBezTo>
                      <a:pt x="30" y="173"/>
                      <a:pt x="30" y="173"/>
                      <a:pt x="30" y="173"/>
                    </a:cubicBezTo>
                    <a:cubicBezTo>
                      <a:pt x="14" y="173"/>
                      <a:pt x="0" y="160"/>
                      <a:pt x="0" y="143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14"/>
                      <a:pt x="14" y="0"/>
                      <a:pt x="30" y="0"/>
                    </a:cubicBezTo>
                    <a:cubicBezTo>
                      <a:pt x="143" y="0"/>
                      <a:pt x="143" y="0"/>
                      <a:pt x="143" y="0"/>
                    </a:cubicBezTo>
                    <a:cubicBezTo>
                      <a:pt x="160" y="0"/>
                      <a:pt x="173" y="14"/>
                      <a:pt x="173" y="30"/>
                    </a:cubicBezTo>
                    <a:cubicBezTo>
                      <a:pt x="173" y="143"/>
                      <a:pt x="173" y="143"/>
                      <a:pt x="173" y="143"/>
                    </a:cubicBezTo>
                    <a:cubicBezTo>
                      <a:pt x="173" y="160"/>
                      <a:pt x="160" y="173"/>
                      <a:pt x="143" y="173"/>
                    </a:cubicBezTo>
                    <a:close/>
                    <a:moveTo>
                      <a:pt x="30" y="5"/>
                    </a:moveTo>
                    <a:cubicBezTo>
                      <a:pt x="16" y="5"/>
                      <a:pt x="5" y="16"/>
                      <a:pt x="5" y="30"/>
                    </a:cubicBezTo>
                    <a:cubicBezTo>
                      <a:pt x="5" y="143"/>
                      <a:pt x="5" y="143"/>
                      <a:pt x="5" y="143"/>
                    </a:cubicBezTo>
                    <a:cubicBezTo>
                      <a:pt x="5" y="157"/>
                      <a:pt x="16" y="168"/>
                      <a:pt x="30" y="168"/>
                    </a:cubicBezTo>
                    <a:cubicBezTo>
                      <a:pt x="143" y="168"/>
                      <a:pt x="143" y="168"/>
                      <a:pt x="143" y="168"/>
                    </a:cubicBezTo>
                    <a:cubicBezTo>
                      <a:pt x="157" y="168"/>
                      <a:pt x="169" y="157"/>
                      <a:pt x="169" y="143"/>
                    </a:cubicBezTo>
                    <a:cubicBezTo>
                      <a:pt x="169" y="30"/>
                      <a:pt x="169" y="30"/>
                      <a:pt x="169" y="30"/>
                    </a:cubicBezTo>
                    <a:cubicBezTo>
                      <a:pt x="169" y="16"/>
                      <a:pt x="157" y="5"/>
                      <a:pt x="143" y="5"/>
                    </a:cubicBezTo>
                    <a:lnTo>
                      <a:pt x="30" y="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200"/>
              </a:p>
            </p:txBody>
          </p:sp>
          <p:sp>
            <p:nvSpPr>
              <p:cNvPr id="23" name="Freeform 21"/>
              <p:cNvSpPr>
                <a:spLocks/>
              </p:cNvSpPr>
              <p:nvPr/>
            </p:nvSpPr>
            <p:spPr bwMode="auto">
              <a:xfrm>
                <a:off x="12284075" y="-1284288"/>
                <a:ext cx="1062037" cy="30163"/>
              </a:xfrm>
              <a:custGeom>
                <a:avLst/>
                <a:gdLst>
                  <a:gd name="T0" fmla="*/ 171 w 173"/>
                  <a:gd name="T1" fmla="*/ 5 h 5"/>
                  <a:gd name="T2" fmla="*/ 3 w 173"/>
                  <a:gd name="T3" fmla="*/ 5 h 5"/>
                  <a:gd name="T4" fmla="*/ 0 w 173"/>
                  <a:gd name="T5" fmla="*/ 3 h 5"/>
                  <a:gd name="T6" fmla="*/ 3 w 173"/>
                  <a:gd name="T7" fmla="*/ 0 h 5"/>
                  <a:gd name="T8" fmla="*/ 171 w 173"/>
                  <a:gd name="T9" fmla="*/ 0 h 5"/>
                  <a:gd name="T10" fmla="*/ 173 w 173"/>
                  <a:gd name="T11" fmla="*/ 3 h 5"/>
                  <a:gd name="T12" fmla="*/ 171 w 173"/>
                  <a:gd name="T13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3" h="5">
                    <a:moveTo>
                      <a:pt x="171" y="5"/>
                    </a:moveTo>
                    <a:cubicBezTo>
                      <a:pt x="3" y="5"/>
                      <a:pt x="3" y="5"/>
                      <a:pt x="3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71" y="0"/>
                      <a:pt x="171" y="0"/>
                      <a:pt x="171" y="0"/>
                    </a:cubicBezTo>
                    <a:cubicBezTo>
                      <a:pt x="172" y="0"/>
                      <a:pt x="173" y="1"/>
                      <a:pt x="173" y="3"/>
                    </a:cubicBezTo>
                    <a:cubicBezTo>
                      <a:pt x="173" y="4"/>
                      <a:pt x="172" y="5"/>
                      <a:pt x="171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200"/>
              </a:p>
            </p:txBody>
          </p:sp>
          <p:sp>
            <p:nvSpPr>
              <p:cNvPr id="24" name="Freeform 22"/>
              <p:cNvSpPr>
                <a:spLocks/>
              </p:cNvSpPr>
              <p:nvPr/>
            </p:nvSpPr>
            <p:spPr bwMode="auto">
              <a:xfrm>
                <a:off x="12800013" y="-1800225"/>
                <a:ext cx="30162" cy="1062038"/>
              </a:xfrm>
              <a:custGeom>
                <a:avLst/>
                <a:gdLst>
                  <a:gd name="T0" fmla="*/ 3 w 5"/>
                  <a:gd name="T1" fmla="*/ 173 h 173"/>
                  <a:gd name="T2" fmla="*/ 0 w 5"/>
                  <a:gd name="T3" fmla="*/ 171 h 173"/>
                  <a:gd name="T4" fmla="*/ 0 w 5"/>
                  <a:gd name="T5" fmla="*/ 2 h 173"/>
                  <a:gd name="T6" fmla="*/ 3 w 5"/>
                  <a:gd name="T7" fmla="*/ 0 h 173"/>
                  <a:gd name="T8" fmla="*/ 5 w 5"/>
                  <a:gd name="T9" fmla="*/ 2 h 173"/>
                  <a:gd name="T10" fmla="*/ 5 w 5"/>
                  <a:gd name="T11" fmla="*/ 171 h 173"/>
                  <a:gd name="T12" fmla="*/ 3 w 5"/>
                  <a:gd name="T13" fmla="*/ 173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173">
                    <a:moveTo>
                      <a:pt x="3" y="173"/>
                    </a:moveTo>
                    <a:cubicBezTo>
                      <a:pt x="1" y="173"/>
                      <a:pt x="0" y="172"/>
                      <a:pt x="0" y="17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2"/>
                    </a:cubicBezTo>
                    <a:cubicBezTo>
                      <a:pt x="5" y="171"/>
                      <a:pt x="5" y="171"/>
                      <a:pt x="5" y="171"/>
                    </a:cubicBezTo>
                    <a:cubicBezTo>
                      <a:pt x="5" y="172"/>
                      <a:pt x="4" y="173"/>
                      <a:pt x="3" y="17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200"/>
              </a:p>
            </p:txBody>
          </p:sp>
          <p:sp>
            <p:nvSpPr>
              <p:cNvPr id="25" name="Freeform 23"/>
              <p:cNvSpPr>
                <a:spLocks/>
              </p:cNvSpPr>
              <p:nvPr/>
            </p:nvSpPr>
            <p:spPr bwMode="auto">
              <a:xfrm>
                <a:off x="12941300" y="-1536700"/>
                <a:ext cx="269875" cy="30163"/>
              </a:xfrm>
              <a:custGeom>
                <a:avLst/>
                <a:gdLst>
                  <a:gd name="T0" fmla="*/ 41 w 44"/>
                  <a:gd name="T1" fmla="*/ 5 h 5"/>
                  <a:gd name="T2" fmla="*/ 2 w 44"/>
                  <a:gd name="T3" fmla="*/ 5 h 5"/>
                  <a:gd name="T4" fmla="*/ 0 w 44"/>
                  <a:gd name="T5" fmla="*/ 3 h 5"/>
                  <a:gd name="T6" fmla="*/ 2 w 44"/>
                  <a:gd name="T7" fmla="*/ 0 h 5"/>
                  <a:gd name="T8" fmla="*/ 41 w 44"/>
                  <a:gd name="T9" fmla="*/ 0 h 5"/>
                  <a:gd name="T10" fmla="*/ 44 w 44"/>
                  <a:gd name="T11" fmla="*/ 3 h 5"/>
                  <a:gd name="T12" fmla="*/ 41 w 44"/>
                  <a:gd name="T13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5">
                    <a:moveTo>
                      <a:pt x="41" y="5"/>
                    </a:moveTo>
                    <a:cubicBezTo>
                      <a:pt x="2" y="5"/>
                      <a:pt x="2" y="5"/>
                      <a:pt x="2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3" y="0"/>
                      <a:pt x="44" y="1"/>
                      <a:pt x="44" y="3"/>
                    </a:cubicBezTo>
                    <a:cubicBezTo>
                      <a:pt x="44" y="4"/>
                      <a:pt x="43" y="5"/>
                      <a:pt x="41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200"/>
              </a:p>
            </p:txBody>
          </p:sp>
          <p:sp>
            <p:nvSpPr>
              <p:cNvPr id="26" name="Freeform 24"/>
              <p:cNvSpPr>
                <a:spLocks/>
              </p:cNvSpPr>
              <p:nvPr/>
            </p:nvSpPr>
            <p:spPr bwMode="auto">
              <a:xfrm>
                <a:off x="12425363" y="-1543050"/>
                <a:ext cx="263525" cy="31750"/>
              </a:xfrm>
              <a:custGeom>
                <a:avLst/>
                <a:gdLst>
                  <a:gd name="T0" fmla="*/ 41 w 43"/>
                  <a:gd name="T1" fmla="*/ 5 h 5"/>
                  <a:gd name="T2" fmla="*/ 2 w 43"/>
                  <a:gd name="T3" fmla="*/ 5 h 5"/>
                  <a:gd name="T4" fmla="*/ 0 w 43"/>
                  <a:gd name="T5" fmla="*/ 3 h 5"/>
                  <a:gd name="T6" fmla="*/ 2 w 43"/>
                  <a:gd name="T7" fmla="*/ 0 h 5"/>
                  <a:gd name="T8" fmla="*/ 41 w 43"/>
                  <a:gd name="T9" fmla="*/ 0 h 5"/>
                  <a:gd name="T10" fmla="*/ 43 w 43"/>
                  <a:gd name="T11" fmla="*/ 3 h 5"/>
                  <a:gd name="T12" fmla="*/ 41 w 43"/>
                  <a:gd name="T13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3" h="5">
                    <a:moveTo>
                      <a:pt x="41" y="5"/>
                    </a:moveTo>
                    <a:cubicBezTo>
                      <a:pt x="2" y="5"/>
                      <a:pt x="2" y="5"/>
                      <a:pt x="2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2" y="0"/>
                      <a:pt x="43" y="1"/>
                      <a:pt x="43" y="3"/>
                    </a:cubicBezTo>
                    <a:cubicBezTo>
                      <a:pt x="43" y="4"/>
                      <a:pt x="42" y="5"/>
                      <a:pt x="41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200"/>
              </a:p>
            </p:txBody>
          </p:sp>
          <p:sp>
            <p:nvSpPr>
              <p:cNvPr id="27" name="Freeform 25"/>
              <p:cNvSpPr>
                <a:spLocks/>
              </p:cNvSpPr>
              <p:nvPr/>
            </p:nvSpPr>
            <p:spPr bwMode="auto">
              <a:xfrm>
                <a:off x="12542838" y="-1658938"/>
                <a:ext cx="30162" cy="263525"/>
              </a:xfrm>
              <a:custGeom>
                <a:avLst/>
                <a:gdLst>
                  <a:gd name="T0" fmla="*/ 3 w 5"/>
                  <a:gd name="T1" fmla="*/ 43 h 43"/>
                  <a:gd name="T2" fmla="*/ 0 w 5"/>
                  <a:gd name="T3" fmla="*/ 41 h 43"/>
                  <a:gd name="T4" fmla="*/ 0 w 5"/>
                  <a:gd name="T5" fmla="*/ 2 h 43"/>
                  <a:gd name="T6" fmla="*/ 3 w 5"/>
                  <a:gd name="T7" fmla="*/ 0 h 43"/>
                  <a:gd name="T8" fmla="*/ 5 w 5"/>
                  <a:gd name="T9" fmla="*/ 2 h 43"/>
                  <a:gd name="T10" fmla="*/ 5 w 5"/>
                  <a:gd name="T11" fmla="*/ 41 h 43"/>
                  <a:gd name="T12" fmla="*/ 3 w 5"/>
                  <a:gd name="T13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43">
                    <a:moveTo>
                      <a:pt x="3" y="43"/>
                    </a:moveTo>
                    <a:cubicBezTo>
                      <a:pt x="1" y="43"/>
                      <a:pt x="0" y="42"/>
                      <a:pt x="0" y="4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2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5" y="42"/>
                      <a:pt x="4" y="43"/>
                      <a:pt x="3" y="4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200"/>
              </a:p>
            </p:txBody>
          </p:sp>
          <p:sp>
            <p:nvSpPr>
              <p:cNvPr id="28" name="Freeform 26"/>
              <p:cNvSpPr>
                <a:spLocks/>
              </p:cNvSpPr>
              <p:nvPr/>
            </p:nvSpPr>
            <p:spPr bwMode="auto">
              <a:xfrm>
                <a:off x="12457113" y="-1112838"/>
                <a:ext cx="201612" cy="201613"/>
              </a:xfrm>
              <a:custGeom>
                <a:avLst/>
                <a:gdLst>
                  <a:gd name="T0" fmla="*/ 30 w 33"/>
                  <a:gd name="T1" fmla="*/ 33 h 33"/>
                  <a:gd name="T2" fmla="*/ 29 w 33"/>
                  <a:gd name="T3" fmla="*/ 32 h 33"/>
                  <a:gd name="T4" fmla="*/ 1 w 33"/>
                  <a:gd name="T5" fmla="*/ 5 h 33"/>
                  <a:gd name="T6" fmla="*/ 1 w 33"/>
                  <a:gd name="T7" fmla="*/ 1 h 33"/>
                  <a:gd name="T8" fmla="*/ 4 w 33"/>
                  <a:gd name="T9" fmla="*/ 1 h 33"/>
                  <a:gd name="T10" fmla="*/ 32 w 33"/>
                  <a:gd name="T11" fmla="*/ 29 h 33"/>
                  <a:gd name="T12" fmla="*/ 32 w 33"/>
                  <a:gd name="T13" fmla="*/ 32 h 33"/>
                  <a:gd name="T14" fmla="*/ 30 w 33"/>
                  <a:gd name="T15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3" h="33">
                    <a:moveTo>
                      <a:pt x="30" y="33"/>
                    </a:moveTo>
                    <a:cubicBezTo>
                      <a:pt x="30" y="33"/>
                      <a:pt x="29" y="33"/>
                      <a:pt x="29" y="32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3" y="30"/>
                      <a:pt x="33" y="31"/>
                      <a:pt x="32" y="32"/>
                    </a:cubicBezTo>
                    <a:cubicBezTo>
                      <a:pt x="32" y="33"/>
                      <a:pt x="31" y="33"/>
                      <a:pt x="30" y="3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200"/>
              </a:p>
            </p:txBody>
          </p:sp>
          <p:sp>
            <p:nvSpPr>
              <p:cNvPr id="29" name="Freeform 27"/>
              <p:cNvSpPr>
                <a:spLocks/>
              </p:cNvSpPr>
              <p:nvPr/>
            </p:nvSpPr>
            <p:spPr bwMode="auto">
              <a:xfrm>
                <a:off x="12457113" y="-1112838"/>
                <a:ext cx="201612" cy="201613"/>
              </a:xfrm>
              <a:custGeom>
                <a:avLst/>
                <a:gdLst>
                  <a:gd name="T0" fmla="*/ 3 w 33"/>
                  <a:gd name="T1" fmla="*/ 33 h 33"/>
                  <a:gd name="T2" fmla="*/ 1 w 33"/>
                  <a:gd name="T3" fmla="*/ 32 h 33"/>
                  <a:gd name="T4" fmla="*/ 1 w 33"/>
                  <a:gd name="T5" fmla="*/ 29 h 33"/>
                  <a:gd name="T6" fmla="*/ 29 w 33"/>
                  <a:gd name="T7" fmla="*/ 1 h 33"/>
                  <a:gd name="T8" fmla="*/ 32 w 33"/>
                  <a:gd name="T9" fmla="*/ 1 h 33"/>
                  <a:gd name="T10" fmla="*/ 32 w 33"/>
                  <a:gd name="T11" fmla="*/ 5 h 33"/>
                  <a:gd name="T12" fmla="*/ 4 w 33"/>
                  <a:gd name="T13" fmla="*/ 32 h 33"/>
                  <a:gd name="T14" fmla="*/ 3 w 33"/>
                  <a:gd name="T15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3" h="33">
                    <a:moveTo>
                      <a:pt x="3" y="33"/>
                    </a:moveTo>
                    <a:cubicBezTo>
                      <a:pt x="2" y="33"/>
                      <a:pt x="2" y="33"/>
                      <a:pt x="1" y="32"/>
                    </a:cubicBezTo>
                    <a:cubicBezTo>
                      <a:pt x="0" y="31"/>
                      <a:pt x="0" y="30"/>
                      <a:pt x="1" y="29"/>
                    </a:cubicBezTo>
                    <a:cubicBezTo>
                      <a:pt x="29" y="1"/>
                      <a:pt x="29" y="1"/>
                      <a:pt x="29" y="1"/>
                    </a:cubicBezTo>
                    <a:cubicBezTo>
                      <a:pt x="30" y="0"/>
                      <a:pt x="31" y="0"/>
                      <a:pt x="32" y="1"/>
                    </a:cubicBezTo>
                    <a:cubicBezTo>
                      <a:pt x="33" y="2"/>
                      <a:pt x="33" y="4"/>
                      <a:pt x="32" y="5"/>
                    </a:cubicBezTo>
                    <a:cubicBezTo>
                      <a:pt x="4" y="32"/>
                      <a:pt x="4" y="32"/>
                      <a:pt x="4" y="32"/>
                    </a:cubicBezTo>
                    <a:cubicBezTo>
                      <a:pt x="4" y="33"/>
                      <a:pt x="3" y="33"/>
                      <a:pt x="3" y="3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200"/>
              </a:p>
            </p:txBody>
          </p:sp>
          <p:sp>
            <p:nvSpPr>
              <p:cNvPr id="30" name="Freeform 28"/>
              <p:cNvSpPr>
                <a:spLocks/>
              </p:cNvSpPr>
              <p:nvPr/>
            </p:nvSpPr>
            <p:spPr bwMode="auto">
              <a:xfrm>
                <a:off x="12984163" y="-1112838"/>
                <a:ext cx="196850" cy="201613"/>
              </a:xfrm>
              <a:custGeom>
                <a:avLst/>
                <a:gdLst>
                  <a:gd name="T0" fmla="*/ 2 w 32"/>
                  <a:gd name="T1" fmla="*/ 33 h 33"/>
                  <a:gd name="T2" fmla="*/ 0 w 32"/>
                  <a:gd name="T3" fmla="*/ 32 h 33"/>
                  <a:gd name="T4" fmla="*/ 0 w 32"/>
                  <a:gd name="T5" fmla="*/ 29 h 33"/>
                  <a:gd name="T6" fmla="*/ 28 w 32"/>
                  <a:gd name="T7" fmla="*/ 1 h 33"/>
                  <a:gd name="T8" fmla="*/ 31 w 32"/>
                  <a:gd name="T9" fmla="*/ 1 h 33"/>
                  <a:gd name="T10" fmla="*/ 31 w 32"/>
                  <a:gd name="T11" fmla="*/ 5 h 33"/>
                  <a:gd name="T12" fmla="*/ 4 w 32"/>
                  <a:gd name="T13" fmla="*/ 32 h 33"/>
                  <a:gd name="T14" fmla="*/ 2 w 32"/>
                  <a:gd name="T15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2" h="33">
                    <a:moveTo>
                      <a:pt x="2" y="33"/>
                    </a:moveTo>
                    <a:cubicBezTo>
                      <a:pt x="1" y="33"/>
                      <a:pt x="1" y="33"/>
                      <a:pt x="0" y="32"/>
                    </a:cubicBezTo>
                    <a:cubicBezTo>
                      <a:pt x="0" y="31"/>
                      <a:pt x="0" y="30"/>
                      <a:pt x="0" y="29"/>
                    </a:cubicBezTo>
                    <a:cubicBezTo>
                      <a:pt x="28" y="1"/>
                      <a:pt x="28" y="1"/>
                      <a:pt x="28" y="1"/>
                    </a:cubicBezTo>
                    <a:cubicBezTo>
                      <a:pt x="29" y="0"/>
                      <a:pt x="30" y="0"/>
                      <a:pt x="31" y="1"/>
                    </a:cubicBezTo>
                    <a:cubicBezTo>
                      <a:pt x="32" y="2"/>
                      <a:pt x="32" y="4"/>
                      <a:pt x="31" y="5"/>
                    </a:cubicBezTo>
                    <a:cubicBezTo>
                      <a:pt x="4" y="32"/>
                      <a:pt x="4" y="32"/>
                      <a:pt x="4" y="32"/>
                    </a:cubicBezTo>
                    <a:cubicBezTo>
                      <a:pt x="3" y="33"/>
                      <a:pt x="3" y="33"/>
                      <a:pt x="2" y="3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2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52834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4" grpId="0"/>
      <p:bldP spid="1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i9_Aqua Teal Dark">
      <a:dk1>
        <a:srgbClr val="FFFFFF"/>
      </a:dk1>
      <a:lt1>
        <a:srgbClr val="2B2B2D"/>
      </a:lt1>
      <a:dk2>
        <a:srgbClr val="1C5686"/>
      </a:dk2>
      <a:lt2>
        <a:srgbClr val="176490"/>
      </a:lt2>
      <a:accent1>
        <a:srgbClr val="51C3CA"/>
      </a:accent1>
      <a:accent2>
        <a:srgbClr val="3CB2C3"/>
      </a:accent2>
      <a:accent3>
        <a:srgbClr val="1AA5BD"/>
      </a:accent3>
      <a:accent4>
        <a:srgbClr val="0097B7"/>
      </a:accent4>
      <a:accent5>
        <a:srgbClr val="0086AC"/>
      </a:accent5>
      <a:accent6>
        <a:srgbClr val="00759E"/>
      </a:accent6>
      <a:hlink>
        <a:srgbClr val="7030A0"/>
      </a:hlink>
      <a:folHlink>
        <a:srgbClr val="00B0F0"/>
      </a:folHlink>
    </a:clrScheme>
    <a:fontScheme name="Custom 3">
      <a:majorFont>
        <a:latin typeface="Open Sans Light"/>
        <a:ea typeface=""/>
        <a:cs typeface=""/>
      </a:majorFont>
      <a:minorFont>
        <a:latin typeface="Open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1_Office Theme">
  <a:themeElements>
    <a:clrScheme name="i9_Aqua Teal">
      <a:dk1>
        <a:srgbClr val="57565A"/>
      </a:dk1>
      <a:lt1>
        <a:sysClr val="window" lastClr="FFFFFF"/>
      </a:lt1>
      <a:dk2>
        <a:srgbClr val="1C5686"/>
      </a:dk2>
      <a:lt2>
        <a:srgbClr val="176490"/>
      </a:lt2>
      <a:accent1>
        <a:srgbClr val="51C3CA"/>
      </a:accent1>
      <a:accent2>
        <a:srgbClr val="3CB2C3"/>
      </a:accent2>
      <a:accent3>
        <a:srgbClr val="1AA5BD"/>
      </a:accent3>
      <a:accent4>
        <a:srgbClr val="0097B7"/>
      </a:accent4>
      <a:accent5>
        <a:srgbClr val="0086AC"/>
      </a:accent5>
      <a:accent6>
        <a:srgbClr val="00759E"/>
      </a:accent6>
      <a:hlink>
        <a:srgbClr val="7030A0"/>
      </a:hlink>
      <a:folHlink>
        <a:srgbClr val="00B0F0"/>
      </a:folHlink>
    </a:clrScheme>
    <a:fontScheme name="Custom 3">
      <a:majorFont>
        <a:latin typeface="Open Sans Light"/>
        <a:ea typeface=""/>
        <a:cs typeface=""/>
      </a:majorFont>
      <a:minorFont>
        <a:latin typeface="Open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office theme</vt:lpstr>
      <vt:lpstr>Office Theme</vt:lpstr>
      <vt:lpstr>1_Office Theme</vt:lpstr>
      <vt:lpstr>PowerPoint Presentation</vt:lpstr>
      <vt:lpstr>Causal clames to be tested</vt:lpstr>
      <vt:lpstr>Causal clames to be tested</vt:lpstr>
      <vt:lpstr>Dependent variables</vt:lpstr>
      <vt:lpstr>Dependent variables</vt:lpstr>
      <vt:lpstr>Dependent variables explained</vt:lpstr>
      <vt:lpstr>PowerPoint Presentation</vt:lpstr>
      <vt:lpstr>PowerPoint Presentation</vt:lpstr>
      <vt:lpstr>Appendix</vt:lpstr>
      <vt:lpstr>PowerPoint Presentation</vt:lpstr>
      <vt:lpstr>The near-miss phenomenon </vt:lpstr>
      <vt:lpstr>Causal Claim</vt:lpstr>
      <vt:lpstr>The experiment(s)</vt:lpstr>
      <vt:lpstr>Theory behind expected 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41</cp:revision>
  <dcterms:created xsi:type="dcterms:W3CDTF">2026-02-03T13:29:16Z</dcterms:created>
  <dcterms:modified xsi:type="dcterms:W3CDTF">2026-02-16T08:26:56Z</dcterms:modified>
</cp:coreProperties>
</file>